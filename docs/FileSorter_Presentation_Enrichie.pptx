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outin" userId="63129c17ad4e6253" providerId="LiveId" clId="{C521EDF7-F80A-4D68-BB5E-6956C2CAAC00}"/>
    <pc:docChg chg="modSld">
      <pc:chgData name="samuel boutin" userId="63129c17ad4e6253" providerId="LiveId" clId="{C521EDF7-F80A-4D68-BB5E-6956C2CAAC00}" dt="2026-08-19T09:54:04.667" v="19" actId="20577"/>
      <pc:docMkLst>
        <pc:docMk/>
      </pc:docMkLst>
      <pc:sldChg chg="modSp mod">
        <pc:chgData name="samuel boutin" userId="63129c17ad4e6253" providerId="LiveId" clId="{C521EDF7-F80A-4D68-BB5E-6956C2CAAC00}" dt="2026-08-19T09:53:50.066" v="12" actId="20577"/>
        <pc:sldMkLst>
          <pc:docMk/>
          <pc:sldMk cId="835496422" sldId="256"/>
        </pc:sldMkLst>
        <pc:spChg chg="mod">
          <ac:chgData name="samuel boutin" userId="63129c17ad4e6253" providerId="LiveId" clId="{C521EDF7-F80A-4D68-BB5E-6956C2CAAC00}" dt="2026-08-19T09:53:50.066" v="12" actId="20577"/>
          <ac:spMkLst>
            <pc:docMk/>
            <pc:sldMk cId="835496422" sldId="256"/>
            <ac:spMk id="12" creationId="{8830F690-450F-432C-A4A8-D82F481910CA}"/>
          </ac:spMkLst>
        </pc:spChg>
      </pc:sldChg>
      <pc:sldChg chg="modSp mod">
        <pc:chgData name="samuel boutin" userId="63129c17ad4e6253" providerId="LiveId" clId="{C521EDF7-F80A-4D68-BB5E-6956C2CAAC00}" dt="2026-08-19T09:54:04.667" v="19" actId="20577"/>
        <pc:sldMkLst>
          <pc:docMk/>
          <pc:sldMk cId="968929306" sldId="266"/>
        </pc:sldMkLst>
        <pc:spChg chg="mod">
          <ac:chgData name="samuel boutin" userId="63129c17ad4e6253" providerId="LiveId" clId="{C521EDF7-F80A-4D68-BB5E-6956C2CAAC00}" dt="2026-08-19T09:54:04.667" v="19" actId="20577"/>
          <ac:spMkLst>
            <pc:docMk/>
            <pc:sldMk cId="968929306" sldId="266"/>
            <ac:spMk id="19" creationId="{1DC217D3-0900-4DC8-8C93-AF288E2CB4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FileSorter_Presentation.pdf</a:t>
            </a:r>
          </a:p>
          <a:p>
            <a:r>
              <a:t>- README.md</a:t>
            </a:r>
          </a:p>
          <a:p>
            <a:r>
              <a:t>- src/script.py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Objectif, catégories et structure de destination</a:t>
            </a:r>
          </a:p>
          <a:p>
            <a:r>
              <a:t>- FileSorter_Presentation.pdf - Contexte et objectif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How It Works</a:t>
            </a:r>
          </a:p>
          <a:p>
            <a:r>
              <a:t>- src/watcher.py</a:t>
            </a:r>
          </a:p>
          <a:p>
            <a:r>
              <a:t>- src/script.py - organize()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src/utils/file_reader.py</a:t>
            </a:r>
          </a:p>
          <a:p>
            <a:r>
              <a:t>- src/config.py - PDF_PAGE_LIMIT et MAX_CHARS</a:t>
            </a:r>
          </a:p>
          <a:p>
            <a:r>
              <a:t>- requirements.txt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src/script.py - learn_from_history(), pre_classify(), ask_ai() et organize()</a:t>
            </a:r>
          </a:p>
          <a:p>
            <a:r>
              <a:t>- src/config.py - catégories et paramètres Ollama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docs/documentation_technique_tri_ia_v3.docx - Architecture C4</a:t>
            </a:r>
          </a:p>
          <a:p>
            <a:r>
              <a:t>- src/watcher.py</a:t>
            </a:r>
          </a:p>
          <a:p>
            <a:r>
              <a:t>- src/script.py</a:t>
            </a:r>
          </a:p>
          <a:p>
            <a:r>
              <a:t>- src/utils/learning.py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Modes et apprentissage</a:t>
            </a:r>
          </a:p>
          <a:p>
            <a:r>
              <a:t>- src/script.py - confirm_category()</a:t>
            </a:r>
          </a:p>
          <a:p>
            <a:r>
              <a:t>- src/utils/learning.py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Configuration</a:t>
            </a:r>
          </a:p>
          <a:p>
            <a:r>
              <a:t>- src/config.py</a:t>
            </a:r>
          </a:p>
          <a:p>
            <a:r>
              <a:t>- requirements.txt</a:t>
            </a:r>
          </a:p>
          <a:p>
            <a:r>
              <a:t>- Arborescence locale du dépôt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Analyse du code local : src/script.py, src/utils/learning.py, src/utils/file_reader.py et src/watcher.py</a:t>
            </a:r>
          </a:p>
          <a:p>
            <a:r>
              <a:t>- docs/mode_operatoire_tri_ia_v2.docx - Règles importantes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docs/mode_operatoire_tri_ia_v2.docx</a:t>
            </a:r>
          </a:p>
          <a:p>
            <a:r>
              <a:t>- docs/documentation_technique_tri_ia_v3.docx</a:t>
            </a:r>
          </a:p>
          <a:p>
            <a:r>
              <a:t>- Code source du projet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Améliorations possibles et dépôt</a:t>
            </a:r>
          </a:p>
          <a:p>
            <a:r>
              <a:t>- FileSorter_Presentation.pdf - Statut et lien GitHub</a:t>
            </a:r>
          </a:p>
          <a:p>
            <a:r>
              <a:t>- Analyse du code local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912E980-C948-4C90-B9A4-E0AFC8FBB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5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9DE2B-C48B-4DCB-A34A-6DA82BA3C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96250" cy="6858000"/>
          </a:xfrm>
          <a:prstGeom prst="rect">
            <a:avLst/>
          </a:prstGeom>
          <a:solidFill>
            <a:srgbClr val="0E386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1F6B5F01-5675-4F1F-B0D9-7C717E69B613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3429000" cy="6858000"/>
          </a:xfrm>
          <a:prstGeom prst="parallelogram">
            <a:avLst/>
          </a:prstGeom>
          <a:solidFill>
            <a:srgbClr val="1B6F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63AF63C0-975B-4ED4-9AF5-4C58AC862F47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1809750" cy="6858000"/>
          </a:xfrm>
          <a:prstGeom prst="parallelogram">
            <a:avLst/>
          </a:prstGeom>
          <a:solidFill>
            <a:srgbClr val="6CC4E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12F9182-D493-423F-8F6C-002DA69AD515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parallelogram">
            <a:avLst/>
          </a:prstGeom>
          <a:solidFill>
            <a:srgbClr val="1B6F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AD87DF7-C60B-4135-9810-E00C12284ED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306705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CFF17-630D-443C-A8CF-F19D9EB93A9F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2838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PROJET PERSONNEL  •  PYTHON  •  BTS SIO SLAM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5B0CBD-355E-4DC8-8E10-DE52598D324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 dirty="0" err="1">
                <a:solidFill>
                  <a:srgbClr val="FFFFFF"/>
                </a:solidFill>
              </a:rPr>
              <a:t>FileSorter</a:t>
            </a:r>
            <a:endParaRPr sz="4350" b="1" i="0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B1116C-5EB2-4EE7-8D9B-6171F33A2DD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6191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D7F1FF"/>
                </a:solidFill>
              </a:defRPr>
            </a:pPr>
            <a:r>
              <a:rPr sz="2400" b="1" i="0">
                <a:solidFill>
                  <a:srgbClr val="D7F1FF"/>
                </a:solidFill>
              </a:rPr>
              <a:t>Un tri intelligent, local et configurable</a:t>
            </a:r>
          </a:p>
          <a:p>
            <a:pPr algn="l">
              <a:defRPr sz="2400" b="1" i="0">
                <a:solidFill>
                  <a:srgbClr val="D7F1FF"/>
                </a:solidFill>
              </a:defRPr>
            </a:pPr>
            <a:r>
              <a:rPr sz="2400" b="1" i="0">
                <a:solidFill>
                  <a:srgbClr val="D7F1FF"/>
                </a:solidFill>
              </a:rPr>
              <a:t>pour les ressources pédagogiques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D1221-12D4-4F24-B0FD-5448D218B0A3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OCR, extraction multi-format et classification locale avec Ollama / Llama 3.1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EE0271C7-6426-44D9-A9F9-9F61F8DAABCE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524250" cy="0"/>
          </a:xfrm>
          <a:prstGeom prst="line">
            <a:avLst/>
          </a:prstGeom>
          <a:noFill/>
          <a:ln w="38100">
            <a:solidFill>
              <a:srgbClr val="63B7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30F690-450F-432C-A4A8-D82F481910CA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 dirty="0" err="1">
                <a:solidFill>
                  <a:srgbClr val="FFFFFF"/>
                </a:solidFill>
              </a:rPr>
              <a:t>Présenté</a:t>
            </a:r>
            <a:r>
              <a:rPr sz="1275" b="1" i="0" dirty="0">
                <a:solidFill>
                  <a:srgbClr val="FFFFFF"/>
                </a:solidFill>
              </a:rPr>
              <a:t> par </a:t>
            </a:r>
            <a:r>
              <a:rPr lang="fr-FR" sz="1275" b="1" i="0" dirty="0">
                <a:solidFill>
                  <a:srgbClr val="FFFFFF"/>
                </a:solidFill>
              </a:rPr>
              <a:t>Samuel Boutin</a:t>
            </a:r>
            <a:endParaRPr sz="1275" b="1" i="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42B86-420B-412C-9771-47E4BAA5556C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C6DDF2"/>
                </a:solidFill>
              </a:defRPr>
            </a:pPr>
            <a:r>
              <a:rPr sz="1050" b="0" i="0">
                <a:solidFill>
                  <a:srgbClr val="C6DDF2"/>
                </a:solidFill>
              </a:rPr>
              <a:t>19 août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3F01B0-6771-4A6C-818E-4CD6F8109CBE}"/>
              </a:ext>
            </a:extLst>
          </p:cNvPr>
          <p:cNvSpPr>
            <a:spLocks noGrp="1"/>
          </p:cNvSpPr>
          <p:nvPr/>
        </p:nvSpPr>
        <p:spPr>
          <a:xfrm>
            <a:off x="9429750" y="2305050"/>
            <a:ext cx="2000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0" b="1" i="0">
                <a:solidFill>
                  <a:srgbClr val="FFFFFF">
                    <a:alpha val="18000"/>
                  </a:srgbClr>
                </a:solidFill>
              </a:defRPr>
            </a:pPr>
            <a:r>
              <a:rPr sz="7500" b="1" i="0">
                <a:solidFill>
                  <a:srgbClr val="FFFFFF">
                    <a:alpha val="18000"/>
                  </a:srgbClr>
                </a:solidFill>
              </a:rPr>
              <a:t>FS</a:t>
            </a:r>
          </a:p>
        </p:txBody>
      </p:sp>
    </p:spTree>
    <p:extLst>
      <p:ext uri="{BB962C8B-B14F-4D97-AF65-F5344CB8AC3E}">
        <p14:creationId xmlns:p14="http://schemas.microsoft.com/office/powerpoint/2010/main" val="83549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8CEE344-3C7A-43A1-930C-25ECC0E983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37B69E-640C-493B-AC9D-986D637C461E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D5121027-934C-489C-94D8-7BC7F7570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0C9C6D7-7BBC-4270-9663-BD3FF7133C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D1935CEA-9BD7-4FE8-9ECF-5B74700B6FDD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C42F3369-3189-4C84-B1F2-78FC570B564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6B39C8A-2E5E-49CA-ADAF-A3F9200D2AD1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2032E-B003-48F1-841A-44A43BF246E7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9762311D-FBF3-41CB-81A5-867E9652B5B2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0FDBB-F7EA-4445-83F2-714A70319A41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02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B70038C2-C814-44BD-8D31-B65DD5CCBD35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Le problème : l'accumulation masque l'information utile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C8E20-FC33-4546-BDAE-C68B3F057C01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FileSorter transforme un dossier de dépôt en arborescence pédagogique exploitable.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7B35D4-FF4B-431D-BF8A-2AAB11087558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POINT DE DÉPART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9ADC0B-1005-4C23-848C-6AB65D75241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333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Des cours hétérogènes arrivent dans un même dossier : PDF, documents bureautiques, tableaux et scans. Les noms de fichiers ne suffisent pas toujours à comprendre la matière ou l'unité.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376D27-6B51-4989-90B8-B48EF4CBB678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OBJECTIF DU PROJET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0B1432-D8BB-4C38-B9B8-0776ECAAE23D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Lire le contenu réel, proposer une catégorie, ranger le fichier et mémoriser les validations - sans envoyer les documents vers un service d'IA distant.</a:t>
            </a: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3E2199D7-71F3-4D1C-9BC8-D58F9E415AFA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0" cy="3000375"/>
          </a:xfrm>
          <a:prstGeom prst="line">
            <a:avLst/>
          </a:prstGeom>
          <a:noFill/>
          <a:ln w="19050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F09E9-C2F8-4BAB-81E9-BC6ACE59D69D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5C6B7E"/>
                </a:solidFill>
              </a:defRPr>
            </a:pPr>
            <a:r>
              <a:rPr sz="1200" b="1" i="0">
                <a:solidFill>
                  <a:srgbClr val="5C6B7E"/>
                </a:solidFill>
              </a:rPr>
              <a:t>Avant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1F2A82-4002-4E3F-9C4F-217DB2F9ECCC}"/>
              </a:ext>
            </a:extLst>
          </p:cNvPr>
          <p:cNvSpPr>
            <a:spLocks noGrp="1"/>
          </p:cNvSpPr>
          <p:nvPr/>
        </p:nvSpPr>
        <p:spPr>
          <a:xfrm>
            <a:off x="1066800" y="4410075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Dépôt/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cours-final.pdf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scan_004.png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tableau.xlsx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devoir.docx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CB5176-F411-4ED6-A1F8-A9BCC1FF026B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5EA8"/>
                </a:solidFill>
              </a:defRPr>
            </a:pPr>
            <a:r>
              <a:rPr sz="1200" b="1" i="0">
                <a:solidFill>
                  <a:srgbClr val="245EA8"/>
                </a:solidFill>
              </a:rPr>
              <a:t>Après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4E92C2-52C7-4B4A-B8DC-2640C47BECB6}"/>
              </a:ext>
            </a:extLst>
          </p:cNvPr>
          <p:cNvSpPr>
            <a:spLocks noGrp="1"/>
          </p:cNvSpPr>
          <p:nvPr/>
        </p:nvSpPr>
        <p:spPr>
          <a:xfrm>
            <a:off x="6286500" y="4410075"/>
            <a:ext cx="3429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Tri/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Informatique/U5/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CEJM/2e année/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Anglais/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Projet/Projets BTS/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E087F-16A8-41A7-976B-3EC6161F9060}"/>
              </a:ext>
            </a:extLst>
          </p:cNvPr>
          <p:cNvSpPr>
            <a:spLocks noGrp="1"/>
          </p:cNvSpPr>
          <p:nvPr/>
        </p:nvSpPr>
        <p:spPr>
          <a:xfrm>
            <a:off x="1066800" y="5838825"/>
            <a:ext cx="895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Le classement devient une chaîne de traitement reproductible, pas une tâche manuelle ponctuelle.</a:t>
            </a:r>
          </a:p>
        </p:txBody>
      </p:sp>
    </p:spTree>
    <p:extLst>
      <p:ext uri="{BB962C8B-B14F-4D97-AF65-F5344CB8AC3E}">
        <p14:creationId xmlns:p14="http://schemas.microsoft.com/office/powerpoint/2010/main" val="208730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8DDA678-616A-47D5-B9AE-273009FEF2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AF583C-A7AC-40AB-B43A-21BEBB67534C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5530EDBF-DC33-41CC-95DA-340995F5D9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C8C5AFCA-8263-42C7-BAF5-AC57491DF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28B62543-6404-4D76-AD27-11A4D5DF1D2C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E80570AF-8C6D-422B-B1CC-A965421724B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68F6F3B-AAD7-417C-8D3D-C23671128A37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75841-D099-492A-A0C7-0E06590AA393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PROCESSUS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0675D13D-B1B7-4C3A-B5AA-3E31D0C7B829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361F63-6087-450D-9495-900FD521FD54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03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2AD46BDA-DB35-474C-A869-B6808490134C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Une chaîne en 6 étapes, du dépôt au rangement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B5969-85DE-45B8-92C1-9195B68F7AC7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Chaque étape réduit l'incertitude avant le déplacement définitif du fichier.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2FC1B11-790F-47AB-B2AD-A6B7E64FE1E9}"/>
              </a:ext>
            </a:extLst>
          </p:cNvPr>
          <p:cNvSpPr>
            <a:spLocks noGrp="1"/>
          </p:cNvSpPr>
          <p:nvPr/>
        </p:nvSpPr>
        <p:spPr>
          <a:xfrm>
            <a:off x="203835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780BD900-158B-441C-9727-5E2BC0965257}"/>
              </a:ext>
            </a:extLst>
          </p:cNvPr>
          <p:cNvSpPr>
            <a:spLocks noGrp="1"/>
          </p:cNvSpPr>
          <p:nvPr/>
        </p:nvSpPr>
        <p:spPr>
          <a:xfrm>
            <a:off x="384810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20E1F7F8-59E9-4AC4-ABA5-C552222418F3}"/>
              </a:ext>
            </a:extLst>
          </p:cNvPr>
          <p:cNvSpPr>
            <a:spLocks noGrp="1"/>
          </p:cNvSpPr>
          <p:nvPr/>
        </p:nvSpPr>
        <p:spPr>
          <a:xfrm>
            <a:off x="565785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B2522651-70C8-4A07-BCC6-0F2CC852204E}"/>
              </a:ext>
            </a:extLst>
          </p:cNvPr>
          <p:cNvSpPr>
            <a:spLocks noGrp="1"/>
          </p:cNvSpPr>
          <p:nvPr/>
        </p:nvSpPr>
        <p:spPr>
          <a:xfrm>
            <a:off x="746760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28A7244B-7C3E-4E72-A47B-DF74C34A6186}"/>
              </a:ext>
            </a:extLst>
          </p:cNvPr>
          <p:cNvSpPr>
            <a:spLocks noGrp="1"/>
          </p:cNvSpPr>
          <p:nvPr/>
        </p:nvSpPr>
        <p:spPr>
          <a:xfrm>
            <a:off x="927735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153352B-1C3D-4CEF-B32B-E4F462D731D2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C188207-6ECA-4D3B-9A26-972FDBCA0928}"/>
              </a:ext>
            </a:extLst>
          </p:cNvPr>
          <p:cNvSpPr>
            <a:spLocks noGrp="1"/>
          </p:cNvSpPr>
          <p:nvPr/>
        </p:nvSpPr>
        <p:spPr>
          <a:xfrm>
            <a:off x="140017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3F38AF-07A1-4D61-9C2A-BCA19DE96058}"/>
              </a:ext>
            </a:extLst>
          </p:cNvPr>
          <p:cNvSpPr>
            <a:spLocks noGrp="1"/>
          </p:cNvSpPr>
          <p:nvPr/>
        </p:nvSpPr>
        <p:spPr>
          <a:xfrm>
            <a:off x="140017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4360E5-3B67-4517-85E9-6D3074CCB11C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Détection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E1B8F6-D974-40CD-BAD2-84CC8C9B91CE}"/>
              </a:ext>
            </a:extLst>
          </p:cNvPr>
          <p:cNvSpPr>
            <a:spLocks noGrp="1"/>
          </p:cNvSpPr>
          <p:nvPr/>
        </p:nvSpPr>
        <p:spPr>
          <a:xfrm>
            <a:off x="99060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watchdog surveille le dossier SOURCE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D61CE8A-1761-4215-964A-9B979A0313B6}"/>
              </a:ext>
            </a:extLst>
          </p:cNvPr>
          <p:cNvSpPr>
            <a:spLocks noGrp="1"/>
          </p:cNvSpPr>
          <p:nvPr/>
        </p:nvSpPr>
        <p:spPr>
          <a:xfrm>
            <a:off x="268605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717323C-5E8C-4ABF-AFE7-72C2DC0A157B}"/>
              </a:ext>
            </a:extLst>
          </p:cNvPr>
          <p:cNvSpPr>
            <a:spLocks noGrp="1"/>
          </p:cNvSpPr>
          <p:nvPr/>
        </p:nvSpPr>
        <p:spPr>
          <a:xfrm>
            <a:off x="320992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558DC1-277B-418E-B8E0-9313A27C0FE8}"/>
              </a:ext>
            </a:extLst>
          </p:cNvPr>
          <p:cNvSpPr>
            <a:spLocks noGrp="1"/>
          </p:cNvSpPr>
          <p:nvPr/>
        </p:nvSpPr>
        <p:spPr>
          <a:xfrm>
            <a:off x="320992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5866B3-1265-4A2E-A5DA-13E37A9DCF74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Extraction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1AA719-95E2-4A83-AB38-5FFF6EECFD2C}"/>
              </a:ext>
            </a:extLst>
          </p:cNvPr>
          <p:cNvSpPr>
            <a:spLocks noGrp="1"/>
          </p:cNvSpPr>
          <p:nvPr/>
        </p:nvSpPr>
        <p:spPr>
          <a:xfrm>
            <a:off x="280035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Le lecteur dépend du format détecté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B8060A-2B1A-48A3-B301-26B9B64A5DAA}"/>
              </a:ext>
            </a:extLst>
          </p:cNvPr>
          <p:cNvSpPr>
            <a:spLocks noGrp="1"/>
          </p:cNvSpPr>
          <p:nvPr/>
        </p:nvSpPr>
        <p:spPr>
          <a:xfrm>
            <a:off x="449580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4BE87B9-9242-47EB-9E22-1AB2FFC557DF}"/>
              </a:ext>
            </a:extLst>
          </p:cNvPr>
          <p:cNvSpPr>
            <a:spLocks noGrp="1"/>
          </p:cNvSpPr>
          <p:nvPr/>
        </p:nvSpPr>
        <p:spPr>
          <a:xfrm>
            <a:off x="501967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0A4FD6-2233-41BD-8736-997FC5D64D0E}"/>
              </a:ext>
            </a:extLst>
          </p:cNvPr>
          <p:cNvSpPr>
            <a:spLocks noGrp="1"/>
          </p:cNvSpPr>
          <p:nvPr/>
        </p:nvSpPr>
        <p:spPr>
          <a:xfrm>
            <a:off x="501967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AE2E80-99D0-40C0-A809-FCA27B3A80CE}"/>
              </a:ext>
            </a:extLst>
          </p:cNvPr>
          <p:cNvSpPr>
            <a:spLocks noGrp="1"/>
          </p:cNvSpPr>
          <p:nvPr/>
        </p:nvSpPr>
        <p:spPr>
          <a:xfrm>
            <a:off x="461010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Signaux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78549E-1DD4-4D84-917E-AFB351C51CA1}"/>
              </a:ext>
            </a:extLst>
          </p:cNvPr>
          <p:cNvSpPr>
            <a:spLocks noGrp="1"/>
          </p:cNvSpPr>
          <p:nvPr/>
        </p:nvSpPr>
        <p:spPr>
          <a:xfrm>
            <a:off x="461010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Mémoire, règles et langue sont évaluées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CA6ADD7-5148-4EFA-AFB0-359F8E07A5B8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DFF4FB"/>
          </a:solidFill>
          <a:ln w="19050">
            <a:solidFill>
              <a:srgbClr val="20A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193C6B3F-FB96-4FFA-9576-151F6D86E9E0}"/>
              </a:ext>
            </a:extLst>
          </p:cNvPr>
          <p:cNvSpPr>
            <a:spLocks noGrp="1"/>
          </p:cNvSpPr>
          <p:nvPr/>
        </p:nvSpPr>
        <p:spPr>
          <a:xfrm>
            <a:off x="6829425" y="2038350"/>
            <a:ext cx="400050" cy="400050"/>
          </a:xfrm>
          <a:prstGeom prst="ellipse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B61A0F-D1F6-42A3-A744-B07A63B02A52}"/>
              </a:ext>
            </a:extLst>
          </p:cNvPr>
          <p:cNvSpPr>
            <a:spLocks noGrp="1"/>
          </p:cNvSpPr>
          <p:nvPr/>
        </p:nvSpPr>
        <p:spPr>
          <a:xfrm>
            <a:off x="682942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7F11A4-0046-487D-B612-F05C039A7F8D}"/>
              </a:ext>
            </a:extLst>
          </p:cNvPr>
          <p:cNvSpPr>
            <a:spLocks noGrp="1"/>
          </p:cNvSpPr>
          <p:nvPr/>
        </p:nvSpPr>
        <p:spPr>
          <a:xfrm>
            <a:off x="641985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IA locale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6C8C1A-A095-430B-B698-53424810C3C7}"/>
              </a:ext>
            </a:extLst>
          </p:cNvPr>
          <p:cNvSpPr>
            <a:spLocks noGrp="1"/>
          </p:cNvSpPr>
          <p:nvPr/>
        </p:nvSpPr>
        <p:spPr>
          <a:xfrm>
            <a:off x="641985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Ollama classe le contenu si nécessaire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C4BB4C58-6DCA-47D0-9ACB-02B18161152C}"/>
              </a:ext>
            </a:extLst>
          </p:cNvPr>
          <p:cNvSpPr>
            <a:spLocks noGrp="1"/>
          </p:cNvSpPr>
          <p:nvPr/>
        </p:nvSpPr>
        <p:spPr>
          <a:xfrm>
            <a:off x="811530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8EC9C4C1-9708-4E00-BEC7-38FF2753F32C}"/>
              </a:ext>
            </a:extLst>
          </p:cNvPr>
          <p:cNvSpPr>
            <a:spLocks noGrp="1"/>
          </p:cNvSpPr>
          <p:nvPr/>
        </p:nvSpPr>
        <p:spPr>
          <a:xfrm>
            <a:off x="863917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E3FBA8-566A-4DBE-9904-BF1B92ACE90D}"/>
              </a:ext>
            </a:extLst>
          </p:cNvPr>
          <p:cNvSpPr>
            <a:spLocks noGrp="1"/>
          </p:cNvSpPr>
          <p:nvPr/>
        </p:nvSpPr>
        <p:spPr>
          <a:xfrm>
            <a:off x="863917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24DEAF-BF34-4E01-951B-FD94B8F8F00F}"/>
              </a:ext>
            </a:extLst>
          </p:cNvPr>
          <p:cNvSpPr>
            <a:spLocks noGrp="1"/>
          </p:cNvSpPr>
          <p:nvPr/>
        </p:nvSpPr>
        <p:spPr>
          <a:xfrm>
            <a:off x="822960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Validation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060338B-2C53-4B36-9E19-4CB6AF3F29EE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Le mode interactif autorise la correction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79DC63CB-4EBA-4A12-A6F4-D3ABBCD6D6A0}"/>
              </a:ext>
            </a:extLst>
          </p:cNvPr>
          <p:cNvSpPr>
            <a:spLocks noGrp="1"/>
          </p:cNvSpPr>
          <p:nvPr/>
        </p:nvSpPr>
        <p:spPr>
          <a:xfrm>
            <a:off x="992505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CCA36E-0D79-47C7-AD10-EF82B76EB328}"/>
              </a:ext>
            </a:extLst>
          </p:cNvPr>
          <p:cNvSpPr>
            <a:spLocks noGrp="1"/>
          </p:cNvSpPr>
          <p:nvPr/>
        </p:nvSpPr>
        <p:spPr>
          <a:xfrm>
            <a:off x="1044892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7DA81A-2A64-4EAE-829F-F3FDBD7B6C65}"/>
              </a:ext>
            </a:extLst>
          </p:cNvPr>
          <p:cNvSpPr>
            <a:spLocks noGrp="1"/>
          </p:cNvSpPr>
          <p:nvPr/>
        </p:nvSpPr>
        <p:spPr>
          <a:xfrm>
            <a:off x="1044892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83F6E9-5F7F-478D-BEAF-3BDEAACD1525}"/>
              </a:ext>
            </a:extLst>
          </p:cNvPr>
          <p:cNvSpPr>
            <a:spLocks noGrp="1"/>
          </p:cNvSpPr>
          <p:nvPr/>
        </p:nvSpPr>
        <p:spPr>
          <a:xfrm>
            <a:off x="1003935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Rangement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F17DC4-AF09-4407-B167-89DB652030D3}"/>
              </a:ext>
            </a:extLst>
          </p:cNvPr>
          <p:cNvSpPr>
            <a:spLocks noGrp="1"/>
          </p:cNvSpPr>
          <p:nvPr/>
        </p:nvSpPr>
        <p:spPr>
          <a:xfrm>
            <a:off x="1003935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Le fichier est déplacé et la décision mémorisée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C83686-83DA-4D2E-A9B8-9B2C0AA8934C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Deux modes d'exécution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18044D15-4975-4296-A1D0-D6792AE19A17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C7FC2D-9E12-4E7E-9E34-9022C60ADF5F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DB9A2F7-4902-40DB-84C6-AC52996A38BD}"/>
              </a:ext>
            </a:extLst>
          </p:cNvPr>
          <p:cNvSpPr>
            <a:spLocks noGrp="1"/>
          </p:cNvSpPr>
          <p:nvPr/>
        </p:nvSpPr>
        <p:spPr>
          <a:xfrm>
            <a:off x="2190750" y="46101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Traitement sans intervention, déclenché par le watcher.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7E5FFEC4-CB2B-4CF2-862F-2B5BA30AEAE9}"/>
              </a:ext>
            </a:extLst>
          </p:cNvPr>
          <p:cNvSpPr>
            <a:spLocks noGrp="1"/>
          </p:cNvSpPr>
          <p:nvPr/>
        </p:nvSpPr>
        <p:spPr>
          <a:xfrm>
            <a:off x="6134100" y="46101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DF46271-1561-4846-B8C8-97079D43CD1F}"/>
              </a:ext>
            </a:extLst>
          </p:cNvPr>
          <p:cNvSpPr>
            <a:spLocks noGrp="1"/>
          </p:cNvSpPr>
          <p:nvPr/>
        </p:nvSpPr>
        <p:spPr>
          <a:xfrm>
            <a:off x="6191250" y="46672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INTERACTIF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5E1DC57-645B-4DA6-B0C2-E071792C4633}"/>
              </a:ext>
            </a:extLst>
          </p:cNvPr>
          <p:cNvSpPr>
            <a:spLocks noGrp="1"/>
          </p:cNvSpPr>
          <p:nvPr/>
        </p:nvSpPr>
        <p:spPr>
          <a:xfrm>
            <a:off x="7562850" y="46101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Confirmation ou correction avant déplacement du fichier.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1EE51E-0B2B-4BA9-864B-B0D60D0E8BF7}"/>
              </a:ext>
            </a:extLst>
          </p:cNvPr>
          <p:cNvSpPr>
            <a:spLocks noGrp="1"/>
          </p:cNvSpPr>
          <p:nvPr/>
        </p:nvSpPr>
        <p:spPr>
          <a:xfrm>
            <a:off x="1066800" y="5476875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C6B7E"/>
                </a:solidFill>
              </a:defRPr>
            </a:pPr>
            <a:r>
              <a:rPr sz="1350" b="0" i="0">
                <a:solidFill>
                  <a:srgbClr val="5C6B7E"/>
                </a:solidFill>
              </a:rPr>
              <a:t>La logique complète est centralisée dans organize(), appelée directement ou par watcher.py.</a:t>
            </a:r>
          </a:p>
        </p:txBody>
      </p:sp>
    </p:spTree>
    <p:extLst>
      <p:ext uri="{BB962C8B-B14F-4D97-AF65-F5344CB8AC3E}">
        <p14:creationId xmlns:p14="http://schemas.microsoft.com/office/powerpoint/2010/main" val="69735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61D2237-D5F9-40CF-9197-E162764640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9BB57-CFF8-4350-96DA-E56CDB8D2F90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1F5B3AC0-6180-4CDA-BA72-91161AB9E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AD8C596F-4866-4803-9F82-4A40833DAB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D5AD21EE-F395-4B7F-9805-90A3F1D580EB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DC59A851-044F-4743-A4D2-0EA3D75DA7F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1CF0B66-FB13-45E2-9925-8CE13134D8FD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9E042-B692-47E5-85E2-A5F676A6904E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924CAE35-2429-48DF-83E0-9684D0CC08BB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BE0037-6121-4EE8-83C9-A5D21E0CDCFD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04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2066E611-FCB3-4F53-A58A-2129C5072704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Chaque format suit le lecteur le plus adapté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354DA-2663-46BF-B458-1FBF6FD08F21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 système combine extraction native et OCR de secours pour couvrir les supports de cours courants.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04B09-67AA-4BB1-A362-43D803FCC43F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PDF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ECD4F241-DE2D-4985-97CA-CAD552F9330F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1962150" cy="0"/>
          </a:xfrm>
          <a:prstGeom prst="line">
            <a:avLst/>
          </a:prstGeom>
          <a:noFill/>
          <a:ln w="3810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C9C4A-76E3-43C1-9D55-96873D4A4C0E}"/>
              </a:ext>
            </a:extLst>
          </p:cNvPr>
          <p:cNvSpPr>
            <a:spLocks noGrp="1"/>
          </p:cNvSpPr>
          <p:nvPr/>
        </p:nvSpPr>
        <p:spPr>
          <a:xfrm>
            <a:off x="1066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.pdf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5D1C34-E241-4524-BB39-4FF94A5D1F22}"/>
              </a:ext>
            </a:extLst>
          </p:cNvPr>
          <p:cNvSpPr>
            <a:spLocks noGrp="1"/>
          </p:cNvSpPr>
          <p:nvPr/>
        </p:nvSpPr>
        <p:spPr>
          <a:xfrm>
            <a:off x="1066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pdfplumber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56F70A-2557-4EC4-B2A2-47D7C3C9145C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OCR si aucun texte détecté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A5DEFD-076D-4EB1-840B-156063DD700B}"/>
              </a:ext>
            </a:extLst>
          </p:cNvPr>
          <p:cNvSpPr>
            <a:spLocks noGrp="1"/>
          </p:cNvSpPr>
          <p:nvPr/>
        </p:nvSpPr>
        <p:spPr>
          <a:xfrm>
            <a:off x="3733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Bureautique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B90DA91C-5F11-46B8-8FD5-F91361E90C73}"/>
              </a:ext>
            </a:extLst>
          </p:cNvPr>
          <p:cNvSpPr>
            <a:spLocks noGrp="1"/>
          </p:cNvSpPr>
          <p:nvPr/>
        </p:nvSpPr>
        <p:spPr>
          <a:xfrm>
            <a:off x="3733800" y="2514600"/>
            <a:ext cx="1962150" cy="0"/>
          </a:xfrm>
          <a:prstGeom prst="line">
            <a:avLst/>
          </a:prstGeom>
          <a:noFill/>
          <a:ln w="3810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14231-9E90-4307-828E-55C88545EDCB}"/>
              </a:ext>
            </a:extLst>
          </p:cNvPr>
          <p:cNvSpPr>
            <a:spLocks noGrp="1"/>
          </p:cNvSpPr>
          <p:nvPr/>
        </p:nvSpPr>
        <p:spPr>
          <a:xfrm>
            <a:off x="3733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.docx / .xlsx / .xls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45241-3A5E-43A4-98D3-19949B7C9F41}"/>
              </a:ext>
            </a:extLst>
          </p:cNvPr>
          <p:cNvSpPr>
            <a:spLocks noGrp="1"/>
          </p:cNvSpPr>
          <p:nvPr/>
        </p:nvSpPr>
        <p:spPr>
          <a:xfrm>
            <a:off x="3733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python-docx / openpyxl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9C55E7-ADFE-4103-97C0-D3168E658365}"/>
              </a:ext>
            </a:extLst>
          </p:cNvPr>
          <p:cNvSpPr>
            <a:spLocks noGrp="1"/>
          </p:cNvSpPr>
          <p:nvPr/>
        </p:nvSpPr>
        <p:spPr>
          <a:xfrm>
            <a:off x="3733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Lecture paragraphes et cellules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637A32-F1BD-4997-B285-C708EB2F4DCA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Ouvert &amp; texte</a:t>
            </a:r>
          </a:p>
        </p:txBody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4C649912-8A75-4759-880D-3D82B3B409C9}"/>
              </a:ext>
            </a:extLst>
          </p:cNvPr>
          <p:cNvSpPr>
            <a:spLocks noGrp="1"/>
          </p:cNvSpPr>
          <p:nvPr/>
        </p:nvSpPr>
        <p:spPr>
          <a:xfrm>
            <a:off x="6400800" y="2514600"/>
            <a:ext cx="1962150" cy="0"/>
          </a:xfrm>
          <a:prstGeom prst="line">
            <a:avLst/>
          </a:prstGeom>
          <a:noFill/>
          <a:ln w="3810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BBFFC8-E593-44DD-8C3C-0414DE51A16C}"/>
              </a:ext>
            </a:extLst>
          </p:cNvPr>
          <p:cNvSpPr>
            <a:spLocks noGrp="1"/>
          </p:cNvSpPr>
          <p:nvPr/>
        </p:nvSpPr>
        <p:spPr>
          <a:xfrm>
            <a:off x="6400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.odt / .txt / .md / .csv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6C6AA8-30FF-422E-B339-AAA237626D93}"/>
              </a:ext>
            </a:extLst>
          </p:cNvPr>
          <p:cNvSpPr>
            <a:spLocks noGrp="1"/>
          </p:cNvSpPr>
          <p:nvPr/>
        </p:nvSpPr>
        <p:spPr>
          <a:xfrm>
            <a:off x="6400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odfpy / lecture UTF-8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EE451C-CA13-4B4D-820D-E2EFF8D86132}"/>
              </a:ext>
            </a:extLst>
          </p:cNvPr>
          <p:cNvSpPr>
            <a:spLocks noGrp="1"/>
          </p:cNvSpPr>
          <p:nvPr/>
        </p:nvSpPr>
        <p:spPr>
          <a:xfrm>
            <a:off x="6400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Extraction directe du contenu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400727-038B-42BC-BF8A-2F80969B136F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Images</a:t>
            </a:r>
          </a:p>
        </p:txBody>
      </p:sp>
      <p:sp>
        <p:nvSpPr>
          <p:cNvPr id="29" name="Connecteur droit 28">
            <a:extLst>
              <a:ext uri="{FF2B5EF4-FFF2-40B4-BE49-F238E27FC236}">
                <a16:creationId xmlns:a16="http://schemas.microsoft.com/office/drawing/2014/main" id="{C5836B49-BE1C-486C-83F8-F380448FEF67}"/>
              </a:ext>
            </a:extLst>
          </p:cNvPr>
          <p:cNvSpPr>
            <a:spLocks noGrp="1"/>
          </p:cNvSpPr>
          <p:nvPr/>
        </p:nvSpPr>
        <p:spPr>
          <a:xfrm>
            <a:off x="9067800" y="2514600"/>
            <a:ext cx="1962150" cy="0"/>
          </a:xfrm>
          <a:prstGeom prst="line">
            <a:avLst/>
          </a:prstGeom>
          <a:noFill/>
          <a:ln w="38100">
            <a:solidFill>
              <a:srgbClr val="20A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4A2BD0-128F-4A2D-98B5-7659D119684A}"/>
              </a:ext>
            </a:extLst>
          </p:cNvPr>
          <p:cNvSpPr>
            <a:spLocks noGrp="1"/>
          </p:cNvSpPr>
          <p:nvPr/>
        </p:nvSpPr>
        <p:spPr>
          <a:xfrm>
            <a:off x="9067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.png / .jpg / .jpeg / .bmp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F4BFD-ABFA-43A0-92E8-49B6B430082C}"/>
              </a:ext>
            </a:extLst>
          </p:cNvPr>
          <p:cNvSpPr>
            <a:spLocks noGrp="1"/>
          </p:cNvSpPr>
          <p:nvPr/>
        </p:nvSpPr>
        <p:spPr>
          <a:xfrm>
            <a:off x="9067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Tesseract OCR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35867C-E7D3-4B0F-BB0B-A5AACCA7FE18}"/>
              </a:ext>
            </a:extLst>
          </p:cNvPr>
          <p:cNvSpPr>
            <a:spLocks noGrp="1"/>
          </p:cNvSpPr>
          <p:nvPr/>
        </p:nvSpPr>
        <p:spPr>
          <a:xfrm>
            <a:off x="9067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Reconnaissance du texte scanné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2295BE1-8B2B-4989-A64D-1683FFEDF5A3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9906000" cy="800100"/>
          </a:xfrm>
          <a:prstGeom prst="roundRect">
            <a:avLst>
              <a:gd name="adj" fmla="val 14286"/>
            </a:avLst>
          </a:prstGeom>
          <a:solidFill>
            <a:srgbClr val="E3F4FC"/>
          </a:solidFill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5D8071-C156-4F5B-8F84-88E6CE2CB1AA}"/>
              </a:ext>
            </a:extLst>
          </p:cNvPr>
          <p:cNvSpPr>
            <a:spLocks noGrp="1"/>
          </p:cNvSpPr>
          <p:nvPr/>
        </p:nvSpPr>
        <p:spPr>
          <a:xfrm>
            <a:off x="1314450" y="5124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0B2A53"/>
                </a:solidFill>
              </a:defRPr>
            </a:pPr>
            <a:r>
              <a:rPr sz="1275" b="1" i="0">
                <a:solidFill>
                  <a:srgbClr val="0B2A53"/>
                </a:solidFill>
              </a:rPr>
              <a:t>Garde-fous de performance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96D778-CBB1-4F7D-A4EE-C56C6ED44129}"/>
              </a:ext>
            </a:extLst>
          </p:cNvPr>
          <p:cNvSpPr>
            <a:spLocks noGrp="1"/>
          </p:cNvSpPr>
          <p:nvPr/>
        </p:nvSpPr>
        <p:spPr>
          <a:xfrm>
            <a:off x="4000500" y="512445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Les PDF sont limités aux 2 premières pages et le texte transmis au classifieur est plafonné à 1 500 caractères.</a:t>
            </a:r>
          </a:p>
        </p:txBody>
      </p:sp>
    </p:spTree>
    <p:extLst>
      <p:ext uri="{BB962C8B-B14F-4D97-AF65-F5344CB8AC3E}">
        <p14:creationId xmlns:p14="http://schemas.microsoft.com/office/powerpoint/2010/main" val="143779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2F53A64-56B5-4E7F-8867-D75206FED6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466D1C-4533-4D11-AC90-402BA12EC18F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9E35F095-7D6F-4ECC-98B1-3B143EF3AF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166FABE1-261C-490B-BFB4-C4574EDF29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6020F83-3304-42BF-81BD-B3ABDA30851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25480F24-037C-47AE-84DC-FE9526F0253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44BC6D3-9261-4D9B-84C7-4D8E1EFE3824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16F127-0862-4849-A359-6DB54F99975E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CLASSEMENT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A4C52416-69B5-4F9E-AA17-10B88F8F3687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4E41D2-C2C3-4F69-BB55-AB29E416F0F5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05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533B8A40-D310-4D95-84B2-904D38E3DB95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La classification privilégie les signaux les plus explicables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1258B2-E088-43CB-A87D-342770FDA9A2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L'IA locale intervient après les informations déjà disponibles dans le projet.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848BA19B-52DB-400E-945B-616AADA933EC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ADD96B17-D6C3-44D7-96FB-54F24D66D40D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B5AA580C-3BAB-4494-9AE8-38D6408747BE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lèche : bas 15">
            <a:extLst>
              <a:ext uri="{FF2B5EF4-FFF2-40B4-BE49-F238E27FC236}">
                <a16:creationId xmlns:a16="http://schemas.microsoft.com/office/drawing/2014/main" id="{033CDC6C-3C83-4D7F-A8C2-E75A4E6DE977}"/>
              </a:ext>
            </a:extLst>
          </p:cNvPr>
          <p:cNvSpPr>
            <a:spLocks noGrp="1"/>
          </p:cNvSpPr>
          <p:nvPr/>
        </p:nvSpPr>
        <p:spPr>
          <a:xfrm>
            <a:off x="2381250" y="4762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EBA1179-B672-4A57-9821-25C66C5370BC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6932A0B-DFC1-4169-A2F0-ED126DCFA9B5}"/>
              </a:ext>
            </a:extLst>
          </p:cNvPr>
          <p:cNvSpPr>
            <a:spLocks noGrp="1"/>
          </p:cNvSpPr>
          <p:nvPr/>
        </p:nvSpPr>
        <p:spPr>
          <a:xfrm>
            <a:off x="1238250" y="2095500"/>
            <a:ext cx="381000" cy="38100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081F6-9585-46C4-A8DB-4CF8F1E7DE85}"/>
              </a:ext>
            </a:extLst>
          </p:cNvPr>
          <p:cNvSpPr>
            <a:spLocks noGrp="1"/>
          </p:cNvSpPr>
          <p:nvPr/>
        </p:nvSpPr>
        <p:spPr>
          <a:xfrm>
            <a:off x="1238250" y="2171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DFB31-55BF-4A3E-8596-F374582CB967}"/>
              </a:ext>
            </a:extLst>
          </p:cNvPr>
          <p:cNvSpPr>
            <a:spLocks noGrp="1"/>
          </p:cNvSpPr>
          <p:nvPr/>
        </p:nvSpPr>
        <p:spPr>
          <a:xfrm>
            <a:off x="1771650" y="2076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Mémoire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24D28-6DB2-479A-B975-AAD3BB83C5B7}"/>
              </a:ext>
            </a:extLst>
          </p:cNvPr>
          <p:cNvSpPr>
            <a:spLocks noGrp="1"/>
          </p:cNvSpPr>
          <p:nvPr/>
        </p:nvSpPr>
        <p:spPr>
          <a:xfrm>
            <a:off x="1771650" y="2305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Recherche de mots-clés issus des décisions précédentes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94CB48E-C11D-4CCB-9567-934629E53F73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99F6555-D9B2-43DD-BBC1-86CE1ACF06F1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381000" cy="38100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E5F9E0-79FC-4A19-9D3B-AE2BB1807145}"/>
              </a:ext>
            </a:extLst>
          </p:cNvPr>
          <p:cNvSpPr>
            <a:spLocks noGrp="1"/>
          </p:cNvSpPr>
          <p:nvPr/>
        </p:nvSpPr>
        <p:spPr>
          <a:xfrm>
            <a:off x="1238250" y="2933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21160-1D55-4FB8-909B-CCD6809F988F}"/>
              </a:ext>
            </a:extLst>
          </p:cNvPr>
          <p:cNvSpPr>
            <a:spLocks noGrp="1"/>
          </p:cNvSpPr>
          <p:nvPr/>
        </p:nvSpPr>
        <p:spPr>
          <a:xfrm>
            <a:off x="1771650" y="2838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Règles de nommage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62EB3A-CBAB-424A-BD11-B7BBC73B7769}"/>
              </a:ext>
            </a:extLst>
          </p:cNvPr>
          <p:cNvSpPr>
            <a:spLocks noGrp="1"/>
          </p:cNvSpPr>
          <p:nvPr/>
        </p:nvSpPr>
        <p:spPr>
          <a:xfrm>
            <a:off x="1771650" y="3067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Détection rapide : anglais, maths, CEJM, informatique...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5B43064-8209-412C-B63B-A06921D86C03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0A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AE20538-651E-4E10-93FA-0C2F998545D6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381000" cy="381000"/>
          </a:xfrm>
          <a:prstGeom prst="ellipse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C506F7-E91D-4C24-8380-97AF39DE345F}"/>
              </a:ext>
            </a:extLst>
          </p:cNvPr>
          <p:cNvSpPr>
            <a:spLocks noGrp="1"/>
          </p:cNvSpPr>
          <p:nvPr/>
        </p:nvSpPr>
        <p:spPr>
          <a:xfrm>
            <a:off x="1238250" y="3695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AD6EF-99B1-4CBC-8CE3-F0FDA4337BBF}"/>
              </a:ext>
            </a:extLst>
          </p:cNvPr>
          <p:cNvSpPr>
            <a:spLocks noGrp="1"/>
          </p:cNvSpPr>
          <p:nvPr/>
        </p:nvSpPr>
        <p:spPr>
          <a:xfrm>
            <a:off x="1771650" y="3600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Priorité de langue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1CFEDB-F16A-4FD5-A145-BCB6B105B86F}"/>
              </a:ext>
            </a:extLst>
          </p:cNvPr>
          <p:cNvSpPr>
            <a:spLocks noGrp="1"/>
          </p:cNvSpPr>
          <p:nvPr/>
        </p:nvSpPr>
        <p:spPr>
          <a:xfrm>
            <a:off x="1771650" y="3829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Un contenu détecté en anglais est rangé dans Anglais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93C425C3-2E24-45EE-80F5-6F6B5C34F25A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B2A5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3812251-C338-43E8-8DDF-A4BDFCAAC237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381000" cy="381000"/>
          </a:xfrm>
          <a:prstGeom prst="ellipse">
            <a:avLst/>
          </a:prstGeom>
          <a:solidFill>
            <a:srgbClr val="0B2A5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704D58-4F3C-4C9D-B59E-BB508BBB01CC}"/>
              </a:ext>
            </a:extLst>
          </p:cNvPr>
          <p:cNvSpPr>
            <a:spLocks noGrp="1"/>
          </p:cNvSpPr>
          <p:nvPr/>
        </p:nvSpPr>
        <p:spPr>
          <a:xfrm>
            <a:off x="1238250" y="4457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D4AE50-C0AE-4E61-8385-DAE09F842DF2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Ollama / Llama 3.1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BFC70-B7F0-4331-9A7B-14F76DF5DDAE}"/>
              </a:ext>
            </a:extLst>
          </p:cNvPr>
          <p:cNvSpPr>
            <a:spLocks noGrp="1"/>
          </p:cNvSpPr>
          <p:nvPr/>
        </p:nvSpPr>
        <p:spPr>
          <a:xfrm>
            <a:off x="1771650" y="4591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Nom + 1 500 premiers caractères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997E071-51C1-451C-8533-BDA97DB69981}"/>
              </a:ext>
            </a:extLst>
          </p:cNvPr>
          <p:cNvSpPr>
            <a:spLocks noGrp="1"/>
          </p:cNvSpPr>
          <p:nvPr/>
        </p:nvSpPr>
        <p:spPr>
          <a:xfrm>
            <a:off x="1066800" y="5048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94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7B088955-6C52-4808-8E21-5C36F9680A2A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381000" cy="381000"/>
          </a:xfrm>
          <a:prstGeom prst="ellipse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548004-5828-46E1-B126-6C5F8DD2464C}"/>
              </a:ext>
            </a:extLst>
          </p:cNvPr>
          <p:cNvSpPr>
            <a:spLocks noGrp="1"/>
          </p:cNvSpPr>
          <p:nvPr/>
        </p:nvSpPr>
        <p:spPr>
          <a:xfrm>
            <a:off x="1238250" y="5219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1CEA33-51BB-4A2E-AEF8-5651A6BACD96}"/>
              </a:ext>
            </a:extLst>
          </p:cNvPr>
          <p:cNvSpPr>
            <a:spLocks noGrp="1"/>
          </p:cNvSpPr>
          <p:nvPr/>
        </p:nvSpPr>
        <p:spPr>
          <a:xfrm>
            <a:off x="1771650" y="5124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Sous-catégorie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7E8547-D5C7-4D82-BC2E-71941C8B2A5D}"/>
              </a:ext>
            </a:extLst>
          </p:cNvPr>
          <p:cNvSpPr>
            <a:spLocks noGrp="1"/>
          </p:cNvSpPr>
          <p:nvPr/>
        </p:nvSpPr>
        <p:spPr>
          <a:xfrm>
            <a:off x="1771650" y="5353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Exemples : Informatique/U5, CEJM/1re année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1DC5A9-D01C-4E89-9130-453CC795B26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Catégories configurées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18E037-D3C1-4714-A18A-9FA9D8592215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2476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CEJM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Anglais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Maths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Informatique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Culture Générale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Projet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Autre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Non classé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930369-B97A-446C-9B63-931DF4AD5681}"/>
              </a:ext>
            </a:extLst>
          </p:cNvPr>
          <p:cNvSpPr>
            <a:spLocks noGrp="1"/>
          </p:cNvSpPr>
          <p:nvPr/>
        </p:nvSpPr>
        <p:spPr>
          <a:xfrm>
            <a:off x="8572500" y="2590800"/>
            <a:ext cx="228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 choix reste lisible : les catégories et leurs descriptions sont déclarées dans config.py, sans dépendre d'un modèle distant.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C3BD50-1EB8-4A74-8DF8-F5B33C9BC6B8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C7554E"/>
                </a:solidFill>
              </a:defRPr>
            </a:pPr>
            <a:r>
              <a:rPr sz="1275" b="1" i="0">
                <a:solidFill>
                  <a:srgbClr val="C7554E"/>
                </a:solidFill>
              </a:rPr>
              <a:t>À vérifier dans la version actuelle : le retour systématique « Non classé » des règles peut empêcher le repli sur l'IA.</a:t>
            </a:r>
          </a:p>
        </p:txBody>
      </p:sp>
    </p:spTree>
    <p:extLst>
      <p:ext uri="{BB962C8B-B14F-4D97-AF65-F5344CB8AC3E}">
        <p14:creationId xmlns:p14="http://schemas.microsoft.com/office/powerpoint/2010/main" val="191036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911B1EE-E1DB-4DC2-B122-CB12E0972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7035ED-5104-481D-B1BB-F5CA6CC44C15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1AF36987-6B0F-421E-8F28-0620106A4A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262A13A6-52A7-477F-BBC7-CD9FB872CF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82FB913D-A443-48AB-A1E7-C67FB2AAAC22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75232DEF-4A88-414A-B4A1-DE93EC92703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9BFBACD-5648-4FE7-B2B5-56F2454F5C42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9EB1AA-B8BF-47AB-8C38-E4BCF65C40E5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6E4DE282-FFC3-428E-A7C7-ACF584A3B09C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161F7-8EF7-472F-91C7-AB7DB941F1F2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06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57F57A1B-A21E-409F-8699-7BC3F330C986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L'architecture reste locale, modulaire et lisible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B5B07-A362-4056-9444-A0D17A5748C0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 traitement, le modèle et la mémoire d'apprentissage restent sur le poste de l'étudiant.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709F7B6C-63A0-42E9-891F-0C3011DCF7D1}"/>
              </a:ext>
            </a:extLst>
          </p:cNvPr>
          <p:cNvSpPr>
            <a:spLocks noGrp="1"/>
          </p:cNvSpPr>
          <p:nvPr/>
        </p:nvSpPr>
        <p:spPr>
          <a:xfrm>
            <a:off x="2571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4BAE6F03-C235-4466-9BFB-24362F66D93B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C26665FC-B05C-4D66-8B86-F12300FAB52E}"/>
              </a:ext>
            </a:extLst>
          </p:cNvPr>
          <p:cNvSpPr>
            <a:spLocks noGrp="1"/>
          </p:cNvSpPr>
          <p:nvPr/>
        </p:nvSpPr>
        <p:spPr>
          <a:xfrm>
            <a:off x="7143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D80F3ABD-98D4-443D-9046-06BE15B7992B}"/>
              </a:ext>
            </a:extLst>
          </p:cNvPr>
          <p:cNvSpPr>
            <a:spLocks noGrp="1"/>
          </p:cNvSpPr>
          <p:nvPr/>
        </p:nvSpPr>
        <p:spPr>
          <a:xfrm>
            <a:off x="9429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CAADAACF-656D-495C-9A16-6EEB2307BEB8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323850" cy="685800"/>
          </a:xfrm>
          <a:prstGeom prst="down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4FB13AF4-DE4B-490A-8708-ACA2D399B276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323850" cy="685800"/>
          </a:xfrm>
          <a:prstGeom prst="down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ECE01CB-7CFA-4D4C-B31F-A738E69E8C90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245EA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FCF8F0-1651-4EAC-986F-D51C84C0CD17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619250" cy="9525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5756E5-AE17-4E81-8661-82DDC2ADB893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Étudiant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E686FF-F610-41AA-BF6B-8BBF20857A86}"/>
              </a:ext>
            </a:extLst>
          </p:cNvPr>
          <p:cNvSpPr>
            <a:spLocks noGrp="1"/>
          </p:cNvSpPr>
          <p:nvPr/>
        </p:nvSpPr>
        <p:spPr>
          <a:xfrm>
            <a:off x="1066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Dépose ou valide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57D8B52-DEF5-4689-8811-5386A26D538C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4D88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799CE-C00C-4B47-840C-1C14F128AE75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1619250" cy="95250"/>
          </a:xfrm>
          <a:prstGeom prst="rect">
            <a:avLst/>
          </a:prstGeom>
          <a:solidFill>
            <a:srgbClr val="4D88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6A67C1-3212-4470-B2A8-70E37065264A}"/>
              </a:ext>
            </a:extLst>
          </p:cNvPr>
          <p:cNvSpPr>
            <a:spLocks noGrp="1"/>
          </p:cNvSpPr>
          <p:nvPr/>
        </p:nvSpPr>
        <p:spPr>
          <a:xfrm>
            <a:off x="3352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Dossier SOURCE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1E0310-BC54-4107-850C-63CEFF6F423D}"/>
              </a:ext>
            </a:extLst>
          </p:cNvPr>
          <p:cNvSpPr>
            <a:spLocks noGrp="1"/>
          </p:cNvSpPr>
          <p:nvPr/>
        </p:nvSpPr>
        <p:spPr>
          <a:xfrm>
            <a:off x="3352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Fichiers entrants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0B872FF-FB35-41F6-AD2F-FCCDCFCD3A9F}"/>
              </a:ext>
            </a:extLst>
          </p:cNvPr>
          <p:cNvSpPr>
            <a:spLocks noGrp="1"/>
          </p:cNvSpPr>
          <p:nvPr/>
        </p:nvSpPr>
        <p:spPr>
          <a:xfrm>
            <a:off x="5524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3E9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D9B22C-8EE6-473E-AC2A-35A6FE695FFC}"/>
              </a:ext>
            </a:extLst>
          </p:cNvPr>
          <p:cNvSpPr>
            <a:spLocks noGrp="1"/>
          </p:cNvSpPr>
          <p:nvPr/>
        </p:nvSpPr>
        <p:spPr>
          <a:xfrm>
            <a:off x="5524500" y="2381250"/>
            <a:ext cx="1619250" cy="95250"/>
          </a:xfrm>
          <a:prstGeom prst="rect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132129-A849-4FDF-9E4F-3CCFF4027A69}"/>
              </a:ext>
            </a:extLst>
          </p:cNvPr>
          <p:cNvSpPr>
            <a:spLocks noGrp="1"/>
          </p:cNvSpPr>
          <p:nvPr/>
        </p:nvSpPr>
        <p:spPr>
          <a:xfrm>
            <a:off x="5638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Watcher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41F4F8-09C2-4F05-98B2-5F67854298B4}"/>
              </a:ext>
            </a:extLst>
          </p:cNvPr>
          <p:cNvSpPr>
            <a:spLocks noGrp="1"/>
          </p:cNvSpPr>
          <p:nvPr/>
        </p:nvSpPr>
        <p:spPr>
          <a:xfrm>
            <a:off x="5638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Événement de création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B196FC52-F454-46A2-BE1B-9340E0C0D893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E9A2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15BCF0-D646-4D95-90AD-37AF697E4602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1619250" cy="95250"/>
          </a:xfrm>
          <a:prstGeom prst="rect">
            <a:avLst/>
          </a:prstGeom>
          <a:solidFill>
            <a:srgbClr val="E9A23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4A487F-CADF-44B5-B176-E84A34EC934E}"/>
              </a:ext>
            </a:extLst>
          </p:cNvPr>
          <p:cNvSpPr>
            <a:spLocks noGrp="1"/>
          </p:cNvSpPr>
          <p:nvPr/>
        </p:nvSpPr>
        <p:spPr>
          <a:xfrm>
            <a:off x="7924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Script IA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402B9-5FDD-49E4-BA40-2DDF82914892}"/>
              </a:ext>
            </a:extLst>
          </p:cNvPr>
          <p:cNvSpPr>
            <a:spLocks noGrp="1"/>
          </p:cNvSpPr>
          <p:nvPr/>
        </p:nvSpPr>
        <p:spPr>
          <a:xfrm>
            <a:off x="7924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Extraction + décision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2F31DE7-1A49-44D1-8280-150C8C02F57D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245EA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0A1DA5-5614-4319-973C-08CE0567F22B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619250" cy="9525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1739F-6F8F-4C74-929D-4710C43D97EA}"/>
              </a:ext>
            </a:extLst>
          </p:cNvPr>
          <p:cNvSpPr>
            <a:spLocks noGrp="1"/>
          </p:cNvSpPr>
          <p:nvPr/>
        </p:nvSpPr>
        <p:spPr>
          <a:xfrm>
            <a:off x="10210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Dossier DEST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09148B-EAED-4C88-AC44-A5BA737B8322}"/>
              </a:ext>
            </a:extLst>
          </p:cNvPr>
          <p:cNvSpPr>
            <a:spLocks noGrp="1"/>
          </p:cNvSpPr>
          <p:nvPr/>
        </p:nvSpPr>
        <p:spPr>
          <a:xfrm>
            <a:off x="10210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Arborescence triée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6AA1B2F2-B042-456A-B229-8F028D5957D3}"/>
              </a:ext>
            </a:extLst>
          </p:cNvPr>
          <p:cNvSpPr>
            <a:spLocks noGrp="1"/>
          </p:cNvSpPr>
          <p:nvPr/>
        </p:nvSpPr>
        <p:spPr>
          <a:xfrm>
            <a:off x="5524500" y="44767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C7554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559345-F5FE-4ECD-8B3E-71A5E9F76643}"/>
              </a:ext>
            </a:extLst>
          </p:cNvPr>
          <p:cNvSpPr>
            <a:spLocks noGrp="1"/>
          </p:cNvSpPr>
          <p:nvPr/>
        </p:nvSpPr>
        <p:spPr>
          <a:xfrm>
            <a:off x="5524500" y="4476750"/>
            <a:ext cx="1619250" cy="95250"/>
          </a:xfrm>
          <a:prstGeom prst="rect">
            <a:avLst/>
          </a:prstGeom>
          <a:solidFill>
            <a:srgbClr val="C7554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1469DE-4BE2-4A26-8CE6-FD2EF9209E97}"/>
              </a:ext>
            </a:extLst>
          </p:cNvPr>
          <p:cNvSpPr>
            <a:spLocks noGrp="1"/>
          </p:cNvSpPr>
          <p:nvPr/>
        </p:nvSpPr>
        <p:spPr>
          <a:xfrm>
            <a:off x="5638800" y="47434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Ollama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1998CB-EA8D-4ACF-BDB2-FD06929E21D0}"/>
              </a:ext>
            </a:extLst>
          </p:cNvPr>
          <p:cNvSpPr>
            <a:spLocks noGrp="1"/>
          </p:cNvSpPr>
          <p:nvPr/>
        </p:nvSpPr>
        <p:spPr>
          <a:xfrm>
            <a:off x="5638800" y="5105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LLM local via HTTP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2EDC2604-8AC9-4A29-991F-77887C298626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3A7F9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61A61A-87FF-47D3-AEAC-8CF5E0A6E30D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1619250" cy="95250"/>
          </a:xfrm>
          <a:prstGeom prst="rect">
            <a:avLst/>
          </a:prstGeom>
          <a:solidFill>
            <a:srgbClr val="3A7F9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16FE14-93C0-4CB1-8EEE-16723D00493E}"/>
              </a:ext>
            </a:extLst>
          </p:cNvPr>
          <p:cNvSpPr>
            <a:spLocks noGrp="1"/>
          </p:cNvSpPr>
          <p:nvPr/>
        </p:nvSpPr>
        <p:spPr>
          <a:xfrm>
            <a:off x="7924800" y="47434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learning.json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85B903-122E-40ED-9A28-13B01F0A4538}"/>
              </a:ext>
            </a:extLst>
          </p:cNvPr>
          <p:cNvSpPr>
            <a:spLocks noGrp="1"/>
          </p:cNvSpPr>
          <p:nvPr/>
        </p:nvSpPr>
        <p:spPr>
          <a:xfrm>
            <a:off x="7924800" y="5105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Mémoire des décisions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DF8925-DF16-43E0-88B7-753F464E1C4E}"/>
              </a:ext>
            </a:extLst>
          </p:cNvPr>
          <p:cNvSpPr>
            <a:spLocks noGrp="1"/>
          </p:cNvSpPr>
          <p:nvPr/>
        </p:nvSpPr>
        <p:spPr>
          <a:xfrm>
            <a:off x="1066800" y="5838825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Aucun document n'a besoin de quitter la machine pour être classé.</a:t>
            </a:r>
          </a:p>
        </p:txBody>
      </p:sp>
    </p:spTree>
    <p:extLst>
      <p:ext uri="{BB962C8B-B14F-4D97-AF65-F5344CB8AC3E}">
        <p14:creationId xmlns:p14="http://schemas.microsoft.com/office/powerpoint/2010/main" val="777190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29C3871-2303-4C34-9E25-06B9E147E3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4A5880-5ADD-4C5C-A21E-4736BCF0FEB6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D5A2E901-C8F5-491A-BA0E-E63D5E12A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1DBBF9A6-C47C-4C9F-BD40-1F3F182B1E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FB429D9F-2E3A-4990-A377-EA35AEBAE397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200488A2-57F6-4F50-831A-D0987C20DF1F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03A7F8B-8DC0-4F95-AB05-E6C394897174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2994A-E8AE-4E11-981C-EDE94D1F579A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APPRENTISSAGE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CAB1CE7E-A5EC-4D79-AE64-0138D50DC7F1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3AA00-99E9-4650-A20A-6D9C94C6BEC1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07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937DEAF2-03E1-4412-B67D-5455ADB64330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Chaque correction enrichit la mémoire du système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4E501D-2928-4959-8B6A-F27C2DBE9767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L'utilisateur reste maître du classement et enrichit l'historique au fil des usages.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3BC831-49BB-4318-B320-293C049BDFB7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MODE AUTO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8D4E89-F41D-43CC-B8A8-6B39D41A6B89}"/>
              </a:ext>
            </a:extLst>
          </p:cNvPr>
          <p:cNvSpPr>
            <a:spLocks noGrp="1"/>
          </p:cNvSpPr>
          <p:nvPr/>
        </p:nvSpPr>
        <p:spPr>
          <a:xfrm>
            <a:off x="1066800" y="249555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Le watcher déclenche organize() et déplace le fichier selon la décision calculée.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5B53AC-B484-41CC-BB5D-699BAEC15BB7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5C6B7E"/>
                </a:solidFill>
              </a:defRPr>
            </a:pPr>
            <a:r>
              <a:rPr sz="1125" b="1" i="0">
                <a:solidFill>
                  <a:srgbClr val="5C6B7E"/>
                </a:solidFill>
              </a:rPr>
              <a:t>Usage adapté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E0C8BD-8546-438C-B3AA-6AFF1D39BC1F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95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Traitement continu lorsque les règles et catégories sont stabilisées.</a:t>
            </a: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2DB8B1BA-B2F9-42E2-937F-B7FF5E31DC75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0" cy="3619500"/>
          </a:xfrm>
          <a:prstGeom prst="line">
            <a:avLst/>
          </a:prstGeom>
          <a:noFill/>
          <a:ln w="19050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B255FC-FB8C-4563-B52B-85E25691CCDB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0A8CF"/>
                </a:solidFill>
              </a:defRPr>
            </a:pPr>
            <a:r>
              <a:rPr sz="1275" b="1" i="0">
                <a:solidFill>
                  <a:srgbClr val="20A8CF"/>
                </a:solidFill>
              </a:rPr>
              <a:t>MODE INTERACTIF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93898A-DBE8-4D32-838B-BDDF4CB86F41}"/>
              </a:ext>
            </a:extLst>
          </p:cNvPr>
          <p:cNvSpPr>
            <a:spLocks noGrp="1"/>
          </p:cNvSpPr>
          <p:nvPr/>
        </p:nvSpPr>
        <p:spPr>
          <a:xfrm>
            <a:off x="6286500" y="2600325"/>
            <a:ext cx="285750" cy="28575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6F5D4D-282D-4E91-BADD-82CE0590893A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A48F7C-10CF-4F04-BB5B-AF748D7396C3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2A53"/>
                </a:solidFill>
              </a:defRPr>
            </a:pPr>
            <a:r>
              <a:rPr sz="1425" b="1" i="0">
                <a:solidFill>
                  <a:srgbClr val="0B2A53"/>
                </a:solidFill>
              </a:rPr>
              <a:t>Proposition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DFC26C-3D1F-4218-8C77-B6DE0CD27C96}"/>
              </a:ext>
            </a:extLst>
          </p:cNvPr>
          <p:cNvSpPr>
            <a:spLocks noGrp="1"/>
          </p:cNvSpPr>
          <p:nvPr/>
        </p:nvSpPr>
        <p:spPr>
          <a:xfrm>
            <a:off x="6705600" y="2876550"/>
            <a:ext cx="386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Le système affiche catégorie et sous-catégorie détectées.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D00B4B-6A86-4681-B98F-F11CB2F542C8}"/>
              </a:ext>
            </a:extLst>
          </p:cNvPr>
          <p:cNvSpPr>
            <a:spLocks noGrp="1"/>
          </p:cNvSpPr>
          <p:nvPr/>
        </p:nvSpPr>
        <p:spPr>
          <a:xfrm>
            <a:off x="6286500" y="3552825"/>
            <a:ext cx="285750" cy="285750"/>
          </a:xfrm>
          <a:prstGeom prst="rect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657B79-0438-4EA1-B0B3-8F2229D192B0}"/>
              </a:ext>
            </a:extLst>
          </p:cNvPr>
          <p:cNvSpPr>
            <a:spLocks noGrp="1"/>
          </p:cNvSpPr>
          <p:nvPr/>
        </p:nvSpPr>
        <p:spPr>
          <a:xfrm>
            <a:off x="6286500" y="35718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DC1DB8-980B-4318-B9D4-62813A6A252C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2A53"/>
                </a:solidFill>
              </a:defRPr>
            </a:pPr>
            <a:r>
              <a:rPr sz="1425" b="1" i="0">
                <a:solidFill>
                  <a:srgbClr val="0B2A53"/>
                </a:solidFill>
              </a:rPr>
              <a:t>Confirmation ou correction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4D9DFF-25D1-4D7C-9D3C-62FD95CEA7C4}"/>
              </a:ext>
            </a:extLst>
          </p:cNvPr>
          <p:cNvSpPr>
            <a:spLocks noGrp="1"/>
          </p:cNvSpPr>
          <p:nvPr/>
        </p:nvSpPr>
        <p:spPr>
          <a:xfrm>
            <a:off x="6705600" y="3829050"/>
            <a:ext cx="386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L'utilisateur accepte ou saisit une nouvelle catégorie.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0BCC0A-03A1-42FF-AE81-517F83549224}"/>
              </a:ext>
            </a:extLst>
          </p:cNvPr>
          <p:cNvSpPr>
            <a:spLocks noGrp="1"/>
          </p:cNvSpPr>
          <p:nvPr/>
        </p:nvSpPr>
        <p:spPr>
          <a:xfrm>
            <a:off x="6286500" y="4505325"/>
            <a:ext cx="285750" cy="285750"/>
          </a:xfrm>
          <a:prstGeom prst="rect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B1725C-4F06-494D-A495-A37E96A81D3C}"/>
              </a:ext>
            </a:extLst>
          </p:cNvPr>
          <p:cNvSpPr>
            <a:spLocks noGrp="1"/>
          </p:cNvSpPr>
          <p:nvPr/>
        </p:nvSpPr>
        <p:spPr>
          <a:xfrm>
            <a:off x="6286500" y="45243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9926CD-3E43-408F-892D-3E2DD469A457}"/>
              </a:ext>
            </a:extLst>
          </p:cNvPr>
          <p:cNvSpPr>
            <a:spLocks noGrp="1"/>
          </p:cNvSpPr>
          <p:nvPr/>
        </p:nvSpPr>
        <p:spPr>
          <a:xfrm>
            <a:off x="6705600" y="4476750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2A53"/>
                </a:solidFill>
              </a:defRPr>
            </a:pPr>
            <a:r>
              <a:rPr sz="1425" b="1" i="0">
                <a:solidFill>
                  <a:srgbClr val="0B2A53"/>
                </a:solidFill>
              </a:rPr>
              <a:t>Mémorisation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D6FE9C-94B2-4D77-BD65-18C7184849DA}"/>
              </a:ext>
            </a:extLst>
          </p:cNvPr>
          <p:cNvSpPr>
            <a:spLocks noGrp="1"/>
          </p:cNvSpPr>
          <p:nvPr/>
        </p:nvSpPr>
        <p:spPr>
          <a:xfrm>
            <a:off x="6705600" y="4781550"/>
            <a:ext cx="386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La décision, les mots-clés et le statut corrigé sont ajoutés à learning.json.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073409B-FFC9-4B6E-AC95-B52B459839AF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4095750" cy="685800"/>
          </a:xfrm>
          <a:prstGeom prst="roundRect">
            <a:avLst>
              <a:gd name="adj" fmla="val 16667"/>
            </a:avLst>
          </a:prstGeom>
          <a:solidFill>
            <a:srgbClr val="E1F4FB"/>
          </a:solidFill>
          <a:ln w="9525">
            <a:solidFill>
              <a:srgbClr val="20A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C26431-18AE-41A2-8BEC-D430BA664BBF}"/>
              </a:ext>
            </a:extLst>
          </p:cNvPr>
          <p:cNvSpPr>
            <a:spLocks noGrp="1"/>
          </p:cNvSpPr>
          <p:nvPr/>
        </p:nvSpPr>
        <p:spPr>
          <a:xfrm>
            <a:off x="1295400" y="51149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B2A53"/>
                </a:solidFill>
              </a:defRPr>
            </a:pPr>
            <a:r>
              <a:rPr sz="1200" b="1" i="0">
                <a:solidFill>
                  <a:srgbClr val="0B2A53"/>
                </a:solidFill>
              </a:rPr>
              <a:t>Principe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612505-8C39-408D-904E-EEBA10BF6C14}"/>
              </a:ext>
            </a:extLst>
          </p:cNvPr>
          <p:cNvSpPr>
            <a:spLocks noGrp="1"/>
          </p:cNvSpPr>
          <p:nvPr/>
        </p:nvSpPr>
        <p:spPr>
          <a:xfrm>
            <a:off x="2190750" y="5067300"/>
            <a:ext cx="2714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Une correction devient une règle réutilisable, sans réentraîner le LLM.</a:t>
            </a:r>
          </a:p>
        </p:txBody>
      </p:sp>
    </p:spTree>
    <p:extLst>
      <p:ext uri="{BB962C8B-B14F-4D97-AF65-F5344CB8AC3E}">
        <p14:creationId xmlns:p14="http://schemas.microsoft.com/office/powerpoint/2010/main" val="8947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33A4207-228C-4481-95C5-4F092F52B3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A53EF-B1F5-414C-B555-57ABABFBBAAA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7595E13A-5810-4F80-A5B5-6227FA7813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8DDD8806-0CD2-4FC2-A886-3FC356360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24AED427-CEE1-4648-87DE-EC44FD7E181E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714B8C98-E27C-4A85-9F9B-79DD7214B9A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ED5B5F7-88E3-41F0-8B6C-643B7DBC2E53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90E40-0E23-4043-AB0A-45472B755236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IMPLÉMENTATION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5820C9A7-4C03-476C-B362-DDC9DFCDACF6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338867-1711-4F08-9859-801DFD9E098F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08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66F3FA95-2F4C-4E69-A620-C2578B61B0CA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Un socle Python modulaire et configurable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EDA888-FE58-4539-8318-03E4DC5375CE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Les responsabilités sont séparées entre orchestration, lecture, surveillance et mémoire.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ACE26F-8DB3-4944-9255-B87ABA515887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STRUCTURE DU PROJET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5E8CDB7-493A-4248-9EB5-5BA152DFB6F4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4286250" cy="2952750"/>
          </a:xfrm>
          <a:prstGeom prst="roundRect">
            <a:avLst>
              <a:gd name="adj" fmla="val 3871"/>
            </a:avLst>
          </a:prstGeom>
          <a:solidFill>
            <a:srgbClr val="0E274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BEF2D4-F3E9-431B-928C-9062CFECBB1A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3714750" cy="2438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FileSorter/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README.md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requirements.txt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src/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config.py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script.py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watcher.py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utils/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  file_reader.py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  learning.py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data/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>
                <a:solidFill>
                  <a:srgbClr val="D7F1FF"/>
                </a:solidFill>
              </a:rPr>
              <a:t>    learning_sample.json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D9BF65-A66D-4961-9574-C9FEF5D17F07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PARAMÈTRES CENTRAUX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7B19EA-DFF3-4FFD-9040-386CA218D252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SOURCE / DEST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DB600D-FB63-488C-ACFF-79D8C7A6A005}"/>
              </a:ext>
            </a:extLst>
          </p:cNvPr>
          <p:cNvSpPr>
            <a:spLocks noGrp="1"/>
          </p:cNvSpPr>
          <p:nvPr/>
        </p:nvSpPr>
        <p:spPr>
          <a:xfrm>
            <a:off x="8324850" y="24003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Chemins d'entrée et de sortie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F29B3480-678B-4D84-9F1F-FE9A66F07B7D}"/>
              </a:ext>
            </a:extLst>
          </p:cNvPr>
          <p:cNvSpPr>
            <a:spLocks noGrp="1"/>
          </p:cNvSpPr>
          <p:nvPr/>
        </p:nvSpPr>
        <p:spPr>
          <a:xfrm>
            <a:off x="6191250" y="276225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A2425E-5D35-4EB9-9F73-D5A36EF980C9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MODE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34C064-A58E-47B1-A49F-02EB1CDBA108}"/>
              </a:ext>
            </a:extLst>
          </p:cNvPr>
          <p:cNvSpPr>
            <a:spLocks noGrp="1"/>
          </p:cNvSpPr>
          <p:nvPr/>
        </p:nvSpPr>
        <p:spPr>
          <a:xfrm>
            <a:off x="8324850" y="2914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auto ou interactive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0FEABF06-1793-4585-860D-CE9A98CD1F5D}"/>
              </a:ext>
            </a:extLst>
          </p:cNvPr>
          <p:cNvSpPr>
            <a:spLocks noGrp="1"/>
          </p:cNvSpPr>
          <p:nvPr/>
        </p:nvSpPr>
        <p:spPr>
          <a:xfrm>
            <a:off x="6191250" y="327660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86CA19-50F5-4F98-80A0-BF0176605B79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OLLAMA_URL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ED23BF-B175-49B0-917F-02759F54A9AF}"/>
              </a:ext>
            </a:extLst>
          </p:cNvPr>
          <p:cNvSpPr>
            <a:spLocks noGrp="1"/>
          </p:cNvSpPr>
          <p:nvPr/>
        </p:nvSpPr>
        <p:spPr>
          <a:xfrm>
            <a:off x="8324850" y="34290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API locale sur localhost:11434</a:t>
            </a:r>
          </a:p>
        </p:txBody>
      </p:sp>
      <p:sp>
        <p:nvSpPr>
          <p:cNvPr id="25" name="Connecteur droit 24">
            <a:extLst>
              <a:ext uri="{FF2B5EF4-FFF2-40B4-BE49-F238E27FC236}">
                <a16:creationId xmlns:a16="http://schemas.microsoft.com/office/drawing/2014/main" id="{39AFE465-48F2-4637-975C-6587479463E1}"/>
              </a:ext>
            </a:extLst>
          </p:cNvPr>
          <p:cNvSpPr>
            <a:spLocks noGrp="1"/>
          </p:cNvSpPr>
          <p:nvPr/>
        </p:nvSpPr>
        <p:spPr>
          <a:xfrm>
            <a:off x="6191250" y="379095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AEABCD-A52C-4898-927E-272E54A27992}"/>
              </a:ext>
            </a:extLst>
          </p:cNvPr>
          <p:cNvSpPr>
            <a:spLocks noGrp="1"/>
          </p:cNvSpPr>
          <p:nvPr/>
        </p:nvSpPr>
        <p:spPr>
          <a:xfrm>
            <a:off x="619125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MAX_CHARS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F9F6A4-2416-4E7D-9864-1BBCB96D0E87}"/>
              </a:ext>
            </a:extLst>
          </p:cNvPr>
          <p:cNvSpPr>
            <a:spLocks noGrp="1"/>
          </p:cNvSpPr>
          <p:nvPr/>
        </p:nvSpPr>
        <p:spPr>
          <a:xfrm>
            <a:off x="8324850" y="39433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1 500 caractères analysés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BB69A047-62CD-4347-9A84-0ACD3CA2DBE1}"/>
              </a:ext>
            </a:extLst>
          </p:cNvPr>
          <p:cNvSpPr>
            <a:spLocks noGrp="1"/>
          </p:cNvSpPr>
          <p:nvPr/>
        </p:nvSpPr>
        <p:spPr>
          <a:xfrm>
            <a:off x="6191250" y="430530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ECA966-7611-4F56-AB5F-A7D3A9B44D18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PDF_PAGE_LIMIT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54E247-8A6F-4B13-B8D1-31F5339D672C}"/>
              </a:ext>
            </a:extLst>
          </p:cNvPr>
          <p:cNvSpPr>
            <a:spLocks noGrp="1"/>
          </p:cNvSpPr>
          <p:nvPr/>
        </p:nvSpPr>
        <p:spPr>
          <a:xfrm>
            <a:off x="8324850" y="44577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2 pages extraites</a:t>
            </a:r>
          </a:p>
        </p:txBody>
      </p:sp>
      <p:sp>
        <p:nvSpPr>
          <p:cNvPr id="31" name="Connecteur droit 30">
            <a:extLst>
              <a:ext uri="{FF2B5EF4-FFF2-40B4-BE49-F238E27FC236}">
                <a16:creationId xmlns:a16="http://schemas.microsoft.com/office/drawing/2014/main" id="{2AB0C462-8CE6-470E-BC73-8F6AE3D0E0DB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C93F48-AB99-40CE-A429-D8D9888B28D7}"/>
              </a:ext>
            </a:extLst>
          </p:cNvPr>
          <p:cNvSpPr>
            <a:spLocks noGrp="1"/>
          </p:cNvSpPr>
          <p:nvPr/>
        </p:nvSpPr>
        <p:spPr>
          <a:xfrm>
            <a:off x="6191250" y="49720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SUBCATEGORIES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A1F060-6DE9-438B-B626-AD59109866DB}"/>
              </a:ext>
            </a:extLst>
          </p:cNvPr>
          <p:cNvSpPr>
            <a:spLocks noGrp="1"/>
          </p:cNvSpPr>
          <p:nvPr/>
        </p:nvSpPr>
        <p:spPr>
          <a:xfrm>
            <a:off x="8324850" y="49720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U3, U5, U7, années et types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ECBB73-7A17-4B21-A98C-8670E7822320}"/>
              </a:ext>
            </a:extLst>
          </p:cNvPr>
          <p:cNvSpPr>
            <a:spLocks noGrp="1"/>
          </p:cNvSpPr>
          <p:nvPr/>
        </p:nvSpPr>
        <p:spPr>
          <a:xfrm>
            <a:off x="6191250" y="56388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Dépendances principales : requests, watchdog, pdfplumber, python-docx, openpyxl, odfpy, pytesseract, Pillow, langdetect.</a:t>
            </a:r>
          </a:p>
        </p:txBody>
      </p:sp>
    </p:spTree>
    <p:extLst>
      <p:ext uri="{BB962C8B-B14F-4D97-AF65-F5344CB8AC3E}">
        <p14:creationId xmlns:p14="http://schemas.microsoft.com/office/powerpoint/2010/main" val="118379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5BF73E9-8655-4EB6-9851-A05C56F5D5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621B26-8D69-4F8E-A046-70C05FCC6738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A580334C-05C4-4CAC-BEA5-FF0ED09D3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2BE9DA64-ABAF-40B5-8B47-7C140A9016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9CFDE7C5-86C1-4DBF-B267-B9022AA1660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42BBB38A-F52E-4C29-8858-FCBDDE8065A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2BED436-2477-4706-AA99-F16BE7F5D601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6BA31-174F-4394-8CA1-E5FB628F21A5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852EDE67-B5AE-4370-95E8-6167A679C816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C2E030-2AD3-4874-819B-F68C55C242A6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09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32B5CE9E-0042-4052-84C8-E59E67BFCE07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La robustesse passe par quatre corrections ciblées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EDF4C-9158-4F33-84BA-500486E40D63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Ces améliorations rendent le prototype plus fiable, portable et démontrable en contexte scolaire.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7F775-B7B3-4470-A3B8-96E076B1CD83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C7554E"/>
                </a:solidFill>
              </a:defRPr>
            </a:pPr>
            <a:r>
              <a:rPr sz="3000" b="1" i="0">
                <a:solidFill>
                  <a:srgbClr val="C7554E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C6EE2-2A97-4015-9029-A1299F49B0CF}"/>
              </a:ext>
            </a:extLst>
          </p:cNvPr>
          <p:cNvSpPr>
            <a:spLocks noGrp="1"/>
          </p:cNvSpPr>
          <p:nvPr/>
        </p:nvSpPr>
        <p:spPr>
          <a:xfrm>
            <a:off x="1943100" y="2133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Garantir le repli 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AC3941-7F3C-4835-B324-BFDC09E99AB3}"/>
              </a:ext>
            </a:extLst>
          </p:cNvPr>
          <p:cNvSpPr>
            <a:spLocks noGrp="1"/>
          </p:cNvSpPr>
          <p:nvPr/>
        </p:nvSpPr>
        <p:spPr>
          <a:xfrm>
            <a:off x="1943100" y="2552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Retourner None lorsque les règles ne concluent pas, afin que ask_ai() soit réellement appelé.</a:t>
            </a: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0A7F688D-F936-42B0-B6BF-FB9267D1D7E4}"/>
              </a:ext>
            </a:extLst>
          </p:cNvPr>
          <p:cNvSpPr>
            <a:spLocks noGrp="1"/>
          </p:cNvSpPr>
          <p:nvPr/>
        </p:nvSpPr>
        <p:spPr>
          <a:xfrm>
            <a:off x="1066800" y="3657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21A03E-2723-4F1E-AD81-5D41BBDB655E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E9A23B"/>
                </a:solidFill>
              </a:defRPr>
            </a:pPr>
            <a:r>
              <a:rPr sz="3000" b="1" i="0">
                <a:solidFill>
                  <a:srgbClr val="E9A23B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D7E409-766A-43EF-A951-A37009BAE808}"/>
              </a:ext>
            </a:extLst>
          </p:cNvPr>
          <p:cNvSpPr>
            <a:spLocks noGrp="1"/>
          </p:cNvSpPr>
          <p:nvPr/>
        </p:nvSpPr>
        <p:spPr>
          <a:xfrm>
            <a:off x="7162800" y="2133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Supprimer l'import circulaire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C2AE4-2199-4FE0-8442-7D33297CA416}"/>
              </a:ext>
            </a:extLst>
          </p:cNvPr>
          <p:cNvSpPr>
            <a:spLocks noGrp="1"/>
          </p:cNvSpPr>
          <p:nvPr/>
        </p:nvSpPr>
        <p:spPr>
          <a:xfrm>
            <a:off x="7162800" y="2552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Déplacer extract_keywords() dans un module utilitaire partagé entre script.py et learning.py.</a:t>
            </a: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B276D3CC-05BF-4234-A549-6B499B4C96B2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304F5C-3A0C-4096-BA27-6E0E0343C3EB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245EA8"/>
                </a:solidFill>
              </a:defRPr>
            </a:pPr>
            <a:r>
              <a:rPr sz="3000" b="1" i="0">
                <a:solidFill>
                  <a:srgbClr val="245EA8"/>
                </a:solidFill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F69EB8-4DDE-48E9-BAAB-7FAAE8EC7305}"/>
              </a:ext>
            </a:extLst>
          </p:cNvPr>
          <p:cNvSpPr>
            <a:spLocks noGrp="1"/>
          </p:cNvSpPr>
          <p:nvPr/>
        </p:nvSpPr>
        <p:spPr>
          <a:xfrm>
            <a:off x="1943100" y="4038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Rendre les erreurs visibles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E17624-F219-4379-8BDF-A580814DB243}"/>
              </a:ext>
            </a:extLst>
          </p:cNvPr>
          <p:cNvSpPr>
            <a:spLocks noGrp="1"/>
          </p:cNvSpPr>
          <p:nvPr/>
        </p:nvSpPr>
        <p:spPr>
          <a:xfrm>
            <a:off x="1943100" y="4457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Remplacer les except silencieux, ajouter journaux, timeouts HTTP et messages d'échec exploitables.</a:t>
            </a:r>
          </a:p>
        </p:txBody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5CB58F7F-C248-4D40-BCDE-70EBD6460FD3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FDB9B8-22EF-4E09-9A5B-E9B4E6D43F18}"/>
              </a:ext>
            </a:extLst>
          </p:cNvPr>
          <p:cNvSpPr>
            <a:spLocks noGrp="1"/>
          </p:cNvSpPr>
          <p:nvPr/>
        </p:nvSpPr>
        <p:spPr>
          <a:xfrm>
            <a:off x="6286500" y="4000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3E9467"/>
                </a:solidFill>
              </a:defRPr>
            </a:pPr>
            <a:r>
              <a:rPr sz="3000" b="1" i="0">
                <a:solidFill>
                  <a:srgbClr val="3E9467"/>
                </a:solidFill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77DB02-7574-4F5A-A536-2D2488268F76}"/>
              </a:ext>
            </a:extLst>
          </p:cNvPr>
          <p:cNvSpPr>
            <a:spLocks noGrp="1"/>
          </p:cNvSpPr>
          <p:nvPr/>
        </p:nvSpPr>
        <p:spPr>
          <a:xfrm>
            <a:off x="7162800" y="4038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Sécuriser le watcher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D857F4-75C3-4F27-8CE7-395FDFED9017}"/>
              </a:ext>
            </a:extLst>
          </p:cNvPr>
          <p:cNvSpPr>
            <a:spLocks noGrp="1"/>
          </p:cNvSpPr>
          <p:nvPr/>
        </p:nvSpPr>
        <p:spPr>
          <a:xfrm>
            <a:off x="7162800" y="4457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Attendre la fin de copie, éviter les doubles traitements et empêcher l'exécution simultanée des deux modes.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9E6A78E3-5D24-4554-A41A-ABB1EA3DD9E5}"/>
              </a:ext>
            </a:extLst>
          </p:cNvPr>
          <p:cNvSpPr>
            <a:spLocks noGrp="1"/>
          </p:cNvSpPr>
          <p:nvPr/>
        </p:nvSpPr>
        <p:spPr>
          <a:xfrm>
            <a:off x="6286500" y="5562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495634-F73C-4885-812D-296B14C991BF}"/>
              </a:ext>
            </a:extLst>
          </p:cNvPr>
          <p:cNvSpPr>
            <a:spLocks noGrp="1"/>
          </p:cNvSpPr>
          <p:nvPr/>
        </p:nvSpPr>
        <p:spPr>
          <a:xfrm>
            <a:off x="1066800" y="5695950"/>
            <a:ext cx="942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Ce recul critique ne remet pas en cause le concept : il définit la feuille de route vers une version plus industrialisée.</a:t>
            </a:r>
          </a:p>
        </p:txBody>
      </p:sp>
    </p:spTree>
    <p:extLst>
      <p:ext uri="{BB962C8B-B14F-4D97-AF65-F5344CB8AC3E}">
        <p14:creationId xmlns:p14="http://schemas.microsoft.com/office/powerpoint/2010/main" val="143370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854CF91-24EF-41E0-ABDE-DA6762BC67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7AB22E-5E4E-498B-A2E7-46B9D54AC3A9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2EFF2C7D-2786-442D-B773-36979BE8AB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415813AE-3630-4FEA-832F-031C54B232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61938CC1-85ED-4557-902D-15670B775F56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1D022492-2159-4B62-8604-2F9ECE322E4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EC217B0-BC40-440C-B5A5-3E41061549DB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5BE57-F3A7-4DCB-A0CE-620DDDE7C679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COMPÉTENCES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4355B797-E5DD-4E3D-8CB1-1226B75F3B9D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95DC4C-33AC-4455-B517-843BEFEB2AD8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10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88D66464-E10B-4402-BEE8-89B47B90A23C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Le projet mobilise des compétences directement valorisables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77C9C7-1C36-4371-8946-C545B52D02A7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Chaque choix technique correspond à une capacité attendue en développement et en exploitation.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D98491-52D9-45F2-A34E-E2FB7046D284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76200" cy="91440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45984-322E-418A-982B-7E741E4F3DD0}"/>
              </a:ext>
            </a:extLst>
          </p:cNvPr>
          <p:cNvSpPr>
            <a:spLocks noGrp="1"/>
          </p:cNvSpPr>
          <p:nvPr/>
        </p:nvSpPr>
        <p:spPr>
          <a:xfrm>
            <a:off x="1314450" y="2000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Automatisation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94454C-EDC9-49B9-8694-8F39CF43DD55}"/>
              </a:ext>
            </a:extLst>
          </p:cNvPr>
          <p:cNvSpPr>
            <a:spLocks noGrp="1"/>
          </p:cNvSpPr>
          <p:nvPr/>
        </p:nvSpPr>
        <p:spPr>
          <a:xfrm>
            <a:off x="1314450" y="24003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Surveillance événementielle, déplacement de fichiers et orchestration d'un flux continu.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1FC19-3003-499C-B9C2-639A14CAA6B7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76200" cy="914400"/>
          </a:xfrm>
          <a:prstGeom prst="rect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A59D0-2D94-4887-BBE3-D81F875BF582}"/>
              </a:ext>
            </a:extLst>
          </p:cNvPr>
          <p:cNvSpPr>
            <a:spLocks noGrp="1"/>
          </p:cNvSpPr>
          <p:nvPr/>
        </p:nvSpPr>
        <p:spPr>
          <a:xfrm>
            <a:off x="6438900" y="2000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Traitement documentaire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E89E8-9BAB-4C69-B97F-7AE419F3DFAF}"/>
              </a:ext>
            </a:extLst>
          </p:cNvPr>
          <p:cNvSpPr>
            <a:spLocks noGrp="1"/>
          </p:cNvSpPr>
          <p:nvPr/>
        </p:nvSpPr>
        <p:spPr>
          <a:xfrm>
            <a:off x="6438900" y="24003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Lecture multi-format, OCR, normalisation du texte et limitation des volumes analysés.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631B1-9ECC-48CD-83AF-EF4429D5CCD8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76200" cy="914400"/>
          </a:xfrm>
          <a:prstGeom prst="rect">
            <a:avLst/>
          </a:prstGeom>
          <a:solidFill>
            <a:srgbClr val="C7554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1AE0F7-7BFC-4F43-A4F8-198E1F4DB0D9}"/>
              </a:ext>
            </a:extLst>
          </p:cNvPr>
          <p:cNvSpPr>
            <a:spLocks noGrp="1"/>
          </p:cNvSpPr>
          <p:nvPr/>
        </p:nvSpPr>
        <p:spPr>
          <a:xfrm>
            <a:off x="1314450" y="3257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IA locale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3B622-3F73-4666-8923-CFAEEB8F65B7}"/>
              </a:ext>
            </a:extLst>
          </p:cNvPr>
          <p:cNvSpPr>
            <a:spLocks noGrp="1"/>
          </p:cNvSpPr>
          <p:nvPr/>
        </p:nvSpPr>
        <p:spPr>
          <a:xfrm>
            <a:off x="1314450" y="36576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Construction d'un prompt contraint, appel d'une API locale et combinaison règles + LLM.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760FBF-653E-483A-ADB8-827FE93F785A}"/>
              </a:ext>
            </a:extLst>
          </p:cNvPr>
          <p:cNvSpPr>
            <a:spLocks noGrp="1"/>
          </p:cNvSpPr>
          <p:nvPr/>
        </p:nvSpPr>
        <p:spPr>
          <a:xfrm>
            <a:off x="6191250" y="3257550"/>
            <a:ext cx="76200" cy="914400"/>
          </a:xfrm>
          <a:prstGeom prst="rect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F8AC40-2CF1-4FFE-BE29-7A985C6B459B}"/>
              </a:ext>
            </a:extLst>
          </p:cNvPr>
          <p:cNvSpPr>
            <a:spLocks noGrp="1"/>
          </p:cNvSpPr>
          <p:nvPr/>
        </p:nvSpPr>
        <p:spPr>
          <a:xfrm>
            <a:off x="6438900" y="3257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Conception logicielle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BA2781-8999-481F-98EC-D9B28D02B2BB}"/>
              </a:ext>
            </a:extLst>
          </p:cNvPr>
          <p:cNvSpPr>
            <a:spLocks noGrp="1"/>
          </p:cNvSpPr>
          <p:nvPr/>
        </p:nvSpPr>
        <p:spPr>
          <a:xfrm>
            <a:off x="6438900" y="36576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Configuration centralisée, séparation des responsabilités et persistance JSON.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FB704A-D524-48A6-9A9A-6336306CCB39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76200" cy="914400"/>
          </a:xfrm>
          <a:prstGeom prst="rect">
            <a:avLst/>
          </a:prstGeom>
          <a:solidFill>
            <a:srgbClr val="E9A23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B13964-16FE-4ADA-98E5-D921A6C8D67F}"/>
              </a:ext>
            </a:extLst>
          </p:cNvPr>
          <p:cNvSpPr>
            <a:spLocks noGrp="1"/>
          </p:cNvSpPr>
          <p:nvPr/>
        </p:nvSpPr>
        <p:spPr>
          <a:xfrm>
            <a:off x="1314450" y="45148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Diagnostic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F3A5DE-CEF5-42E7-9D8B-2682844B0074}"/>
              </a:ext>
            </a:extLst>
          </p:cNvPr>
          <p:cNvSpPr>
            <a:spLocks noGrp="1"/>
          </p:cNvSpPr>
          <p:nvPr/>
        </p:nvSpPr>
        <p:spPr>
          <a:xfrm>
            <a:off x="1314450" y="49149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Identification des cas limites, dépendances locales et risques d'exécution concurrente.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01642-FF5F-437D-9831-C0C869091A9B}"/>
              </a:ext>
            </a:extLst>
          </p:cNvPr>
          <p:cNvSpPr>
            <a:spLocks noGrp="1"/>
          </p:cNvSpPr>
          <p:nvPr/>
        </p:nvSpPr>
        <p:spPr>
          <a:xfrm>
            <a:off x="6191250" y="4514850"/>
            <a:ext cx="76200" cy="91440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EA1020-21C8-4B0A-8CE3-BCE2644B737D}"/>
              </a:ext>
            </a:extLst>
          </p:cNvPr>
          <p:cNvSpPr>
            <a:spLocks noGrp="1"/>
          </p:cNvSpPr>
          <p:nvPr/>
        </p:nvSpPr>
        <p:spPr>
          <a:xfrm>
            <a:off x="6438900" y="45148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Documentation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497074-76F2-4F8B-B7D7-AFC1CCD7C9F8}"/>
              </a:ext>
            </a:extLst>
          </p:cNvPr>
          <p:cNvSpPr>
            <a:spLocks noGrp="1"/>
          </p:cNvSpPr>
          <p:nvPr/>
        </p:nvSpPr>
        <p:spPr>
          <a:xfrm>
            <a:off x="6438900" y="49149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README, mode opératoire, architecture C4 et consignes de lancement.</a:t>
            </a:r>
          </a:p>
        </p:txBody>
      </p:sp>
    </p:spTree>
    <p:extLst>
      <p:ext uri="{BB962C8B-B14F-4D97-AF65-F5344CB8AC3E}">
        <p14:creationId xmlns:p14="http://schemas.microsoft.com/office/powerpoint/2010/main" val="1630023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1B2FB96-E7F4-44CB-B1D1-BB782E21CC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720A3-4153-4FA2-926A-287C80927D00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4A44737C-ADA5-4E0D-BE06-6EAAE12D71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77225A18-A5FB-423D-93B2-D7F11B42A9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CFFFEE18-8D0F-45E2-AB78-797F7B946F61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CD560363-CE3B-4182-B0C1-91D4FBF645A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7AB25F4-9EF7-44CB-9677-1A390C20A86E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75B89-1991-4929-805E-7C06D3C0FCB6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BILAN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B411D78E-D86D-4EB1-AEC5-D2479CF93691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0FE172-AF4A-498D-9CE0-1B1E3347CE61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11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CCDF3EBC-5931-4C55-9E47-0797FEF391D1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Une base solide pour industrialiser FileSorter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F5B505-AFDC-4301-9BDA-9C803A578826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La valeur du projet tient autant à son utilité immédiate qu'à son potentiel d'évolution.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EB6113-25C5-4447-BEB9-E25CA81C760E}"/>
              </a:ext>
            </a:extLst>
          </p:cNvPr>
          <p:cNvSpPr>
            <a:spLocks noGrp="1"/>
          </p:cNvSpPr>
          <p:nvPr/>
        </p:nvSpPr>
        <p:spPr>
          <a:xfrm>
            <a:off x="1066800" y="204787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245EA8"/>
                </a:solidFill>
              </a:defRPr>
            </a:pPr>
            <a:r>
              <a:rPr sz="1125" b="1" i="0">
                <a:solidFill>
                  <a:srgbClr val="245EA8"/>
                </a:solidFill>
              </a:rPr>
              <a:t>AUJOURD'HUI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A65F7F-970C-4987-9007-1B21C0376D01}"/>
              </a:ext>
            </a:extLst>
          </p:cNvPr>
          <p:cNvSpPr>
            <a:spLocks noGrp="1"/>
          </p:cNvSpPr>
          <p:nvPr/>
        </p:nvSpPr>
        <p:spPr>
          <a:xfrm>
            <a:off x="1066800" y="2457450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Une chaîne de tri locale et configurable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- 12 extensions de fichiers prises en charge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 mode automatique et un mode supervisé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Une mémoire simple des validations et corrections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Une documentation d'installation et d'usage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8531CE-0B2E-4A79-9905-9805F234B3EE}"/>
              </a:ext>
            </a:extLst>
          </p:cNvPr>
          <p:cNvSpPr>
            <a:spLocks noGrp="1"/>
          </p:cNvSpPr>
          <p:nvPr/>
        </p:nvSpPr>
        <p:spPr>
          <a:xfrm>
            <a:off x="6286500" y="204787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20A8CF"/>
                </a:solidFill>
              </a:defRPr>
            </a:pPr>
            <a:r>
              <a:rPr sz="1125" b="1" i="0">
                <a:solidFill>
                  <a:srgbClr val="20A8CF"/>
                </a:solidFill>
              </a:rPr>
              <a:t>PROCHAINES ÉTAPES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0A6F5-8557-40D8-98BF-5AB7165730CD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4572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Tests unitaires et jeux de documents de référence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File d'attente robuste pour les nouveaux fichiers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Base SQLite et traçabilité des décisions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Embeddings pour rapprocher les contenus similaires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Interface de supervision et packaging installable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D46A291-8C81-4F7A-9D41-E6187C4BCF36}"/>
              </a:ext>
            </a:extLst>
          </p:cNvPr>
          <p:cNvSpPr>
            <a:spLocks noGrp="1"/>
          </p:cNvSpPr>
          <p:nvPr/>
        </p:nvSpPr>
        <p:spPr>
          <a:xfrm>
            <a:off x="1066800" y="5000625"/>
            <a:ext cx="9906000" cy="800100"/>
          </a:xfrm>
          <a:prstGeom prst="roundRect">
            <a:avLst>
              <a:gd name="adj" fmla="val 14286"/>
            </a:avLst>
          </a:prstGeom>
          <a:solidFill>
            <a:srgbClr val="0B2A5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CFB049-55FB-4027-9528-7D1A49358DC0}"/>
              </a:ext>
            </a:extLst>
          </p:cNvPr>
          <p:cNvSpPr>
            <a:spLocks noGrp="1"/>
          </p:cNvSpPr>
          <p:nvPr/>
        </p:nvSpPr>
        <p:spPr>
          <a:xfrm>
            <a:off x="1352550" y="521970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FileSorter automatise une tâche réelle tout en restant compréhensible, local et améliorable.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C217D3-0900-4DC8-8C93-AF288E2CB4F6}"/>
              </a:ext>
            </a:extLst>
          </p:cNvPr>
          <p:cNvSpPr>
            <a:spLocks noGrp="1"/>
          </p:cNvSpPr>
          <p:nvPr/>
        </p:nvSpPr>
        <p:spPr>
          <a:xfrm>
            <a:off x="1066800" y="595312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245EA8"/>
                </a:solidFill>
              </a:defRPr>
            </a:pPr>
            <a:r>
              <a:rPr lang="fr-FR" sz="1125" b="1" i="0">
                <a:solidFill>
                  <a:srgbClr val="245EA8"/>
                </a:solidFill>
              </a:rPr>
              <a:t>http://</a:t>
            </a:r>
            <a:r>
              <a:rPr sz="1125" b="1" i="0">
                <a:solidFill>
                  <a:srgbClr val="245EA8"/>
                </a:solidFill>
              </a:rPr>
              <a:t>github.com/sami3737/</a:t>
            </a:r>
            <a:r>
              <a:rPr sz="1125" b="1" i="0" dirty="0" err="1">
                <a:solidFill>
                  <a:srgbClr val="245EA8"/>
                </a:solidFill>
              </a:rPr>
              <a:t>FileSorter</a:t>
            </a:r>
            <a:endParaRPr sz="1125" b="1" i="0" dirty="0">
              <a:solidFill>
                <a:srgbClr val="245E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9293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Microsoft Office PowerPoint</Application>
  <DocSecurity>0</DocSecurity>
  <PresentationFormat>Grand écran</PresentationFormat>
  <Paragraphs>285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samuel boutin</cp:lastModifiedBy>
  <cp:revision>1</cp:revision>
  <dcterms:created xsi:type="dcterms:W3CDTF">2026-08-19T09:10:25Z</dcterms:created>
  <dcterms:modified xsi:type="dcterms:W3CDTF">2026-08-19T09:54:04Z</dcterms:modified>
</cp:coreProperties>
</file>