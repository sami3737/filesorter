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88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boutin" userId="63129c17ad4e6253" providerId="LiveId" clId="{C521EDF7-F80A-4D68-BB5E-6956C2CAAC00}"/>
    <pc:docChg chg="modSld">
      <pc:chgData name="samuel boutin" userId="63129c17ad4e6253" providerId="LiveId" clId="{C521EDF7-F80A-4D68-BB5E-6956C2CAAC00}" dt="2026-08-19T09:54:04.667" v="19" actId="20577"/>
      <pc:docMkLst>
        <pc:docMk/>
      </pc:docMkLst>
      <pc:sldChg chg="modSp mod">
        <pc:chgData name="samuel boutin" userId="63129c17ad4e6253" providerId="LiveId" clId="{C521EDF7-F80A-4D68-BB5E-6956C2CAAC00}" dt="2026-08-19T09:53:50.066" v="12" actId="20577"/>
        <pc:sldMkLst>
          <pc:docMk/>
          <pc:sldMk cId="835496422" sldId="256"/>
        </pc:sldMkLst>
        <pc:spChg chg="mod">
          <ac:chgData name="samuel boutin" userId="63129c17ad4e6253" providerId="LiveId" clId="{C521EDF7-F80A-4D68-BB5E-6956C2CAAC00}" dt="2026-08-19T09:53:50.066" v="12" actId="20577"/>
          <ac:spMkLst>
            <pc:docMk/>
            <pc:sldMk cId="835496422" sldId="256"/>
            <ac:spMk id="12" creationId="{8830F690-450F-432C-A4A8-D82F481910CA}"/>
          </ac:spMkLst>
        </pc:spChg>
      </pc:sldChg>
      <pc:sldChg chg="modSp mod">
        <pc:chgData name="samuel boutin" userId="63129c17ad4e6253" providerId="LiveId" clId="{C521EDF7-F80A-4D68-BB5E-6956C2CAAC00}" dt="2026-08-19T09:54:04.667" v="19" actId="20577"/>
        <pc:sldMkLst>
          <pc:docMk/>
          <pc:sldMk cId="968929306" sldId="266"/>
        </pc:sldMkLst>
        <pc:spChg chg="mod">
          <ac:chgData name="samuel boutin" userId="63129c17ad4e6253" providerId="LiveId" clId="{C521EDF7-F80A-4D68-BB5E-6956C2CAAC00}" dt="2026-08-19T09:54:04.667" v="19" actId="20577"/>
          <ac:spMkLst>
            <pc:docMk/>
            <pc:sldMk cId="968929306" sldId="266"/>
            <ac:spMk id="19" creationId="{1DC217D3-0900-4DC8-8C93-AF288E2CB4F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FileSorter_Presentation.pdf</a:t>
            </a:r>
          </a:p>
          <a:p>
            <a:r>
              <a:t>- README.md</a:t>
            </a:r>
          </a:p>
          <a:p>
            <a:r>
              <a:t>- src/script.py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README.md - Objectif, catégories et structure de destination</a:t>
            </a:r>
          </a:p>
          <a:p>
            <a:r>
              <a:t>- FileSorter_Presentation.pdf - Contexte et objectif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README.md - How It Works</a:t>
            </a:r>
          </a:p>
          <a:p>
            <a:r>
              <a:t>- src/watcher.py</a:t>
            </a:r>
          </a:p>
          <a:p>
            <a:r>
              <a:t>- src/script.py - organize()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src/utils/file_reader.py</a:t>
            </a:r>
          </a:p>
          <a:p>
            <a:r>
              <a:t>- src/config.py - PDF_PAGE_LIMIT et MAX_CHARS</a:t>
            </a:r>
          </a:p>
          <a:p>
            <a:r>
              <a:t>- requirements.txt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src/script.py - learn_from_history(), pre_classify(), ask_ai() et organize()</a:t>
            </a:r>
          </a:p>
          <a:p>
            <a:r>
              <a:t>- src/config.py - catégories et paramètres Ollama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docs/documentation_technique_tri_ia_v3.docx - Architecture C4</a:t>
            </a:r>
          </a:p>
          <a:p>
            <a:r>
              <a:t>- src/watcher.py</a:t>
            </a:r>
          </a:p>
          <a:p>
            <a:r>
              <a:t>- src/script.py</a:t>
            </a:r>
          </a:p>
          <a:p>
            <a:r>
              <a:t>- src/utils/learning.py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README.md - Modes et apprentissage</a:t>
            </a:r>
          </a:p>
          <a:p>
            <a:r>
              <a:t>- src/script.py - confirm_category()</a:t>
            </a:r>
          </a:p>
          <a:p>
            <a:r>
              <a:t>- src/utils/learning.py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README.md - Configuration</a:t>
            </a:r>
          </a:p>
          <a:p>
            <a:r>
              <a:t>- src/config.py</a:t>
            </a:r>
          </a:p>
          <a:p>
            <a:r>
              <a:t>- requirements.txt</a:t>
            </a:r>
          </a:p>
          <a:p>
            <a:r>
              <a:t>- Arborescence locale du dépôt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Analyse du code local : src/script.py, src/utils/learning.py, src/utils/file_reader.py et src/watcher.py</a:t>
            </a:r>
          </a:p>
          <a:p>
            <a:r>
              <a:t>- docs/mode_operatoire_tri_ia_v2.docx - Règles importantes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README.md</a:t>
            </a:r>
          </a:p>
          <a:p>
            <a:r>
              <a:t>- docs/mode_operatoire_tri_ia_v2.docx</a:t>
            </a:r>
          </a:p>
          <a:p>
            <a:r>
              <a:t>- docs/documentation_technique_tri_ia_v3.docx</a:t>
            </a:r>
          </a:p>
          <a:p>
            <a:r>
              <a:t>- Code source du projet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README.md - Améliorations possibles et dépôt</a:t>
            </a:r>
          </a:p>
          <a:p>
            <a:r>
              <a:t>- FileSorter_Presentation.pdf - Statut et lien GitHub</a:t>
            </a:r>
          </a:p>
          <a:p>
            <a:r>
              <a:t>- Analyse du code local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A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912E980-C948-4C90-B9A4-E0AFC8FBBE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A5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F99DE2B-C48B-4DCB-A34A-6DA82BA3CF2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096250" cy="6858000"/>
          </a:xfrm>
          <a:prstGeom prst="rect">
            <a:avLst/>
          </a:prstGeom>
          <a:solidFill>
            <a:srgbClr val="0E386E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Parallélogramme 2">
            <a:extLst>
              <a:ext uri="{FF2B5EF4-FFF2-40B4-BE49-F238E27FC236}">
                <a16:creationId xmlns:a16="http://schemas.microsoft.com/office/drawing/2014/main" id="{1F6B5F01-5675-4F1F-B0D9-7C717E69B613}"/>
              </a:ext>
            </a:extLst>
          </p:cNvPr>
          <p:cNvSpPr>
            <a:spLocks noGrp="1"/>
          </p:cNvSpPr>
          <p:nvPr/>
        </p:nvSpPr>
        <p:spPr>
          <a:xfrm>
            <a:off x="6191250" y="0"/>
            <a:ext cx="3429000" cy="6858000"/>
          </a:xfrm>
          <a:prstGeom prst="parallelogram">
            <a:avLst/>
          </a:prstGeom>
          <a:solidFill>
            <a:srgbClr val="1B6FB5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63AF63C0-975B-4ED4-9AF5-4C58AC862F47}"/>
              </a:ext>
            </a:extLst>
          </p:cNvPr>
          <p:cNvSpPr>
            <a:spLocks noGrp="1"/>
          </p:cNvSpPr>
          <p:nvPr/>
        </p:nvSpPr>
        <p:spPr>
          <a:xfrm>
            <a:off x="7524750" y="0"/>
            <a:ext cx="1809750" cy="6858000"/>
          </a:xfrm>
          <a:prstGeom prst="parallelogram">
            <a:avLst/>
          </a:prstGeom>
          <a:solidFill>
            <a:srgbClr val="6CC4EA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A12F9182-D493-423F-8F6C-002DA69AD515}"/>
              </a:ext>
            </a:extLst>
          </p:cNvPr>
          <p:cNvSpPr>
            <a:spLocks noGrp="1"/>
          </p:cNvSpPr>
          <p:nvPr/>
        </p:nvSpPr>
        <p:spPr>
          <a:xfrm>
            <a:off x="8858250" y="0"/>
            <a:ext cx="3333750" cy="6858000"/>
          </a:xfrm>
          <a:prstGeom prst="parallelogram">
            <a:avLst/>
          </a:prstGeom>
          <a:solidFill>
            <a:srgbClr val="1B6FB5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EAD87DF7-C60B-4135-9810-E00C12284EDA}"/>
              </a:ext>
            </a:extLst>
          </p:cNvPr>
          <p:cNvSpPr>
            <a:spLocks noGrp="1"/>
          </p:cNvSpPr>
          <p:nvPr/>
        </p:nvSpPr>
        <p:spPr>
          <a:xfrm>
            <a:off x="685800" y="533400"/>
            <a:ext cx="3067050" cy="285750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4CFF17-630D-443C-A8CF-F19D9EB93A9F}"/>
              </a:ext>
            </a:extLst>
          </p:cNvPr>
          <p:cNvSpPr>
            <a:spLocks noGrp="1"/>
          </p:cNvSpPr>
          <p:nvPr/>
        </p:nvSpPr>
        <p:spPr>
          <a:xfrm>
            <a:off x="800100" y="590550"/>
            <a:ext cx="2838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825" b="1" i="0">
                <a:solidFill>
                  <a:srgbClr val="FFFFFF"/>
                </a:solidFill>
              </a:defRPr>
            </a:pPr>
            <a:r>
              <a:rPr sz="825" b="1" i="0">
                <a:solidFill>
                  <a:srgbClr val="FFFFFF"/>
                </a:solidFill>
              </a:rPr>
              <a:t>PROJET PERSONNEL  •  PYTHON  •  BTS SIO SLAM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A5B0CBD-355E-4DC8-8E10-DE52598D324B}"/>
              </a:ext>
            </a:extLst>
          </p:cNvPr>
          <p:cNvSpPr>
            <a:spLocks noGrp="1"/>
          </p:cNvSpPr>
          <p:nvPr/>
        </p:nvSpPr>
        <p:spPr>
          <a:xfrm>
            <a:off x="685800" y="1695450"/>
            <a:ext cx="619125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4350" b="1" i="0">
                <a:solidFill>
                  <a:srgbClr val="FFFFFF"/>
                </a:solidFill>
              </a:defRPr>
            </a:pPr>
            <a:r>
              <a:rPr sz="4350" b="1" i="0" dirty="0" err="1">
                <a:solidFill>
                  <a:srgbClr val="FFFFFF"/>
                </a:solidFill>
              </a:rPr>
              <a:t>FileSorter</a:t>
            </a:r>
            <a:endParaRPr sz="4350" b="1" i="0" dirty="0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EB1116C-5EB2-4EE7-8D9B-6171F33A2DD3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6191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400" b="1" i="0">
                <a:solidFill>
                  <a:srgbClr val="D7F1FF"/>
                </a:solidFill>
              </a:defRPr>
            </a:pPr>
            <a:r>
              <a:rPr sz="2400" b="1" i="0">
                <a:solidFill>
                  <a:srgbClr val="D7F1FF"/>
                </a:solidFill>
              </a:rPr>
              <a:t>Un tri intelligent, local et configurable</a:t>
            </a:r>
          </a:p>
          <a:p>
            <a:pPr algn="l">
              <a:defRPr sz="2400" b="1" i="0">
                <a:solidFill>
                  <a:srgbClr val="D7F1FF"/>
                </a:solidFill>
              </a:defRPr>
            </a:pPr>
            <a:r>
              <a:rPr sz="2400" b="1" i="0">
                <a:solidFill>
                  <a:srgbClr val="D7F1FF"/>
                </a:solidFill>
              </a:rPr>
              <a:t>pour les ressources pédagogiques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9D1221-12D4-4F24-B0FD-5448D218B0A3}"/>
              </a:ext>
            </a:extLst>
          </p:cNvPr>
          <p:cNvSpPr>
            <a:spLocks noGrp="1"/>
          </p:cNvSpPr>
          <p:nvPr/>
        </p:nvSpPr>
        <p:spPr>
          <a:xfrm>
            <a:off x="685800" y="3848100"/>
            <a:ext cx="6191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 i="0">
                <a:solidFill>
                  <a:srgbClr val="FFFFFF"/>
                </a:solidFill>
              </a:defRPr>
            </a:pPr>
            <a:r>
              <a:rPr sz="1425" b="0" i="0">
                <a:solidFill>
                  <a:srgbClr val="FFFFFF"/>
                </a:solidFill>
              </a:rPr>
              <a:t>OCR, extraction multi-format et classification locale avec Ollama / Llama 3.1</a:t>
            </a:r>
          </a:p>
        </p:txBody>
      </p:sp>
      <p:sp>
        <p:nvSpPr>
          <p:cNvPr id="11" name="Connecteur droit 10">
            <a:extLst>
              <a:ext uri="{FF2B5EF4-FFF2-40B4-BE49-F238E27FC236}">
                <a16:creationId xmlns:a16="http://schemas.microsoft.com/office/drawing/2014/main" id="{EE0271C7-6426-44D9-A9F9-9F61F8DAABCE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3524250" cy="0"/>
          </a:xfrm>
          <a:prstGeom prst="line">
            <a:avLst/>
          </a:prstGeom>
          <a:noFill/>
          <a:ln w="38100">
            <a:solidFill>
              <a:srgbClr val="63B7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30F690-450F-432C-A4A8-D82F481910CA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FFFFFF"/>
                </a:solidFill>
              </a:defRPr>
            </a:pPr>
            <a:r>
              <a:rPr sz="1275" b="1" i="0" dirty="0" err="1">
                <a:solidFill>
                  <a:srgbClr val="FFFFFF"/>
                </a:solidFill>
              </a:rPr>
              <a:t>Présenté</a:t>
            </a:r>
            <a:r>
              <a:rPr sz="1275" b="1" i="0" dirty="0">
                <a:solidFill>
                  <a:srgbClr val="FFFFFF"/>
                </a:solidFill>
              </a:rPr>
              <a:t> par </a:t>
            </a:r>
            <a:r>
              <a:rPr lang="fr-FR" sz="1275" b="1" i="0" dirty="0">
                <a:solidFill>
                  <a:srgbClr val="FFFFFF"/>
                </a:solidFill>
              </a:rPr>
              <a:t>Samuel Boutin</a:t>
            </a:r>
            <a:endParaRPr sz="1275" b="1" i="0" dirty="0">
              <a:solidFill>
                <a:srgbClr val="FFFFFF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242B86-420B-412C-9771-47E4BAA5556C}"/>
              </a:ext>
            </a:extLst>
          </p:cNvPr>
          <p:cNvSpPr>
            <a:spLocks noGrp="1"/>
          </p:cNvSpPr>
          <p:nvPr/>
        </p:nvSpPr>
        <p:spPr>
          <a:xfrm>
            <a:off x="685800" y="5286375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0" i="0">
                <a:solidFill>
                  <a:srgbClr val="C6DDF2"/>
                </a:solidFill>
              </a:defRPr>
            </a:pPr>
            <a:r>
              <a:rPr sz="1050" b="0" i="0">
                <a:solidFill>
                  <a:srgbClr val="C6DDF2"/>
                </a:solidFill>
              </a:rPr>
              <a:t>19 août 2026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3F01B0-6771-4A6C-818E-4CD6F8109CBE}"/>
              </a:ext>
            </a:extLst>
          </p:cNvPr>
          <p:cNvSpPr>
            <a:spLocks noGrp="1"/>
          </p:cNvSpPr>
          <p:nvPr/>
        </p:nvSpPr>
        <p:spPr>
          <a:xfrm>
            <a:off x="9429750" y="2305050"/>
            <a:ext cx="2000250" cy="1619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0" b="1" i="0">
                <a:solidFill>
                  <a:srgbClr val="FFFFFF">
                    <a:alpha val="18000"/>
                  </a:srgbClr>
                </a:solidFill>
              </a:defRPr>
            </a:pPr>
            <a:r>
              <a:rPr sz="7500" b="1" i="0">
                <a:solidFill>
                  <a:srgbClr val="FFFFFF">
                    <a:alpha val="18000"/>
                  </a:srgbClr>
                </a:solidFill>
              </a:rPr>
              <a:t>FS</a:t>
            </a:r>
          </a:p>
        </p:txBody>
      </p:sp>
    </p:spTree>
    <p:extLst>
      <p:ext uri="{BB962C8B-B14F-4D97-AF65-F5344CB8AC3E}">
        <p14:creationId xmlns:p14="http://schemas.microsoft.com/office/powerpoint/2010/main" val="835496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8CEE344-3C7A-43A1-930C-25ECC0E983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37B69E-640C-493B-AC9D-986D637C461E}"/>
              </a:ext>
            </a:extLst>
          </p:cNvPr>
          <p:cNvSpPr>
            <a:spLocks noGrp="1"/>
          </p:cNvSpPr>
          <p:nvPr/>
        </p:nvSpPr>
        <p:spPr>
          <a:xfrm>
            <a:off x="7429500" y="0"/>
            <a:ext cx="4762500" cy="6858000"/>
          </a:xfrm>
          <a:prstGeom prst="rect">
            <a:avLst/>
          </a:prstGeom>
          <a:solidFill>
            <a:srgbClr val="D9F0FC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Parallélogramme 2">
            <a:extLst>
              <a:ext uri="{FF2B5EF4-FFF2-40B4-BE49-F238E27FC236}">
                <a16:creationId xmlns:a16="http://schemas.microsoft.com/office/drawing/2014/main" id="{D5121027-934C-489C-94D8-7BC7F757017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" cy="5143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30C9C6D7-7BBC-4270-9663-BD3FF7133C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3238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D1935CEA-9BD7-4FE8-9ECF-5B74700B6FDD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952500" cy="6667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C42F3369-3189-4C84-B1F2-78FC570B5648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819150" cy="4381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6B39C8A-2E5E-49CA-ADAF-A3F9200D2AD1}"/>
              </a:ext>
            </a:extLst>
          </p:cNvPr>
          <p:cNvSpPr>
            <a:spLocks noGrp="1"/>
          </p:cNvSpPr>
          <p:nvPr/>
        </p:nvSpPr>
        <p:spPr>
          <a:xfrm>
            <a:off x="9658350" y="28575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12032E-B003-48F1-841A-44A43BF246E7}"/>
              </a:ext>
            </a:extLst>
          </p:cNvPr>
          <p:cNvSpPr>
            <a:spLocks noGrp="1"/>
          </p:cNvSpPr>
          <p:nvPr/>
        </p:nvSpPr>
        <p:spPr>
          <a:xfrm>
            <a:off x="9753600" y="323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CONTEXTE</a:t>
            </a: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9762311D-FBF3-41CB-81A5-867E9652B5B2}"/>
              </a:ext>
            </a:extLst>
          </p:cNvPr>
          <p:cNvSpPr>
            <a:spLocks noGrp="1"/>
          </p:cNvSpPr>
          <p:nvPr/>
        </p:nvSpPr>
        <p:spPr>
          <a:xfrm>
            <a:off x="838200" y="6400800"/>
            <a:ext cx="10363200" cy="0"/>
          </a:xfrm>
          <a:prstGeom prst="line">
            <a:avLst/>
          </a:prstGeom>
          <a:noFill/>
          <a:ln w="13335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10FDBB-F7EA-4445-83F2-714A70319A41}"/>
              </a:ext>
            </a:extLst>
          </p:cNvPr>
          <p:cNvSpPr>
            <a:spLocks noGrp="1"/>
          </p:cNvSpPr>
          <p:nvPr/>
        </p:nvSpPr>
        <p:spPr>
          <a:xfrm>
            <a:off x="11220450" y="619125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02</a:t>
            </a:r>
          </a:p>
        </p:txBody>
      </p:sp>
      <p:sp>
        <p:nvSpPr>
          <p:cNvPr id="11" name="slide-title">
            <a:extLst>
              <a:ext uri="{FF2B5EF4-FFF2-40B4-BE49-F238E27FC236}">
                <a16:creationId xmlns:a16="http://schemas.microsoft.com/office/drawing/2014/main" id="{B70038C2-C814-44BD-8D31-B65DD5CCBD35}"/>
              </a:ext>
            </a:extLst>
          </p:cNvPr>
          <p:cNvSpPr>
            <a:spLocks noGrp="1"/>
          </p:cNvSpPr>
          <p:nvPr/>
        </p:nvSpPr>
        <p:spPr>
          <a:xfrm>
            <a:off x="1066800" y="74295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0B2A53"/>
                </a:solidFill>
              </a:defRPr>
            </a:pPr>
            <a:r>
              <a:rPr sz="2850" b="1" i="0">
                <a:solidFill>
                  <a:srgbClr val="0B2A53"/>
                </a:solidFill>
              </a:rPr>
              <a:t>Le problème : l'accumulation masque l'information utile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9FC8E20-FC33-4546-BDAE-C68B3F057C01}"/>
              </a:ext>
            </a:extLst>
          </p:cNvPr>
          <p:cNvSpPr>
            <a:spLocks noGrp="1"/>
          </p:cNvSpPr>
          <p:nvPr/>
        </p:nvSpPr>
        <p:spPr>
          <a:xfrm>
            <a:off x="1066800" y="1304925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C6B7E"/>
                </a:solidFill>
              </a:defRPr>
            </a:pPr>
            <a:r>
              <a:rPr sz="1275" b="0" i="0">
                <a:solidFill>
                  <a:srgbClr val="5C6B7E"/>
                </a:solidFill>
              </a:rPr>
              <a:t>FileSorter transforme un dossier de dépôt en arborescence pédagogique exploitable.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7B35D4-FF4B-431D-BF8A-2AAB11087558}"/>
              </a:ext>
            </a:extLst>
          </p:cNvPr>
          <p:cNvSpPr>
            <a:spLocks noGrp="1"/>
          </p:cNvSpPr>
          <p:nvPr/>
        </p:nvSpPr>
        <p:spPr>
          <a:xfrm>
            <a:off x="1066800" y="195262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5EA8"/>
                </a:solidFill>
              </a:defRPr>
            </a:pPr>
            <a:r>
              <a:rPr sz="1050" b="1" i="0">
                <a:solidFill>
                  <a:srgbClr val="245EA8"/>
                </a:solidFill>
              </a:rPr>
              <a:t>POINT DE DÉPART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29ADC0B-1005-4C23-848C-6AB65D75241D}"/>
              </a:ext>
            </a:extLst>
          </p:cNvPr>
          <p:cNvSpPr>
            <a:spLocks noGrp="1"/>
          </p:cNvSpPr>
          <p:nvPr/>
        </p:nvSpPr>
        <p:spPr>
          <a:xfrm>
            <a:off x="1066800" y="2305050"/>
            <a:ext cx="43338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24364B"/>
                </a:solidFill>
              </a:defRPr>
            </a:pPr>
            <a:r>
              <a:rPr sz="1500" b="0" i="0">
                <a:solidFill>
                  <a:srgbClr val="24364B"/>
                </a:solidFill>
              </a:rPr>
              <a:t>Des cours hétérogènes arrivent dans un même dossier : PDF, documents bureautiques, tableaux et scans. Les noms de fichiers ne suffisent pas toujours à comprendre la matière ou l'unité.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376D27-6B51-4989-90B8-B48EF4CBB678}"/>
              </a:ext>
            </a:extLst>
          </p:cNvPr>
          <p:cNvSpPr>
            <a:spLocks noGrp="1"/>
          </p:cNvSpPr>
          <p:nvPr/>
        </p:nvSpPr>
        <p:spPr>
          <a:xfrm>
            <a:off x="6286500" y="195262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5EA8"/>
                </a:solidFill>
              </a:defRPr>
            </a:pPr>
            <a:r>
              <a:rPr sz="1050" b="1" i="0">
                <a:solidFill>
                  <a:srgbClr val="245EA8"/>
                </a:solidFill>
              </a:rPr>
              <a:t>OBJECTIF DU PROJET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0B1432-D8BB-4C38-B9B8-0776ECAAE23D}"/>
              </a:ext>
            </a:extLst>
          </p:cNvPr>
          <p:cNvSpPr>
            <a:spLocks noGrp="1"/>
          </p:cNvSpPr>
          <p:nvPr/>
        </p:nvSpPr>
        <p:spPr>
          <a:xfrm>
            <a:off x="6286500" y="2305050"/>
            <a:ext cx="40957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24364B"/>
                </a:solidFill>
              </a:defRPr>
            </a:pPr>
            <a:r>
              <a:rPr sz="1500" b="0" i="0">
                <a:solidFill>
                  <a:srgbClr val="24364B"/>
                </a:solidFill>
              </a:rPr>
              <a:t>Lire le contenu réel, proposer une catégorie, ranger le fichier et mémoriser les validations - sans envoyer les documents vers un service d'IA distant.</a:t>
            </a:r>
          </a:p>
        </p:txBody>
      </p:sp>
      <p:sp>
        <p:nvSpPr>
          <p:cNvPr id="17" name="Connecteur droit 16">
            <a:extLst>
              <a:ext uri="{FF2B5EF4-FFF2-40B4-BE49-F238E27FC236}">
                <a16:creationId xmlns:a16="http://schemas.microsoft.com/office/drawing/2014/main" id="{3E2199D7-71F3-4D1C-9BC8-D58F9E415AFA}"/>
              </a:ext>
            </a:extLst>
          </p:cNvPr>
          <p:cNvSpPr>
            <a:spLocks noGrp="1"/>
          </p:cNvSpPr>
          <p:nvPr/>
        </p:nvSpPr>
        <p:spPr>
          <a:xfrm>
            <a:off x="5810250" y="1952625"/>
            <a:ext cx="0" cy="3000375"/>
          </a:xfrm>
          <a:prstGeom prst="line">
            <a:avLst/>
          </a:prstGeom>
          <a:noFill/>
          <a:ln w="19050">
            <a:solidFill>
              <a:srgbClr val="A9C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71F09E9-C2F8-4BAB-81E9-BC6ACE59D69D}"/>
              </a:ext>
            </a:extLst>
          </p:cNvPr>
          <p:cNvSpPr>
            <a:spLocks noGrp="1"/>
          </p:cNvSpPr>
          <p:nvPr/>
        </p:nvSpPr>
        <p:spPr>
          <a:xfrm>
            <a:off x="1066800" y="409575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5C6B7E"/>
                </a:solidFill>
              </a:defRPr>
            </a:pPr>
            <a:r>
              <a:rPr sz="1200" b="1" i="0">
                <a:solidFill>
                  <a:srgbClr val="5C6B7E"/>
                </a:solidFill>
              </a:rPr>
              <a:t>Avant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51F2A82-4002-4E3F-9C4F-217DB2F9ECCC}"/>
              </a:ext>
            </a:extLst>
          </p:cNvPr>
          <p:cNvSpPr>
            <a:spLocks noGrp="1"/>
          </p:cNvSpPr>
          <p:nvPr/>
        </p:nvSpPr>
        <p:spPr>
          <a:xfrm>
            <a:off x="1066800" y="4410075"/>
            <a:ext cx="314325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364B"/>
                </a:solidFill>
              </a:defRPr>
            </a:pPr>
            <a:r>
              <a:rPr sz="1200" b="0" i="0">
                <a:solidFill>
                  <a:srgbClr val="24364B"/>
                </a:solidFill>
              </a:rPr>
              <a:t>Dépôt/</a:t>
            </a:r>
          </a:p>
          <a:p>
            <a:pPr algn="l">
              <a:defRPr sz="1200" b="0" i="0">
                <a:solidFill>
                  <a:srgbClr val="24364B"/>
                </a:solidFill>
              </a:defRPr>
            </a:pPr>
            <a:r>
              <a:rPr sz="1200" b="0" i="0">
                <a:solidFill>
                  <a:srgbClr val="24364B"/>
                </a:solidFill>
              </a:rPr>
              <a:t>  cours-final.pdf</a:t>
            </a:r>
          </a:p>
          <a:p>
            <a:pPr algn="l">
              <a:defRPr sz="1200" b="0" i="0">
                <a:solidFill>
                  <a:srgbClr val="24364B"/>
                </a:solidFill>
              </a:defRPr>
            </a:pPr>
            <a:r>
              <a:rPr sz="1200" b="0" i="0">
                <a:solidFill>
                  <a:srgbClr val="24364B"/>
                </a:solidFill>
              </a:rPr>
              <a:t>  scan_004.png</a:t>
            </a:r>
          </a:p>
          <a:p>
            <a:pPr algn="l">
              <a:defRPr sz="1200" b="0" i="0">
                <a:solidFill>
                  <a:srgbClr val="24364B"/>
                </a:solidFill>
              </a:defRPr>
            </a:pPr>
            <a:r>
              <a:rPr sz="1200" b="0" i="0">
                <a:solidFill>
                  <a:srgbClr val="24364B"/>
                </a:solidFill>
              </a:rPr>
              <a:t>  tableau.xlsx</a:t>
            </a:r>
          </a:p>
          <a:p>
            <a:pPr algn="l">
              <a:defRPr sz="1200" b="0" i="0">
                <a:solidFill>
                  <a:srgbClr val="24364B"/>
                </a:solidFill>
              </a:defRPr>
            </a:pPr>
            <a:r>
              <a:rPr sz="1200" b="0" i="0">
                <a:solidFill>
                  <a:srgbClr val="24364B"/>
                </a:solidFill>
              </a:rPr>
              <a:t>  devoir.docx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CB5176-F411-4ED6-A1F8-A9BCC1FF026B}"/>
              </a:ext>
            </a:extLst>
          </p:cNvPr>
          <p:cNvSpPr>
            <a:spLocks noGrp="1"/>
          </p:cNvSpPr>
          <p:nvPr/>
        </p:nvSpPr>
        <p:spPr>
          <a:xfrm>
            <a:off x="6286500" y="4095750"/>
            <a:ext cx="857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245EA8"/>
                </a:solidFill>
              </a:defRPr>
            </a:pPr>
            <a:r>
              <a:rPr sz="1200" b="1" i="0">
                <a:solidFill>
                  <a:srgbClr val="245EA8"/>
                </a:solidFill>
              </a:rPr>
              <a:t>Après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44E92C2-52C7-4B4A-B8DC-2640C47BECB6}"/>
              </a:ext>
            </a:extLst>
          </p:cNvPr>
          <p:cNvSpPr>
            <a:spLocks noGrp="1"/>
          </p:cNvSpPr>
          <p:nvPr/>
        </p:nvSpPr>
        <p:spPr>
          <a:xfrm>
            <a:off x="6286500" y="4410075"/>
            <a:ext cx="3429000" cy="1257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0B2A53"/>
                </a:solidFill>
              </a:defRPr>
            </a:pPr>
            <a:r>
              <a:rPr sz="1200" b="0" i="0">
                <a:solidFill>
                  <a:srgbClr val="0B2A53"/>
                </a:solidFill>
              </a:rPr>
              <a:t>Tri/</a:t>
            </a:r>
          </a:p>
          <a:p>
            <a:pPr algn="l">
              <a:defRPr sz="1200" b="0" i="0">
                <a:solidFill>
                  <a:srgbClr val="0B2A53"/>
                </a:solidFill>
              </a:defRPr>
            </a:pPr>
            <a:r>
              <a:rPr sz="1200" b="0" i="0">
                <a:solidFill>
                  <a:srgbClr val="0B2A53"/>
                </a:solidFill>
              </a:rPr>
              <a:t>  Informatique/U5/</a:t>
            </a:r>
          </a:p>
          <a:p>
            <a:pPr algn="l">
              <a:defRPr sz="1200" b="0" i="0">
                <a:solidFill>
                  <a:srgbClr val="0B2A53"/>
                </a:solidFill>
              </a:defRPr>
            </a:pPr>
            <a:r>
              <a:rPr sz="1200" b="0" i="0">
                <a:solidFill>
                  <a:srgbClr val="0B2A53"/>
                </a:solidFill>
              </a:rPr>
              <a:t>  CEJM/2e année/</a:t>
            </a:r>
          </a:p>
          <a:p>
            <a:pPr algn="l">
              <a:defRPr sz="1200" b="0" i="0">
                <a:solidFill>
                  <a:srgbClr val="0B2A53"/>
                </a:solidFill>
              </a:defRPr>
            </a:pPr>
            <a:r>
              <a:rPr sz="1200" b="0" i="0">
                <a:solidFill>
                  <a:srgbClr val="0B2A53"/>
                </a:solidFill>
              </a:rPr>
              <a:t>  Anglais/</a:t>
            </a:r>
          </a:p>
          <a:p>
            <a:pPr algn="l">
              <a:defRPr sz="1200" b="0" i="0">
                <a:solidFill>
                  <a:srgbClr val="0B2A53"/>
                </a:solidFill>
              </a:defRPr>
            </a:pPr>
            <a:r>
              <a:rPr sz="1200" b="0" i="0">
                <a:solidFill>
                  <a:srgbClr val="0B2A53"/>
                </a:solidFill>
              </a:rPr>
              <a:t>  Projet/Projets BTS/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15E087F-16A8-41A7-976B-3EC6161F9060}"/>
              </a:ext>
            </a:extLst>
          </p:cNvPr>
          <p:cNvSpPr>
            <a:spLocks noGrp="1"/>
          </p:cNvSpPr>
          <p:nvPr/>
        </p:nvSpPr>
        <p:spPr>
          <a:xfrm>
            <a:off x="1066800" y="5838825"/>
            <a:ext cx="8953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0B2A53"/>
                </a:solidFill>
              </a:defRPr>
            </a:pPr>
            <a:r>
              <a:rPr sz="1500" b="1" i="0">
                <a:solidFill>
                  <a:srgbClr val="0B2A53"/>
                </a:solidFill>
              </a:rPr>
              <a:t>Le classement devient une chaîne de traitement reproductible, pas une tâche manuelle ponctuelle.</a:t>
            </a:r>
          </a:p>
        </p:txBody>
      </p:sp>
    </p:spTree>
    <p:extLst>
      <p:ext uri="{BB962C8B-B14F-4D97-AF65-F5344CB8AC3E}">
        <p14:creationId xmlns:p14="http://schemas.microsoft.com/office/powerpoint/2010/main" val="20873014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28DDA678-616A-47D5-B9AE-273009FEF2B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AF583C-A7AC-40AB-B43A-21BEBB67534C}"/>
              </a:ext>
            </a:extLst>
          </p:cNvPr>
          <p:cNvSpPr>
            <a:spLocks noGrp="1"/>
          </p:cNvSpPr>
          <p:nvPr/>
        </p:nvSpPr>
        <p:spPr>
          <a:xfrm>
            <a:off x="7429500" y="0"/>
            <a:ext cx="4762500" cy="6858000"/>
          </a:xfrm>
          <a:prstGeom prst="rect">
            <a:avLst/>
          </a:prstGeom>
          <a:solidFill>
            <a:srgbClr val="D9F0FC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Parallélogramme 2">
            <a:extLst>
              <a:ext uri="{FF2B5EF4-FFF2-40B4-BE49-F238E27FC236}">
                <a16:creationId xmlns:a16="http://schemas.microsoft.com/office/drawing/2014/main" id="{5530EDBF-DC33-41CC-95DA-340995F5D9D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" cy="5143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C8C5AFCA-8263-42C7-BAF5-AC57491DF8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3238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28B62543-6404-4D76-AD27-11A4D5DF1D2C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952500" cy="6667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E80570AF-8C6D-422B-B1CC-A965421724BB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819150" cy="4381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D68F6F3B-AAD7-417C-8D3D-C23671128A37}"/>
              </a:ext>
            </a:extLst>
          </p:cNvPr>
          <p:cNvSpPr>
            <a:spLocks noGrp="1"/>
          </p:cNvSpPr>
          <p:nvPr/>
        </p:nvSpPr>
        <p:spPr>
          <a:xfrm>
            <a:off x="9658350" y="28575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D75841-D099-492A-A0C7-0E06590AA393}"/>
              </a:ext>
            </a:extLst>
          </p:cNvPr>
          <p:cNvSpPr>
            <a:spLocks noGrp="1"/>
          </p:cNvSpPr>
          <p:nvPr/>
        </p:nvSpPr>
        <p:spPr>
          <a:xfrm>
            <a:off x="9753600" y="323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PROCESSUS</a:t>
            </a: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0675D13D-B1B7-4C3A-B5AA-3E31D0C7B829}"/>
              </a:ext>
            </a:extLst>
          </p:cNvPr>
          <p:cNvSpPr>
            <a:spLocks noGrp="1"/>
          </p:cNvSpPr>
          <p:nvPr/>
        </p:nvSpPr>
        <p:spPr>
          <a:xfrm>
            <a:off x="838200" y="6400800"/>
            <a:ext cx="10363200" cy="0"/>
          </a:xfrm>
          <a:prstGeom prst="line">
            <a:avLst/>
          </a:prstGeom>
          <a:noFill/>
          <a:ln w="13335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361F63-6087-450D-9495-900FD521FD54}"/>
              </a:ext>
            </a:extLst>
          </p:cNvPr>
          <p:cNvSpPr>
            <a:spLocks noGrp="1"/>
          </p:cNvSpPr>
          <p:nvPr/>
        </p:nvSpPr>
        <p:spPr>
          <a:xfrm>
            <a:off x="11220450" y="619125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03</a:t>
            </a:r>
          </a:p>
        </p:txBody>
      </p:sp>
      <p:sp>
        <p:nvSpPr>
          <p:cNvPr id="11" name="slide-title">
            <a:extLst>
              <a:ext uri="{FF2B5EF4-FFF2-40B4-BE49-F238E27FC236}">
                <a16:creationId xmlns:a16="http://schemas.microsoft.com/office/drawing/2014/main" id="{2AD46BDA-DB35-474C-A869-B6808490134C}"/>
              </a:ext>
            </a:extLst>
          </p:cNvPr>
          <p:cNvSpPr>
            <a:spLocks noGrp="1"/>
          </p:cNvSpPr>
          <p:nvPr/>
        </p:nvSpPr>
        <p:spPr>
          <a:xfrm>
            <a:off x="1066800" y="74295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0B2A53"/>
                </a:solidFill>
              </a:defRPr>
            </a:pPr>
            <a:r>
              <a:rPr sz="2850" b="1" i="0">
                <a:solidFill>
                  <a:srgbClr val="0B2A53"/>
                </a:solidFill>
              </a:rPr>
              <a:t>Une chaîne en 6 étapes, du dépôt au rangement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6CB5969-85DE-45B8-92C1-9195B68F7AC7}"/>
              </a:ext>
            </a:extLst>
          </p:cNvPr>
          <p:cNvSpPr>
            <a:spLocks noGrp="1"/>
          </p:cNvSpPr>
          <p:nvPr/>
        </p:nvSpPr>
        <p:spPr>
          <a:xfrm>
            <a:off x="1066800" y="1304925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C6B7E"/>
                </a:solidFill>
              </a:defRPr>
            </a:pPr>
            <a:r>
              <a:rPr sz="1275" b="0" i="0">
                <a:solidFill>
                  <a:srgbClr val="5C6B7E"/>
                </a:solidFill>
              </a:rPr>
              <a:t>Chaque étape réduit l'incertitude avant le déplacement définitif du fichier.</a:t>
            </a:r>
          </a:p>
        </p:txBody>
      </p:sp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D2FC1B11-790F-47AB-B2AD-A6B7E64FE1E9}"/>
              </a:ext>
            </a:extLst>
          </p:cNvPr>
          <p:cNvSpPr>
            <a:spLocks noGrp="1"/>
          </p:cNvSpPr>
          <p:nvPr/>
        </p:nvSpPr>
        <p:spPr>
          <a:xfrm>
            <a:off x="2038350" y="2667000"/>
            <a:ext cx="571500" cy="266700"/>
          </a:xfrm>
          <a:prstGeom prst="rightArrow">
            <a:avLst/>
          </a:prstGeom>
          <a:solidFill>
            <a:srgbClr val="80BFE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780BD900-158B-441C-9727-5E2BC0965257}"/>
              </a:ext>
            </a:extLst>
          </p:cNvPr>
          <p:cNvSpPr>
            <a:spLocks noGrp="1"/>
          </p:cNvSpPr>
          <p:nvPr/>
        </p:nvSpPr>
        <p:spPr>
          <a:xfrm>
            <a:off x="3848100" y="2667000"/>
            <a:ext cx="571500" cy="266700"/>
          </a:xfrm>
          <a:prstGeom prst="rightArrow">
            <a:avLst/>
          </a:prstGeom>
          <a:solidFill>
            <a:srgbClr val="80BFE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20E1F7F8-59E9-4AC4-ABA5-C552222418F3}"/>
              </a:ext>
            </a:extLst>
          </p:cNvPr>
          <p:cNvSpPr>
            <a:spLocks noGrp="1"/>
          </p:cNvSpPr>
          <p:nvPr/>
        </p:nvSpPr>
        <p:spPr>
          <a:xfrm>
            <a:off x="5657850" y="2667000"/>
            <a:ext cx="571500" cy="266700"/>
          </a:xfrm>
          <a:prstGeom prst="rightArrow">
            <a:avLst/>
          </a:prstGeom>
          <a:solidFill>
            <a:srgbClr val="80BFE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Flèche : droite 15">
            <a:extLst>
              <a:ext uri="{FF2B5EF4-FFF2-40B4-BE49-F238E27FC236}">
                <a16:creationId xmlns:a16="http://schemas.microsoft.com/office/drawing/2014/main" id="{B2522651-70C8-4A07-BCC6-0F2CC852204E}"/>
              </a:ext>
            </a:extLst>
          </p:cNvPr>
          <p:cNvSpPr>
            <a:spLocks noGrp="1"/>
          </p:cNvSpPr>
          <p:nvPr/>
        </p:nvSpPr>
        <p:spPr>
          <a:xfrm>
            <a:off x="7467600" y="2667000"/>
            <a:ext cx="571500" cy="266700"/>
          </a:xfrm>
          <a:prstGeom prst="rightArrow">
            <a:avLst/>
          </a:prstGeom>
          <a:solidFill>
            <a:srgbClr val="80BFE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Flèche : droite 16">
            <a:extLst>
              <a:ext uri="{FF2B5EF4-FFF2-40B4-BE49-F238E27FC236}">
                <a16:creationId xmlns:a16="http://schemas.microsoft.com/office/drawing/2014/main" id="{28A7244B-7C3E-4E72-A47B-DF74C34A6186}"/>
              </a:ext>
            </a:extLst>
          </p:cNvPr>
          <p:cNvSpPr>
            <a:spLocks noGrp="1"/>
          </p:cNvSpPr>
          <p:nvPr/>
        </p:nvSpPr>
        <p:spPr>
          <a:xfrm>
            <a:off x="9277350" y="2667000"/>
            <a:ext cx="571500" cy="266700"/>
          </a:xfrm>
          <a:prstGeom prst="rightArrow">
            <a:avLst/>
          </a:prstGeom>
          <a:solidFill>
            <a:srgbClr val="80BFE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7153352B-1C3D-4CEF-B32B-E4F462D731D2}"/>
              </a:ext>
            </a:extLst>
          </p:cNvPr>
          <p:cNvSpPr>
            <a:spLocks noGrp="1"/>
          </p:cNvSpPr>
          <p:nvPr/>
        </p:nvSpPr>
        <p:spPr>
          <a:xfrm>
            <a:off x="876300" y="2247900"/>
            <a:ext cx="144780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A9CD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6C188207-6ECA-4D3B-9A26-972FDBCA0928}"/>
              </a:ext>
            </a:extLst>
          </p:cNvPr>
          <p:cNvSpPr>
            <a:spLocks noGrp="1"/>
          </p:cNvSpPr>
          <p:nvPr/>
        </p:nvSpPr>
        <p:spPr>
          <a:xfrm>
            <a:off x="1400175" y="2038350"/>
            <a:ext cx="400050" cy="400050"/>
          </a:xfrm>
          <a:prstGeom prst="ellipse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F3F38AF-07A1-4D61-9C2A-BCA19DE96058}"/>
              </a:ext>
            </a:extLst>
          </p:cNvPr>
          <p:cNvSpPr>
            <a:spLocks noGrp="1"/>
          </p:cNvSpPr>
          <p:nvPr/>
        </p:nvSpPr>
        <p:spPr>
          <a:xfrm>
            <a:off x="1400175" y="21145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E4360E5-3B67-4517-85E9-6D3074CCB11C}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Détection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DE1B8F6-D974-40CD-BAD2-84CC8C9B91CE}"/>
              </a:ext>
            </a:extLst>
          </p:cNvPr>
          <p:cNvSpPr>
            <a:spLocks noGrp="1"/>
          </p:cNvSpPr>
          <p:nvPr/>
        </p:nvSpPr>
        <p:spPr>
          <a:xfrm>
            <a:off x="990600" y="2914650"/>
            <a:ext cx="1219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 i="0">
                <a:solidFill>
                  <a:srgbClr val="5C6B7E"/>
                </a:solidFill>
              </a:defRPr>
            </a:pPr>
            <a:r>
              <a:rPr sz="975" b="0" i="0">
                <a:solidFill>
                  <a:srgbClr val="5C6B7E"/>
                </a:solidFill>
              </a:rPr>
              <a:t>watchdog surveille le dossier SOURCE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1D61CE8A-1761-4215-964A-9B979A0313B6}"/>
              </a:ext>
            </a:extLst>
          </p:cNvPr>
          <p:cNvSpPr>
            <a:spLocks noGrp="1"/>
          </p:cNvSpPr>
          <p:nvPr/>
        </p:nvSpPr>
        <p:spPr>
          <a:xfrm>
            <a:off x="2686050" y="2247900"/>
            <a:ext cx="144780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A9CD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6717323C-5E8C-4ABF-AFE7-72C2DC0A157B}"/>
              </a:ext>
            </a:extLst>
          </p:cNvPr>
          <p:cNvSpPr>
            <a:spLocks noGrp="1"/>
          </p:cNvSpPr>
          <p:nvPr/>
        </p:nvSpPr>
        <p:spPr>
          <a:xfrm>
            <a:off x="3209925" y="2038350"/>
            <a:ext cx="400050" cy="400050"/>
          </a:xfrm>
          <a:prstGeom prst="ellipse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D558DC1-277B-418E-B8E0-9313A27C0FE8}"/>
              </a:ext>
            </a:extLst>
          </p:cNvPr>
          <p:cNvSpPr>
            <a:spLocks noGrp="1"/>
          </p:cNvSpPr>
          <p:nvPr/>
        </p:nvSpPr>
        <p:spPr>
          <a:xfrm>
            <a:off x="3209925" y="21145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F5866B3-1265-4A2E-A5DA-13E37A9DCF74}"/>
              </a:ext>
            </a:extLst>
          </p:cNvPr>
          <p:cNvSpPr>
            <a:spLocks noGrp="1"/>
          </p:cNvSpPr>
          <p:nvPr/>
        </p:nvSpPr>
        <p:spPr>
          <a:xfrm>
            <a:off x="2800350" y="257175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Extraction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1AA719-95E2-4A83-AB38-5FFF6EECFD2C}"/>
              </a:ext>
            </a:extLst>
          </p:cNvPr>
          <p:cNvSpPr>
            <a:spLocks noGrp="1"/>
          </p:cNvSpPr>
          <p:nvPr/>
        </p:nvSpPr>
        <p:spPr>
          <a:xfrm>
            <a:off x="2800350" y="2914650"/>
            <a:ext cx="1219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 i="0">
                <a:solidFill>
                  <a:srgbClr val="5C6B7E"/>
                </a:solidFill>
              </a:defRPr>
            </a:pPr>
            <a:r>
              <a:rPr sz="975" b="0" i="0">
                <a:solidFill>
                  <a:srgbClr val="5C6B7E"/>
                </a:solidFill>
              </a:rPr>
              <a:t>Le lecteur dépend du format détecté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28B8060A-2B1A-48A3-B301-26B9B64A5DAA}"/>
              </a:ext>
            </a:extLst>
          </p:cNvPr>
          <p:cNvSpPr>
            <a:spLocks noGrp="1"/>
          </p:cNvSpPr>
          <p:nvPr/>
        </p:nvSpPr>
        <p:spPr>
          <a:xfrm>
            <a:off x="4495800" y="2247900"/>
            <a:ext cx="144780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A9CD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A4BE87B9-9242-47EB-9E22-1AB2FFC557DF}"/>
              </a:ext>
            </a:extLst>
          </p:cNvPr>
          <p:cNvSpPr>
            <a:spLocks noGrp="1"/>
          </p:cNvSpPr>
          <p:nvPr/>
        </p:nvSpPr>
        <p:spPr>
          <a:xfrm>
            <a:off x="5019675" y="2038350"/>
            <a:ext cx="400050" cy="400050"/>
          </a:xfrm>
          <a:prstGeom prst="ellipse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0A4FD6-2233-41BD-8736-997FC5D64D0E}"/>
              </a:ext>
            </a:extLst>
          </p:cNvPr>
          <p:cNvSpPr>
            <a:spLocks noGrp="1"/>
          </p:cNvSpPr>
          <p:nvPr/>
        </p:nvSpPr>
        <p:spPr>
          <a:xfrm>
            <a:off x="5019675" y="21145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AE2E80-99D0-40C0-A809-FCA27B3A80CE}"/>
              </a:ext>
            </a:extLst>
          </p:cNvPr>
          <p:cNvSpPr>
            <a:spLocks noGrp="1"/>
          </p:cNvSpPr>
          <p:nvPr/>
        </p:nvSpPr>
        <p:spPr>
          <a:xfrm>
            <a:off x="4610100" y="257175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Signaux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878549E-1DD4-4D84-917E-AFB351C51CA1}"/>
              </a:ext>
            </a:extLst>
          </p:cNvPr>
          <p:cNvSpPr>
            <a:spLocks noGrp="1"/>
          </p:cNvSpPr>
          <p:nvPr/>
        </p:nvSpPr>
        <p:spPr>
          <a:xfrm>
            <a:off x="4610100" y="2914650"/>
            <a:ext cx="1219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 i="0">
                <a:solidFill>
                  <a:srgbClr val="5C6B7E"/>
                </a:solidFill>
              </a:defRPr>
            </a:pPr>
            <a:r>
              <a:rPr sz="975" b="0" i="0">
                <a:solidFill>
                  <a:srgbClr val="5C6B7E"/>
                </a:solidFill>
              </a:rPr>
              <a:t>Mémoire, règles et langue sont évaluées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FCA6ADD7-5148-4EFA-AFB0-359F8E07A5B8}"/>
              </a:ext>
            </a:extLst>
          </p:cNvPr>
          <p:cNvSpPr>
            <a:spLocks noGrp="1"/>
          </p:cNvSpPr>
          <p:nvPr/>
        </p:nvSpPr>
        <p:spPr>
          <a:xfrm>
            <a:off x="6305550" y="2247900"/>
            <a:ext cx="1447800" cy="1333500"/>
          </a:xfrm>
          <a:prstGeom prst="roundRect">
            <a:avLst>
              <a:gd name="adj" fmla="val 8571"/>
            </a:avLst>
          </a:prstGeom>
          <a:solidFill>
            <a:srgbClr val="DFF4FB"/>
          </a:solidFill>
          <a:ln w="19050">
            <a:solidFill>
              <a:srgbClr val="20A8C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193C6B3F-FB96-4FFA-9576-151F6D86E9E0}"/>
              </a:ext>
            </a:extLst>
          </p:cNvPr>
          <p:cNvSpPr>
            <a:spLocks noGrp="1"/>
          </p:cNvSpPr>
          <p:nvPr/>
        </p:nvSpPr>
        <p:spPr>
          <a:xfrm>
            <a:off x="6829425" y="2038350"/>
            <a:ext cx="400050" cy="400050"/>
          </a:xfrm>
          <a:prstGeom prst="ellipse">
            <a:avLst/>
          </a:prstGeom>
          <a:solidFill>
            <a:srgbClr val="20A8CF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B61A0F-D1F6-42A3-A744-B07A63B02A52}"/>
              </a:ext>
            </a:extLst>
          </p:cNvPr>
          <p:cNvSpPr>
            <a:spLocks noGrp="1"/>
          </p:cNvSpPr>
          <p:nvPr/>
        </p:nvSpPr>
        <p:spPr>
          <a:xfrm>
            <a:off x="6829425" y="21145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97F11A4-0046-487D-B612-F05C039A7F8D}"/>
              </a:ext>
            </a:extLst>
          </p:cNvPr>
          <p:cNvSpPr>
            <a:spLocks noGrp="1"/>
          </p:cNvSpPr>
          <p:nvPr/>
        </p:nvSpPr>
        <p:spPr>
          <a:xfrm>
            <a:off x="6419850" y="257175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IA locale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66C8C1A-A095-430B-B698-53424810C3C7}"/>
              </a:ext>
            </a:extLst>
          </p:cNvPr>
          <p:cNvSpPr>
            <a:spLocks noGrp="1"/>
          </p:cNvSpPr>
          <p:nvPr/>
        </p:nvSpPr>
        <p:spPr>
          <a:xfrm>
            <a:off x="6419850" y="2914650"/>
            <a:ext cx="1219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 i="0">
                <a:solidFill>
                  <a:srgbClr val="5C6B7E"/>
                </a:solidFill>
              </a:defRPr>
            </a:pPr>
            <a:r>
              <a:rPr sz="975" b="0" i="0">
                <a:solidFill>
                  <a:srgbClr val="5C6B7E"/>
                </a:solidFill>
              </a:rPr>
              <a:t>Ollama classe le contenu si nécessaire</a:t>
            </a:r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C4BB4C58-6DCA-47D0-9ACB-02B18161152C}"/>
              </a:ext>
            </a:extLst>
          </p:cNvPr>
          <p:cNvSpPr>
            <a:spLocks noGrp="1"/>
          </p:cNvSpPr>
          <p:nvPr/>
        </p:nvSpPr>
        <p:spPr>
          <a:xfrm>
            <a:off x="8115300" y="2247900"/>
            <a:ext cx="144780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A9CD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8EC9C4C1-9708-4E00-BEC7-38FF2753F32C}"/>
              </a:ext>
            </a:extLst>
          </p:cNvPr>
          <p:cNvSpPr>
            <a:spLocks noGrp="1"/>
          </p:cNvSpPr>
          <p:nvPr/>
        </p:nvSpPr>
        <p:spPr>
          <a:xfrm>
            <a:off x="8639175" y="2038350"/>
            <a:ext cx="400050" cy="400050"/>
          </a:xfrm>
          <a:prstGeom prst="ellipse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BE3FBA8-566A-4DBE-9904-BF1B92ACE90D}"/>
              </a:ext>
            </a:extLst>
          </p:cNvPr>
          <p:cNvSpPr>
            <a:spLocks noGrp="1"/>
          </p:cNvSpPr>
          <p:nvPr/>
        </p:nvSpPr>
        <p:spPr>
          <a:xfrm>
            <a:off x="8639175" y="21145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B24DEAF-BF34-4E01-951B-FD94B8F8F00F}"/>
              </a:ext>
            </a:extLst>
          </p:cNvPr>
          <p:cNvSpPr>
            <a:spLocks noGrp="1"/>
          </p:cNvSpPr>
          <p:nvPr/>
        </p:nvSpPr>
        <p:spPr>
          <a:xfrm>
            <a:off x="8229600" y="257175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Validation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060338B-2C53-4B36-9E19-4CB6AF3F29EE}"/>
              </a:ext>
            </a:extLst>
          </p:cNvPr>
          <p:cNvSpPr>
            <a:spLocks noGrp="1"/>
          </p:cNvSpPr>
          <p:nvPr/>
        </p:nvSpPr>
        <p:spPr>
          <a:xfrm>
            <a:off x="8229600" y="2914650"/>
            <a:ext cx="1219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 i="0">
                <a:solidFill>
                  <a:srgbClr val="5C6B7E"/>
                </a:solidFill>
              </a:defRPr>
            </a:pPr>
            <a:r>
              <a:rPr sz="975" b="0" i="0">
                <a:solidFill>
                  <a:srgbClr val="5C6B7E"/>
                </a:solidFill>
              </a:rPr>
              <a:t>Le mode interactif autorise la correction</a:t>
            </a:r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79DC63CB-4EBA-4A12-A6F4-D3ABBCD6D6A0}"/>
              </a:ext>
            </a:extLst>
          </p:cNvPr>
          <p:cNvSpPr>
            <a:spLocks noGrp="1"/>
          </p:cNvSpPr>
          <p:nvPr/>
        </p:nvSpPr>
        <p:spPr>
          <a:xfrm>
            <a:off x="9925050" y="2247900"/>
            <a:ext cx="1447800" cy="13335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9050">
            <a:solidFill>
              <a:srgbClr val="A9CDE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47CCA36E-0D79-47C7-AD10-EF82B76EB328}"/>
              </a:ext>
            </a:extLst>
          </p:cNvPr>
          <p:cNvSpPr>
            <a:spLocks noGrp="1"/>
          </p:cNvSpPr>
          <p:nvPr/>
        </p:nvSpPr>
        <p:spPr>
          <a:xfrm>
            <a:off x="10448925" y="2038350"/>
            <a:ext cx="400050" cy="400050"/>
          </a:xfrm>
          <a:prstGeom prst="ellipse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F97DA81A-2A64-4EAE-829F-F3FDBD7B6C65}"/>
              </a:ext>
            </a:extLst>
          </p:cNvPr>
          <p:cNvSpPr>
            <a:spLocks noGrp="1"/>
          </p:cNvSpPr>
          <p:nvPr/>
        </p:nvSpPr>
        <p:spPr>
          <a:xfrm>
            <a:off x="10448925" y="2114550"/>
            <a:ext cx="4000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C83F6E9-5F7F-478D-BEAF-3BDEAACD1525}"/>
              </a:ext>
            </a:extLst>
          </p:cNvPr>
          <p:cNvSpPr>
            <a:spLocks noGrp="1"/>
          </p:cNvSpPr>
          <p:nvPr/>
        </p:nvSpPr>
        <p:spPr>
          <a:xfrm>
            <a:off x="10039350" y="2571750"/>
            <a:ext cx="1219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Rangement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7F17DC4-AF09-4407-B167-89DB652030D3}"/>
              </a:ext>
            </a:extLst>
          </p:cNvPr>
          <p:cNvSpPr>
            <a:spLocks noGrp="1"/>
          </p:cNvSpPr>
          <p:nvPr/>
        </p:nvSpPr>
        <p:spPr>
          <a:xfrm>
            <a:off x="10039350" y="2914650"/>
            <a:ext cx="1219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975" b="0" i="0">
                <a:solidFill>
                  <a:srgbClr val="5C6B7E"/>
                </a:solidFill>
              </a:defRPr>
            </a:pPr>
            <a:r>
              <a:rPr sz="975" b="0" i="0">
                <a:solidFill>
                  <a:srgbClr val="5C6B7E"/>
                </a:solidFill>
              </a:rPr>
              <a:t>Le fichier est déplacé et la décision mémorisée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4EC83686-83DA-4D2E-A9B8-9B2C0AA8934C}"/>
              </a:ext>
            </a:extLst>
          </p:cNvPr>
          <p:cNvSpPr>
            <a:spLocks noGrp="1"/>
          </p:cNvSpPr>
          <p:nvPr/>
        </p:nvSpPr>
        <p:spPr>
          <a:xfrm>
            <a:off x="1066800" y="41719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0B2A53"/>
                </a:solidFill>
              </a:defRPr>
            </a:pPr>
            <a:r>
              <a:rPr sz="1650" b="1" i="0">
                <a:solidFill>
                  <a:srgbClr val="0B2A53"/>
                </a:solidFill>
              </a:rPr>
              <a:t>Deux modes d'exécution</a:t>
            </a:r>
          </a:p>
        </p:txBody>
      </p:sp>
      <p:sp>
        <p:nvSpPr>
          <p:cNvPr id="49" name="Rectangle : coins arrondis 48">
            <a:extLst>
              <a:ext uri="{FF2B5EF4-FFF2-40B4-BE49-F238E27FC236}">
                <a16:creationId xmlns:a16="http://schemas.microsoft.com/office/drawing/2014/main" id="{18044D15-4975-4296-A1D0-D6792AE19A17}"/>
              </a:ext>
            </a:extLst>
          </p:cNvPr>
          <p:cNvSpPr>
            <a:spLocks noGrp="1"/>
          </p:cNvSpPr>
          <p:nvPr/>
        </p:nvSpPr>
        <p:spPr>
          <a:xfrm>
            <a:off x="1066800" y="4610100"/>
            <a:ext cx="952500" cy="323850"/>
          </a:xfrm>
          <a:prstGeom prst="roundRect">
            <a:avLst>
              <a:gd name="adj" fmla="val 50000"/>
            </a:avLst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DFC7FC2D-9E12-4E7E-9E34-9022C60ADF5F}"/>
              </a:ext>
            </a:extLst>
          </p:cNvPr>
          <p:cNvSpPr>
            <a:spLocks noGrp="1"/>
          </p:cNvSpPr>
          <p:nvPr/>
        </p:nvSpPr>
        <p:spPr>
          <a:xfrm>
            <a:off x="1066800" y="4667250"/>
            <a:ext cx="95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AUTO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DB9A2F7-4902-40DB-84C6-AC52996A38BD}"/>
              </a:ext>
            </a:extLst>
          </p:cNvPr>
          <p:cNvSpPr>
            <a:spLocks noGrp="1"/>
          </p:cNvSpPr>
          <p:nvPr/>
        </p:nvSpPr>
        <p:spPr>
          <a:xfrm>
            <a:off x="2190750" y="461010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24364B"/>
                </a:solidFill>
              </a:defRPr>
            </a:pPr>
            <a:r>
              <a:rPr sz="1275" b="0" i="0">
                <a:solidFill>
                  <a:srgbClr val="24364B"/>
                </a:solidFill>
              </a:rPr>
              <a:t>Traitement sans intervention, déclenché par le watcher.</a:t>
            </a:r>
          </a:p>
        </p:txBody>
      </p:sp>
      <p:sp>
        <p:nvSpPr>
          <p:cNvPr id="52" name="Rectangle : coins arrondis 51">
            <a:extLst>
              <a:ext uri="{FF2B5EF4-FFF2-40B4-BE49-F238E27FC236}">
                <a16:creationId xmlns:a16="http://schemas.microsoft.com/office/drawing/2014/main" id="{7E5FFEC4-CB2B-4CF2-862F-2B5BA30AEAE9}"/>
              </a:ext>
            </a:extLst>
          </p:cNvPr>
          <p:cNvSpPr>
            <a:spLocks noGrp="1"/>
          </p:cNvSpPr>
          <p:nvPr/>
        </p:nvSpPr>
        <p:spPr>
          <a:xfrm>
            <a:off x="6134100" y="4610100"/>
            <a:ext cx="1257300" cy="323850"/>
          </a:xfrm>
          <a:prstGeom prst="roundRect">
            <a:avLst>
              <a:gd name="adj" fmla="val 50000"/>
            </a:avLst>
          </a:prstGeom>
          <a:solidFill>
            <a:srgbClr val="20A8CF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DF46271-1561-4846-B8C8-97079D43CD1F}"/>
              </a:ext>
            </a:extLst>
          </p:cNvPr>
          <p:cNvSpPr>
            <a:spLocks noGrp="1"/>
          </p:cNvSpPr>
          <p:nvPr/>
        </p:nvSpPr>
        <p:spPr>
          <a:xfrm>
            <a:off x="6191250" y="46672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INTERACTIF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5E1DC57-645B-4DA6-B0C2-E071792C4633}"/>
              </a:ext>
            </a:extLst>
          </p:cNvPr>
          <p:cNvSpPr>
            <a:spLocks noGrp="1"/>
          </p:cNvSpPr>
          <p:nvPr/>
        </p:nvSpPr>
        <p:spPr>
          <a:xfrm>
            <a:off x="7562850" y="4610100"/>
            <a:ext cx="3333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24364B"/>
                </a:solidFill>
              </a:defRPr>
            </a:pPr>
            <a:r>
              <a:rPr sz="1275" b="0" i="0">
                <a:solidFill>
                  <a:srgbClr val="24364B"/>
                </a:solidFill>
              </a:rPr>
              <a:t>Confirmation ou correction avant déplacement du fichier.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41EE51E-0B2B-4BA9-864B-B0D60D0E8BF7}"/>
              </a:ext>
            </a:extLst>
          </p:cNvPr>
          <p:cNvSpPr>
            <a:spLocks noGrp="1"/>
          </p:cNvSpPr>
          <p:nvPr/>
        </p:nvSpPr>
        <p:spPr>
          <a:xfrm>
            <a:off x="1066800" y="5476875"/>
            <a:ext cx="9239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0" i="0">
                <a:solidFill>
                  <a:srgbClr val="5C6B7E"/>
                </a:solidFill>
              </a:defRPr>
            </a:pPr>
            <a:r>
              <a:rPr sz="1350" b="0" i="0">
                <a:solidFill>
                  <a:srgbClr val="5C6B7E"/>
                </a:solidFill>
              </a:rPr>
              <a:t>La logique complète est centralisée dans organize(), appelée directement ou par watcher.py.</a:t>
            </a:r>
          </a:p>
        </p:txBody>
      </p:sp>
    </p:spTree>
    <p:extLst>
      <p:ext uri="{BB962C8B-B14F-4D97-AF65-F5344CB8AC3E}">
        <p14:creationId xmlns:p14="http://schemas.microsoft.com/office/powerpoint/2010/main" val="697351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361D2237-D5F9-40CF-9197-E162764640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79BB57-CFF8-4350-96DA-E56CDB8D2F90}"/>
              </a:ext>
            </a:extLst>
          </p:cNvPr>
          <p:cNvSpPr>
            <a:spLocks noGrp="1"/>
          </p:cNvSpPr>
          <p:nvPr/>
        </p:nvSpPr>
        <p:spPr>
          <a:xfrm>
            <a:off x="7429500" y="0"/>
            <a:ext cx="4762500" cy="6858000"/>
          </a:xfrm>
          <a:prstGeom prst="rect">
            <a:avLst/>
          </a:prstGeom>
          <a:solidFill>
            <a:srgbClr val="D9F0FC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Parallélogramme 2">
            <a:extLst>
              <a:ext uri="{FF2B5EF4-FFF2-40B4-BE49-F238E27FC236}">
                <a16:creationId xmlns:a16="http://schemas.microsoft.com/office/drawing/2014/main" id="{1F5B3AC0-6180-4CDA-BA72-91161AB9ED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" cy="5143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AD8C596F-4866-4803-9F82-4A40833DAB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3238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D5AD21EE-F395-4B7F-9805-90A3F1D580EB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952500" cy="6667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DC59A851-044F-4743-A4D2-0EA3D75DA7FD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819150" cy="4381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1CF0B66-FB13-45E2-9925-8CE13134D8FD}"/>
              </a:ext>
            </a:extLst>
          </p:cNvPr>
          <p:cNvSpPr>
            <a:spLocks noGrp="1"/>
          </p:cNvSpPr>
          <p:nvPr/>
        </p:nvSpPr>
        <p:spPr>
          <a:xfrm>
            <a:off x="9658350" y="28575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B9E042-B692-47E5-85E2-A5F676A6904E}"/>
              </a:ext>
            </a:extLst>
          </p:cNvPr>
          <p:cNvSpPr>
            <a:spLocks noGrp="1"/>
          </p:cNvSpPr>
          <p:nvPr/>
        </p:nvSpPr>
        <p:spPr>
          <a:xfrm>
            <a:off x="9753600" y="323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EXTRACTION</a:t>
            </a: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924CAE35-2429-48DF-83E0-9684D0CC08BB}"/>
              </a:ext>
            </a:extLst>
          </p:cNvPr>
          <p:cNvSpPr>
            <a:spLocks noGrp="1"/>
          </p:cNvSpPr>
          <p:nvPr/>
        </p:nvSpPr>
        <p:spPr>
          <a:xfrm>
            <a:off x="838200" y="6400800"/>
            <a:ext cx="10363200" cy="0"/>
          </a:xfrm>
          <a:prstGeom prst="line">
            <a:avLst/>
          </a:prstGeom>
          <a:noFill/>
          <a:ln w="13335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ABE0037-6121-4EE8-83C9-A5D21E0CDCFD}"/>
              </a:ext>
            </a:extLst>
          </p:cNvPr>
          <p:cNvSpPr>
            <a:spLocks noGrp="1"/>
          </p:cNvSpPr>
          <p:nvPr/>
        </p:nvSpPr>
        <p:spPr>
          <a:xfrm>
            <a:off x="11220450" y="619125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04</a:t>
            </a:r>
          </a:p>
        </p:txBody>
      </p:sp>
      <p:sp>
        <p:nvSpPr>
          <p:cNvPr id="11" name="slide-title">
            <a:extLst>
              <a:ext uri="{FF2B5EF4-FFF2-40B4-BE49-F238E27FC236}">
                <a16:creationId xmlns:a16="http://schemas.microsoft.com/office/drawing/2014/main" id="{2066E611-FCB3-4F53-A58A-2129C5072704}"/>
              </a:ext>
            </a:extLst>
          </p:cNvPr>
          <p:cNvSpPr>
            <a:spLocks noGrp="1"/>
          </p:cNvSpPr>
          <p:nvPr/>
        </p:nvSpPr>
        <p:spPr>
          <a:xfrm>
            <a:off x="1066800" y="74295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0B2A53"/>
                </a:solidFill>
              </a:defRPr>
            </a:pPr>
            <a:r>
              <a:rPr sz="2850" b="1" i="0">
                <a:solidFill>
                  <a:srgbClr val="0B2A53"/>
                </a:solidFill>
              </a:rPr>
              <a:t>Chaque format suit le lecteur le plus adapté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9354DA-2663-46BF-B458-1FBF6FD08F21}"/>
              </a:ext>
            </a:extLst>
          </p:cNvPr>
          <p:cNvSpPr>
            <a:spLocks noGrp="1"/>
          </p:cNvSpPr>
          <p:nvPr/>
        </p:nvSpPr>
        <p:spPr>
          <a:xfrm>
            <a:off x="1066800" y="1304925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C6B7E"/>
                </a:solidFill>
              </a:defRPr>
            </a:pPr>
            <a:r>
              <a:rPr sz="1275" b="0" i="0">
                <a:solidFill>
                  <a:srgbClr val="5C6B7E"/>
                </a:solidFill>
              </a:rPr>
              <a:t>Le système combine extraction native et OCR de secours pour couvrir les supports de cours courants.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7804B09-67AA-4BB1-A362-43D803FCC43F}"/>
              </a:ext>
            </a:extLst>
          </p:cNvPr>
          <p:cNvSpPr>
            <a:spLocks noGrp="1"/>
          </p:cNvSpPr>
          <p:nvPr/>
        </p:nvSpPr>
        <p:spPr>
          <a:xfrm>
            <a:off x="1066800" y="209550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0B2A53"/>
                </a:solidFill>
              </a:defRPr>
            </a:pPr>
            <a:r>
              <a:rPr sz="1725" b="1" i="0">
                <a:solidFill>
                  <a:srgbClr val="0B2A53"/>
                </a:solidFill>
              </a:rPr>
              <a:t>PDF</a:t>
            </a:r>
          </a:p>
        </p:txBody>
      </p:sp>
      <p:sp>
        <p:nvSpPr>
          <p:cNvPr id="14" name="Connecteur droit 13">
            <a:extLst>
              <a:ext uri="{FF2B5EF4-FFF2-40B4-BE49-F238E27FC236}">
                <a16:creationId xmlns:a16="http://schemas.microsoft.com/office/drawing/2014/main" id="{ECD4F241-DE2D-4985-97CA-CAD552F9330F}"/>
              </a:ext>
            </a:extLst>
          </p:cNvPr>
          <p:cNvSpPr>
            <a:spLocks noGrp="1"/>
          </p:cNvSpPr>
          <p:nvPr/>
        </p:nvSpPr>
        <p:spPr>
          <a:xfrm>
            <a:off x="1066800" y="2514600"/>
            <a:ext cx="1962150" cy="0"/>
          </a:xfrm>
          <a:prstGeom prst="line">
            <a:avLst/>
          </a:prstGeom>
          <a:noFill/>
          <a:ln w="38100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4C9C4A-76E3-43C1-9D55-96873D4A4C0E}"/>
              </a:ext>
            </a:extLst>
          </p:cNvPr>
          <p:cNvSpPr>
            <a:spLocks noGrp="1"/>
          </p:cNvSpPr>
          <p:nvPr/>
        </p:nvSpPr>
        <p:spPr>
          <a:xfrm>
            <a:off x="1066800" y="2714625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245EA8"/>
                </a:solidFill>
              </a:defRPr>
            </a:pPr>
            <a:r>
              <a:rPr sz="1275" b="1" i="0">
                <a:solidFill>
                  <a:srgbClr val="245EA8"/>
                </a:solidFill>
              </a:rPr>
              <a:t>.pdf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5D1C34-E241-4524-BB39-4FF94A5D1F22}"/>
              </a:ext>
            </a:extLst>
          </p:cNvPr>
          <p:cNvSpPr>
            <a:spLocks noGrp="1"/>
          </p:cNvSpPr>
          <p:nvPr/>
        </p:nvSpPr>
        <p:spPr>
          <a:xfrm>
            <a:off x="1066800" y="328612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24364B"/>
                </a:solidFill>
              </a:defRPr>
            </a:pPr>
            <a:r>
              <a:rPr sz="1200" b="1" i="0">
                <a:solidFill>
                  <a:srgbClr val="24364B"/>
                </a:solidFill>
              </a:rPr>
              <a:t>pdfplumber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856F70A-2557-4EC4-B2A2-47D7C3C9145C}"/>
              </a:ext>
            </a:extLst>
          </p:cNvPr>
          <p:cNvSpPr>
            <a:spLocks noGrp="1"/>
          </p:cNvSpPr>
          <p:nvPr/>
        </p:nvSpPr>
        <p:spPr>
          <a:xfrm>
            <a:off x="1066800" y="3714750"/>
            <a:ext cx="2095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5C6B7E"/>
                </a:solidFill>
              </a:defRPr>
            </a:pPr>
            <a:r>
              <a:rPr sz="1200" b="0" i="0">
                <a:solidFill>
                  <a:srgbClr val="5C6B7E"/>
                </a:solidFill>
              </a:rPr>
              <a:t>OCR si aucun texte détecté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A5DEFD-076D-4EB1-840B-156063DD700B}"/>
              </a:ext>
            </a:extLst>
          </p:cNvPr>
          <p:cNvSpPr>
            <a:spLocks noGrp="1"/>
          </p:cNvSpPr>
          <p:nvPr/>
        </p:nvSpPr>
        <p:spPr>
          <a:xfrm>
            <a:off x="3733800" y="209550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0B2A53"/>
                </a:solidFill>
              </a:defRPr>
            </a:pPr>
            <a:r>
              <a:rPr sz="1725" b="1" i="0">
                <a:solidFill>
                  <a:srgbClr val="0B2A53"/>
                </a:solidFill>
              </a:rPr>
              <a:t>Bureautique</a:t>
            </a:r>
          </a:p>
        </p:txBody>
      </p:sp>
      <p:sp>
        <p:nvSpPr>
          <p:cNvPr id="19" name="Connecteur droit 18">
            <a:extLst>
              <a:ext uri="{FF2B5EF4-FFF2-40B4-BE49-F238E27FC236}">
                <a16:creationId xmlns:a16="http://schemas.microsoft.com/office/drawing/2014/main" id="{B90DA91C-5F11-46B8-8FD5-F91361E90C73}"/>
              </a:ext>
            </a:extLst>
          </p:cNvPr>
          <p:cNvSpPr>
            <a:spLocks noGrp="1"/>
          </p:cNvSpPr>
          <p:nvPr/>
        </p:nvSpPr>
        <p:spPr>
          <a:xfrm>
            <a:off x="3733800" y="2514600"/>
            <a:ext cx="1962150" cy="0"/>
          </a:xfrm>
          <a:prstGeom prst="line">
            <a:avLst/>
          </a:prstGeom>
          <a:noFill/>
          <a:ln w="38100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1B14231-9E90-4307-828E-55C88545EDCB}"/>
              </a:ext>
            </a:extLst>
          </p:cNvPr>
          <p:cNvSpPr>
            <a:spLocks noGrp="1"/>
          </p:cNvSpPr>
          <p:nvPr/>
        </p:nvSpPr>
        <p:spPr>
          <a:xfrm>
            <a:off x="3733800" y="2714625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245EA8"/>
                </a:solidFill>
              </a:defRPr>
            </a:pPr>
            <a:r>
              <a:rPr sz="1275" b="1" i="0" dirty="0">
                <a:solidFill>
                  <a:srgbClr val="245EA8"/>
                </a:solidFill>
              </a:rPr>
              <a:t>.docx / .xlsx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745241-3A5E-43A4-98D3-19949B7C9F41}"/>
              </a:ext>
            </a:extLst>
          </p:cNvPr>
          <p:cNvSpPr>
            <a:spLocks noGrp="1"/>
          </p:cNvSpPr>
          <p:nvPr/>
        </p:nvSpPr>
        <p:spPr>
          <a:xfrm>
            <a:off x="3733800" y="328612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24364B"/>
                </a:solidFill>
              </a:defRPr>
            </a:pPr>
            <a:r>
              <a:rPr sz="1200" b="1" i="0" dirty="0">
                <a:solidFill>
                  <a:srgbClr val="24364B"/>
                </a:solidFill>
              </a:rPr>
              <a:t>python-docx / </a:t>
            </a:r>
            <a:r>
              <a:rPr sz="1200" b="1" i="0" dirty="0" err="1">
                <a:solidFill>
                  <a:srgbClr val="24364B"/>
                </a:solidFill>
              </a:rPr>
              <a:t>openpyxl</a:t>
            </a:r>
            <a:endParaRPr sz="1200" b="1" i="0" dirty="0">
              <a:solidFill>
                <a:srgbClr val="24364B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9C55E7-ADFE-4103-97C0-D3168E658365}"/>
              </a:ext>
            </a:extLst>
          </p:cNvPr>
          <p:cNvSpPr>
            <a:spLocks noGrp="1"/>
          </p:cNvSpPr>
          <p:nvPr/>
        </p:nvSpPr>
        <p:spPr>
          <a:xfrm>
            <a:off x="3733800" y="3714750"/>
            <a:ext cx="2095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5C6B7E"/>
                </a:solidFill>
              </a:defRPr>
            </a:pPr>
            <a:r>
              <a:rPr sz="1200" b="0" i="0" dirty="0">
                <a:solidFill>
                  <a:srgbClr val="5C6B7E"/>
                </a:solidFill>
              </a:rPr>
              <a:t>Lecture </a:t>
            </a:r>
            <a:r>
              <a:rPr sz="1200" b="0" i="0" dirty="0" err="1">
                <a:solidFill>
                  <a:srgbClr val="5C6B7E"/>
                </a:solidFill>
              </a:rPr>
              <a:t>paragraphes</a:t>
            </a:r>
            <a:r>
              <a:rPr sz="1200" b="0" i="0" dirty="0">
                <a:solidFill>
                  <a:srgbClr val="5C6B7E"/>
                </a:solidFill>
              </a:rPr>
              <a:t> et cellules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0637A32-F1BD-4997-B285-C708EB2F4DCA}"/>
              </a:ext>
            </a:extLst>
          </p:cNvPr>
          <p:cNvSpPr>
            <a:spLocks noGrp="1"/>
          </p:cNvSpPr>
          <p:nvPr/>
        </p:nvSpPr>
        <p:spPr>
          <a:xfrm>
            <a:off x="6400800" y="209550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0B2A53"/>
                </a:solidFill>
              </a:defRPr>
            </a:pPr>
            <a:r>
              <a:rPr sz="1725" b="1" i="0">
                <a:solidFill>
                  <a:srgbClr val="0B2A53"/>
                </a:solidFill>
              </a:rPr>
              <a:t>Ouvert &amp; texte</a:t>
            </a:r>
          </a:p>
        </p:txBody>
      </p:sp>
      <p:sp>
        <p:nvSpPr>
          <p:cNvPr id="24" name="Connecteur droit 23">
            <a:extLst>
              <a:ext uri="{FF2B5EF4-FFF2-40B4-BE49-F238E27FC236}">
                <a16:creationId xmlns:a16="http://schemas.microsoft.com/office/drawing/2014/main" id="{4C649912-8A75-4759-880D-3D82B3B409C9}"/>
              </a:ext>
            </a:extLst>
          </p:cNvPr>
          <p:cNvSpPr>
            <a:spLocks noGrp="1"/>
          </p:cNvSpPr>
          <p:nvPr/>
        </p:nvSpPr>
        <p:spPr>
          <a:xfrm>
            <a:off x="6400800" y="2514600"/>
            <a:ext cx="1962150" cy="0"/>
          </a:xfrm>
          <a:prstGeom prst="line">
            <a:avLst/>
          </a:prstGeom>
          <a:noFill/>
          <a:ln w="38100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ABBFFC8-E593-44DD-8C3C-0414DE51A16C}"/>
              </a:ext>
            </a:extLst>
          </p:cNvPr>
          <p:cNvSpPr>
            <a:spLocks noGrp="1"/>
          </p:cNvSpPr>
          <p:nvPr/>
        </p:nvSpPr>
        <p:spPr>
          <a:xfrm>
            <a:off x="6400800" y="2714625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245EA8"/>
                </a:solidFill>
              </a:defRPr>
            </a:pPr>
            <a:r>
              <a:rPr sz="1275" b="1" i="0">
                <a:solidFill>
                  <a:srgbClr val="245EA8"/>
                </a:solidFill>
              </a:rPr>
              <a:t>.odt / .txt / .md / .csv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6C6AA8-30FF-422E-B339-AAA237626D93}"/>
              </a:ext>
            </a:extLst>
          </p:cNvPr>
          <p:cNvSpPr>
            <a:spLocks noGrp="1"/>
          </p:cNvSpPr>
          <p:nvPr/>
        </p:nvSpPr>
        <p:spPr>
          <a:xfrm>
            <a:off x="6400800" y="328612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24364B"/>
                </a:solidFill>
              </a:defRPr>
            </a:pPr>
            <a:r>
              <a:rPr sz="1200" b="1" i="0">
                <a:solidFill>
                  <a:srgbClr val="24364B"/>
                </a:solidFill>
              </a:rPr>
              <a:t>odfpy / lecture UTF-8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EE451C-CA13-4B4D-820D-E2EFF8D86132}"/>
              </a:ext>
            </a:extLst>
          </p:cNvPr>
          <p:cNvSpPr>
            <a:spLocks noGrp="1"/>
          </p:cNvSpPr>
          <p:nvPr/>
        </p:nvSpPr>
        <p:spPr>
          <a:xfrm>
            <a:off x="6400800" y="3714750"/>
            <a:ext cx="2095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5C6B7E"/>
                </a:solidFill>
              </a:defRPr>
            </a:pPr>
            <a:r>
              <a:rPr sz="1200" b="0" i="0">
                <a:solidFill>
                  <a:srgbClr val="5C6B7E"/>
                </a:solidFill>
              </a:rPr>
              <a:t>Extraction directe du contenu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A400727-038B-42BC-BF8A-2F80969B136F}"/>
              </a:ext>
            </a:extLst>
          </p:cNvPr>
          <p:cNvSpPr>
            <a:spLocks noGrp="1"/>
          </p:cNvSpPr>
          <p:nvPr/>
        </p:nvSpPr>
        <p:spPr>
          <a:xfrm>
            <a:off x="9067800" y="2095500"/>
            <a:ext cx="2190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725" b="1" i="0">
                <a:solidFill>
                  <a:srgbClr val="0B2A53"/>
                </a:solidFill>
              </a:defRPr>
            </a:pPr>
            <a:r>
              <a:rPr sz="1725" b="1" i="0">
                <a:solidFill>
                  <a:srgbClr val="0B2A53"/>
                </a:solidFill>
              </a:rPr>
              <a:t>Images</a:t>
            </a:r>
          </a:p>
        </p:txBody>
      </p:sp>
      <p:sp>
        <p:nvSpPr>
          <p:cNvPr id="29" name="Connecteur droit 28">
            <a:extLst>
              <a:ext uri="{FF2B5EF4-FFF2-40B4-BE49-F238E27FC236}">
                <a16:creationId xmlns:a16="http://schemas.microsoft.com/office/drawing/2014/main" id="{C5836B49-BE1C-486C-83F8-F380448FEF67}"/>
              </a:ext>
            </a:extLst>
          </p:cNvPr>
          <p:cNvSpPr>
            <a:spLocks noGrp="1"/>
          </p:cNvSpPr>
          <p:nvPr/>
        </p:nvSpPr>
        <p:spPr>
          <a:xfrm>
            <a:off x="9067800" y="2514600"/>
            <a:ext cx="1962150" cy="0"/>
          </a:xfrm>
          <a:prstGeom prst="line">
            <a:avLst/>
          </a:prstGeom>
          <a:noFill/>
          <a:ln w="38100">
            <a:solidFill>
              <a:srgbClr val="20A8C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54A2BD0-128F-4A2D-98B5-7659D119684A}"/>
              </a:ext>
            </a:extLst>
          </p:cNvPr>
          <p:cNvSpPr>
            <a:spLocks noGrp="1"/>
          </p:cNvSpPr>
          <p:nvPr/>
        </p:nvSpPr>
        <p:spPr>
          <a:xfrm>
            <a:off x="9067800" y="2714625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245EA8"/>
                </a:solidFill>
              </a:defRPr>
            </a:pPr>
            <a:r>
              <a:rPr sz="1275" b="1" i="0">
                <a:solidFill>
                  <a:srgbClr val="245EA8"/>
                </a:solidFill>
              </a:rPr>
              <a:t>.png / .jpg / .jpeg / .bmp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2F4BFD-ABFA-43A0-92E8-49B6B430082C}"/>
              </a:ext>
            </a:extLst>
          </p:cNvPr>
          <p:cNvSpPr>
            <a:spLocks noGrp="1"/>
          </p:cNvSpPr>
          <p:nvPr/>
        </p:nvSpPr>
        <p:spPr>
          <a:xfrm>
            <a:off x="9067800" y="328612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24364B"/>
                </a:solidFill>
              </a:defRPr>
            </a:pPr>
            <a:r>
              <a:rPr sz="1200" b="1" i="0">
                <a:solidFill>
                  <a:srgbClr val="24364B"/>
                </a:solidFill>
              </a:rPr>
              <a:t>Tesseract OCR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C35867C-E7D3-4B0F-BB0B-A5AACCA7FE18}"/>
              </a:ext>
            </a:extLst>
          </p:cNvPr>
          <p:cNvSpPr>
            <a:spLocks noGrp="1"/>
          </p:cNvSpPr>
          <p:nvPr/>
        </p:nvSpPr>
        <p:spPr>
          <a:xfrm>
            <a:off x="9067800" y="3714750"/>
            <a:ext cx="20955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5C6B7E"/>
                </a:solidFill>
              </a:defRPr>
            </a:pPr>
            <a:r>
              <a:rPr sz="1200" b="0" i="0">
                <a:solidFill>
                  <a:srgbClr val="5C6B7E"/>
                </a:solidFill>
              </a:rPr>
              <a:t>Reconnaissance du texte scanné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F2295BE1-8B2B-4989-A64D-1683FFEDF5A3}"/>
              </a:ext>
            </a:extLst>
          </p:cNvPr>
          <p:cNvSpPr>
            <a:spLocks noGrp="1"/>
          </p:cNvSpPr>
          <p:nvPr/>
        </p:nvSpPr>
        <p:spPr>
          <a:xfrm>
            <a:off x="1066800" y="4953000"/>
            <a:ext cx="9906000" cy="800100"/>
          </a:xfrm>
          <a:prstGeom prst="roundRect">
            <a:avLst>
              <a:gd name="adj" fmla="val 14286"/>
            </a:avLst>
          </a:prstGeom>
          <a:solidFill>
            <a:srgbClr val="E3F4FC"/>
          </a:solidFill>
          <a:ln w="9525">
            <a:solidFill>
              <a:srgbClr val="A9C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E5D8071-C156-4F5B-8F84-88E6CE2CB1AA}"/>
              </a:ext>
            </a:extLst>
          </p:cNvPr>
          <p:cNvSpPr>
            <a:spLocks noGrp="1"/>
          </p:cNvSpPr>
          <p:nvPr/>
        </p:nvSpPr>
        <p:spPr>
          <a:xfrm>
            <a:off x="1314450" y="5124450"/>
            <a:ext cx="2667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0B2A53"/>
                </a:solidFill>
              </a:defRPr>
            </a:pPr>
            <a:r>
              <a:rPr sz="1275" b="1" i="0">
                <a:solidFill>
                  <a:srgbClr val="0B2A53"/>
                </a:solidFill>
              </a:rPr>
              <a:t>Garde-fous de performance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D96D778-CBB1-4F7D-A4EE-C56C6ED44129}"/>
              </a:ext>
            </a:extLst>
          </p:cNvPr>
          <p:cNvSpPr>
            <a:spLocks noGrp="1"/>
          </p:cNvSpPr>
          <p:nvPr/>
        </p:nvSpPr>
        <p:spPr>
          <a:xfrm>
            <a:off x="4000500" y="5124450"/>
            <a:ext cx="6572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24364B"/>
                </a:solidFill>
              </a:defRPr>
            </a:pPr>
            <a:r>
              <a:rPr sz="1275" b="0" i="0">
                <a:solidFill>
                  <a:srgbClr val="24364B"/>
                </a:solidFill>
              </a:rPr>
              <a:t>Les PDF sont limités aux 2 premières pages et le texte transmis au classifieur est plafonné à 1 500 caractères.</a:t>
            </a:r>
          </a:p>
        </p:txBody>
      </p:sp>
    </p:spTree>
    <p:extLst>
      <p:ext uri="{BB962C8B-B14F-4D97-AF65-F5344CB8AC3E}">
        <p14:creationId xmlns:p14="http://schemas.microsoft.com/office/powerpoint/2010/main" val="14377925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F2F53A64-56B5-4E7F-8867-D75206FED6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466D1C-4533-4D11-AC90-402BA12EC18F}"/>
              </a:ext>
            </a:extLst>
          </p:cNvPr>
          <p:cNvSpPr>
            <a:spLocks noGrp="1"/>
          </p:cNvSpPr>
          <p:nvPr/>
        </p:nvSpPr>
        <p:spPr>
          <a:xfrm>
            <a:off x="7429500" y="0"/>
            <a:ext cx="4762500" cy="6858000"/>
          </a:xfrm>
          <a:prstGeom prst="rect">
            <a:avLst/>
          </a:prstGeom>
          <a:solidFill>
            <a:srgbClr val="D9F0FC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Parallélogramme 2">
            <a:extLst>
              <a:ext uri="{FF2B5EF4-FFF2-40B4-BE49-F238E27FC236}">
                <a16:creationId xmlns:a16="http://schemas.microsoft.com/office/drawing/2014/main" id="{9E35F095-7D6F-4ECC-98B1-3B143EF3AF2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" cy="5143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166FABE1-261C-490B-BFB4-C4574EDF29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3238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A6020F83-3304-42BF-81BD-B3ABDA308519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952500" cy="6667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25480F24-037C-47AE-84DC-FE9526F02530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819150" cy="4381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C44BC6D3-9261-4D9B-84C7-4D8E1EFE3824}"/>
              </a:ext>
            </a:extLst>
          </p:cNvPr>
          <p:cNvSpPr>
            <a:spLocks noGrp="1"/>
          </p:cNvSpPr>
          <p:nvPr/>
        </p:nvSpPr>
        <p:spPr>
          <a:xfrm>
            <a:off x="9658350" y="28575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16F127-0862-4849-A359-6DB54F99975E}"/>
              </a:ext>
            </a:extLst>
          </p:cNvPr>
          <p:cNvSpPr>
            <a:spLocks noGrp="1"/>
          </p:cNvSpPr>
          <p:nvPr/>
        </p:nvSpPr>
        <p:spPr>
          <a:xfrm>
            <a:off x="9753600" y="323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CLASSEMENT</a:t>
            </a: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A4C52416-69B5-4F9E-AA17-10B88F8F3687}"/>
              </a:ext>
            </a:extLst>
          </p:cNvPr>
          <p:cNvSpPr>
            <a:spLocks noGrp="1"/>
          </p:cNvSpPr>
          <p:nvPr/>
        </p:nvSpPr>
        <p:spPr>
          <a:xfrm>
            <a:off x="838200" y="6400800"/>
            <a:ext cx="10363200" cy="0"/>
          </a:xfrm>
          <a:prstGeom prst="line">
            <a:avLst/>
          </a:prstGeom>
          <a:noFill/>
          <a:ln w="13335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4E41D2-C2C3-4F69-BB55-AB29E416F0F5}"/>
              </a:ext>
            </a:extLst>
          </p:cNvPr>
          <p:cNvSpPr>
            <a:spLocks noGrp="1"/>
          </p:cNvSpPr>
          <p:nvPr/>
        </p:nvSpPr>
        <p:spPr>
          <a:xfrm>
            <a:off x="11220450" y="619125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05</a:t>
            </a:r>
          </a:p>
        </p:txBody>
      </p:sp>
      <p:sp>
        <p:nvSpPr>
          <p:cNvPr id="11" name="slide-title">
            <a:extLst>
              <a:ext uri="{FF2B5EF4-FFF2-40B4-BE49-F238E27FC236}">
                <a16:creationId xmlns:a16="http://schemas.microsoft.com/office/drawing/2014/main" id="{533B8A40-D310-4D95-84B2-904D38E3DB95}"/>
              </a:ext>
            </a:extLst>
          </p:cNvPr>
          <p:cNvSpPr>
            <a:spLocks noGrp="1"/>
          </p:cNvSpPr>
          <p:nvPr/>
        </p:nvSpPr>
        <p:spPr>
          <a:xfrm>
            <a:off x="1066800" y="74295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0B2A53"/>
                </a:solidFill>
              </a:defRPr>
            </a:pPr>
            <a:r>
              <a:rPr sz="2850" b="1" i="0">
                <a:solidFill>
                  <a:srgbClr val="0B2A53"/>
                </a:solidFill>
              </a:rPr>
              <a:t>La classification privilégie les signaux les plus explicables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1258B2-E088-43CB-A87D-342770FDA9A2}"/>
              </a:ext>
            </a:extLst>
          </p:cNvPr>
          <p:cNvSpPr>
            <a:spLocks noGrp="1"/>
          </p:cNvSpPr>
          <p:nvPr/>
        </p:nvSpPr>
        <p:spPr>
          <a:xfrm>
            <a:off x="1066800" y="1304925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C6B7E"/>
                </a:solidFill>
              </a:defRPr>
            </a:pPr>
            <a:r>
              <a:rPr sz="1275" b="0" i="0">
                <a:solidFill>
                  <a:srgbClr val="5C6B7E"/>
                </a:solidFill>
              </a:rPr>
              <a:t>L'IA locale intervient après les informations déjà disponibles dans le projet.</a:t>
            </a:r>
          </a:p>
        </p:txBody>
      </p:sp>
      <p:sp>
        <p:nvSpPr>
          <p:cNvPr id="13" name="Flèche : bas 12">
            <a:extLst>
              <a:ext uri="{FF2B5EF4-FFF2-40B4-BE49-F238E27FC236}">
                <a16:creationId xmlns:a16="http://schemas.microsoft.com/office/drawing/2014/main" id="{848BA19B-52DB-400E-945B-616AADA933EC}"/>
              </a:ext>
            </a:extLst>
          </p:cNvPr>
          <p:cNvSpPr>
            <a:spLocks noGrp="1"/>
          </p:cNvSpPr>
          <p:nvPr/>
        </p:nvSpPr>
        <p:spPr>
          <a:xfrm>
            <a:off x="2381250" y="2476500"/>
            <a:ext cx="323850" cy="323850"/>
          </a:xfrm>
          <a:prstGeom prst="downArrow">
            <a:avLst/>
          </a:prstGeom>
          <a:solidFill>
            <a:srgbClr val="79B9DD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Flèche : bas 13">
            <a:extLst>
              <a:ext uri="{FF2B5EF4-FFF2-40B4-BE49-F238E27FC236}">
                <a16:creationId xmlns:a16="http://schemas.microsoft.com/office/drawing/2014/main" id="{ADD96B17-D6C3-44D7-96FB-54F24D66D40D}"/>
              </a:ext>
            </a:extLst>
          </p:cNvPr>
          <p:cNvSpPr>
            <a:spLocks noGrp="1"/>
          </p:cNvSpPr>
          <p:nvPr/>
        </p:nvSpPr>
        <p:spPr>
          <a:xfrm>
            <a:off x="2381250" y="3238500"/>
            <a:ext cx="323850" cy="323850"/>
          </a:xfrm>
          <a:prstGeom prst="downArrow">
            <a:avLst/>
          </a:prstGeom>
          <a:solidFill>
            <a:srgbClr val="79B9DD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Flèche : bas 14">
            <a:extLst>
              <a:ext uri="{FF2B5EF4-FFF2-40B4-BE49-F238E27FC236}">
                <a16:creationId xmlns:a16="http://schemas.microsoft.com/office/drawing/2014/main" id="{B5AA580C-3BAB-4494-9AE8-38D6408747BE}"/>
              </a:ext>
            </a:extLst>
          </p:cNvPr>
          <p:cNvSpPr>
            <a:spLocks noGrp="1"/>
          </p:cNvSpPr>
          <p:nvPr/>
        </p:nvSpPr>
        <p:spPr>
          <a:xfrm>
            <a:off x="2381250" y="4000500"/>
            <a:ext cx="323850" cy="323850"/>
          </a:xfrm>
          <a:prstGeom prst="downArrow">
            <a:avLst/>
          </a:prstGeom>
          <a:solidFill>
            <a:srgbClr val="79B9DD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Flèche : bas 15">
            <a:extLst>
              <a:ext uri="{FF2B5EF4-FFF2-40B4-BE49-F238E27FC236}">
                <a16:creationId xmlns:a16="http://schemas.microsoft.com/office/drawing/2014/main" id="{033CDC6C-3C83-4D7F-A8C2-E75A4E6DE977}"/>
              </a:ext>
            </a:extLst>
          </p:cNvPr>
          <p:cNvSpPr>
            <a:spLocks noGrp="1"/>
          </p:cNvSpPr>
          <p:nvPr/>
        </p:nvSpPr>
        <p:spPr>
          <a:xfrm>
            <a:off x="2381250" y="4762500"/>
            <a:ext cx="323850" cy="323850"/>
          </a:xfrm>
          <a:prstGeom prst="downArrow">
            <a:avLst/>
          </a:prstGeom>
          <a:solidFill>
            <a:srgbClr val="79B9DD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3EBA1179-B672-4A57-9821-25C66C5370BC}"/>
              </a:ext>
            </a:extLst>
          </p:cNvPr>
          <p:cNvSpPr>
            <a:spLocks noGrp="1"/>
          </p:cNvSpPr>
          <p:nvPr/>
        </p:nvSpPr>
        <p:spPr>
          <a:xfrm>
            <a:off x="1066800" y="2000250"/>
            <a:ext cx="409575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86932A0B-DFC1-4169-A2F0-ED126DCFA9B5}"/>
              </a:ext>
            </a:extLst>
          </p:cNvPr>
          <p:cNvSpPr>
            <a:spLocks noGrp="1"/>
          </p:cNvSpPr>
          <p:nvPr/>
        </p:nvSpPr>
        <p:spPr>
          <a:xfrm>
            <a:off x="1238250" y="2095500"/>
            <a:ext cx="381000" cy="381000"/>
          </a:xfrm>
          <a:prstGeom prst="ellipse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F081F6-9585-46C4-A8DB-4CF8F1E7DE85}"/>
              </a:ext>
            </a:extLst>
          </p:cNvPr>
          <p:cNvSpPr>
            <a:spLocks noGrp="1"/>
          </p:cNvSpPr>
          <p:nvPr/>
        </p:nvSpPr>
        <p:spPr>
          <a:xfrm>
            <a:off x="1238250" y="21717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53DFB31-55BF-4A3E-8596-F374582CB967}"/>
              </a:ext>
            </a:extLst>
          </p:cNvPr>
          <p:cNvSpPr>
            <a:spLocks noGrp="1"/>
          </p:cNvSpPr>
          <p:nvPr/>
        </p:nvSpPr>
        <p:spPr>
          <a:xfrm>
            <a:off x="1771650" y="20764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Mémoire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A424D28-6DB2-479A-B975-AAD3BB83C5B7}"/>
              </a:ext>
            </a:extLst>
          </p:cNvPr>
          <p:cNvSpPr>
            <a:spLocks noGrp="1"/>
          </p:cNvSpPr>
          <p:nvPr/>
        </p:nvSpPr>
        <p:spPr>
          <a:xfrm>
            <a:off x="1771650" y="230505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 i="0">
                <a:solidFill>
                  <a:srgbClr val="5C6B7E"/>
                </a:solidFill>
              </a:defRPr>
            </a:pPr>
            <a:r>
              <a:rPr sz="975" b="0" i="0">
                <a:solidFill>
                  <a:srgbClr val="5C6B7E"/>
                </a:solidFill>
              </a:rPr>
              <a:t>Recherche de mots-clés issus des décisions précédentes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994CB48E-C11D-4CCB-9567-934629E53F73}"/>
              </a:ext>
            </a:extLst>
          </p:cNvPr>
          <p:cNvSpPr>
            <a:spLocks noGrp="1"/>
          </p:cNvSpPr>
          <p:nvPr/>
        </p:nvSpPr>
        <p:spPr>
          <a:xfrm>
            <a:off x="1066800" y="2762250"/>
            <a:ext cx="409575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499F6555-D9B2-43DD-BBC1-86CE1ACF06F1}"/>
              </a:ext>
            </a:extLst>
          </p:cNvPr>
          <p:cNvSpPr>
            <a:spLocks noGrp="1"/>
          </p:cNvSpPr>
          <p:nvPr/>
        </p:nvSpPr>
        <p:spPr>
          <a:xfrm>
            <a:off x="1238250" y="2857500"/>
            <a:ext cx="381000" cy="381000"/>
          </a:xfrm>
          <a:prstGeom prst="ellipse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E5F9E0-79FC-4A19-9D3B-AE2BB1807145}"/>
              </a:ext>
            </a:extLst>
          </p:cNvPr>
          <p:cNvSpPr>
            <a:spLocks noGrp="1"/>
          </p:cNvSpPr>
          <p:nvPr/>
        </p:nvSpPr>
        <p:spPr>
          <a:xfrm>
            <a:off x="1238250" y="29337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BA21160-1D55-4FB8-909B-CCD6809F988F}"/>
              </a:ext>
            </a:extLst>
          </p:cNvPr>
          <p:cNvSpPr>
            <a:spLocks noGrp="1"/>
          </p:cNvSpPr>
          <p:nvPr/>
        </p:nvSpPr>
        <p:spPr>
          <a:xfrm>
            <a:off x="1771650" y="28384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Règles de nommage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162EB3A-CBAB-424A-BD11-B7BBC73B7769}"/>
              </a:ext>
            </a:extLst>
          </p:cNvPr>
          <p:cNvSpPr>
            <a:spLocks noGrp="1"/>
          </p:cNvSpPr>
          <p:nvPr/>
        </p:nvSpPr>
        <p:spPr>
          <a:xfrm>
            <a:off x="1771650" y="306705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 i="0">
                <a:solidFill>
                  <a:srgbClr val="5C6B7E"/>
                </a:solidFill>
              </a:defRPr>
            </a:pPr>
            <a:r>
              <a:rPr sz="975" b="0" i="0">
                <a:solidFill>
                  <a:srgbClr val="5C6B7E"/>
                </a:solidFill>
              </a:rPr>
              <a:t>Détection rapide : anglais, maths, CEJM, informatique...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C5B43064-8209-412C-B63B-A06921D86C03}"/>
              </a:ext>
            </a:extLst>
          </p:cNvPr>
          <p:cNvSpPr>
            <a:spLocks noGrp="1"/>
          </p:cNvSpPr>
          <p:nvPr/>
        </p:nvSpPr>
        <p:spPr>
          <a:xfrm>
            <a:off x="1066800" y="3524250"/>
            <a:ext cx="409575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20A8C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AAE20538-651E-4E10-93FA-0C2F998545D6}"/>
              </a:ext>
            </a:extLst>
          </p:cNvPr>
          <p:cNvSpPr>
            <a:spLocks noGrp="1"/>
          </p:cNvSpPr>
          <p:nvPr/>
        </p:nvSpPr>
        <p:spPr>
          <a:xfrm>
            <a:off x="1238250" y="3619500"/>
            <a:ext cx="381000" cy="381000"/>
          </a:xfrm>
          <a:prstGeom prst="ellipse">
            <a:avLst/>
          </a:prstGeom>
          <a:solidFill>
            <a:srgbClr val="20A8CF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3C506F7-E91D-4C24-8380-97AF39DE345F}"/>
              </a:ext>
            </a:extLst>
          </p:cNvPr>
          <p:cNvSpPr>
            <a:spLocks noGrp="1"/>
          </p:cNvSpPr>
          <p:nvPr/>
        </p:nvSpPr>
        <p:spPr>
          <a:xfrm>
            <a:off x="1238250" y="36957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9AD6EF-99B1-4CBC-8CE3-F0FDA4337BBF}"/>
              </a:ext>
            </a:extLst>
          </p:cNvPr>
          <p:cNvSpPr>
            <a:spLocks noGrp="1"/>
          </p:cNvSpPr>
          <p:nvPr/>
        </p:nvSpPr>
        <p:spPr>
          <a:xfrm>
            <a:off x="1771650" y="36004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Priorité de langue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31CFEDB-F16A-4FD5-A145-BCB6B105B86F}"/>
              </a:ext>
            </a:extLst>
          </p:cNvPr>
          <p:cNvSpPr>
            <a:spLocks noGrp="1"/>
          </p:cNvSpPr>
          <p:nvPr/>
        </p:nvSpPr>
        <p:spPr>
          <a:xfrm>
            <a:off x="1771650" y="382905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 i="0">
                <a:solidFill>
                  <a:srgbClr val="5C6B7E"/>
                </a:solidFill>
              </a:defRPr>
            </a:pPr>
            <a:r>
              <a:rPr sz="975" b="0" i="0">
                <a:solidFill>
                  <a:srgbClr val="5C6B7E"/>
                </a:solidFill>
              </a:rPr>
              <a:t>Un contenu détecté en anglais est rangé dans Anglais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93C425C3-2E24-45EE-80F5-6F6B5C34F25A}"/>
              </a:ext>
            </a:extLst>
          </p:cNvPr>
          <p:cNvSpPr>
            <a:spLocks noGrp="1"/>
          </p:cNvSpPr>
          <p:nvPr/>
        </p:nvSpPr>
        <p:spPr>
          <a:xfrm>
            <a:off x="1066800" y="4286250"/>
            <a:ext cx="409575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0B2A5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63812251-C338-43E8-8DDF-A4BDFCAAC237}"/>
              </a:ext>
            </a:extLst>
          </p:cNvPr>
          <p:cNvSpPr>
            <a:spLocks noGrp="1"/>
          </p:cNvSpPr>
          <p:nvPr/>
        </p:nvSpPr>
        <p:spPr>
          <a:xfrm>
            <a:off x="1238250" y="4381500"/>
            <a:ext cx="381000" cy="381000"/>
          </a:xfrm>
          <a:prstGeom prst="ellipse">
            <a:avLst/>
          </a:prstGeom>
          <a:solidFill>
            <a:srgbClr val="0B2A5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4704D58-4F3C-4C9D-B59E-BB508BBB01CC}"/>
              </a:ext>
            </a:extLst>
          </p:cNvPr>
          <p:cNvSpPr>
            <a:spLocks noGrp="1"/>
          </p:cNvSpPr>
          <p:nvPr/>
        </p:nvSpPr>
        <p:spPr>
          <a:xfrm>
            <a:off x="1238250" y="44577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6D4AE50-C0AE-4E61-8385-DAE09F842DF2}"/>
              </a:ext>
            </a:extLst>
          </p:cNvPr>
          <p:cNvSpPr>
            <a:spLocks noGrp="1"/>
          </p:cNvSpPr>
          <p:nvPr/>
        </p:nvSpPr>
        <p:spPr>
          <a:xfrm>
            <a:off x="1771650" y="43624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Ollama / Llama 3.1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1BFC70-B7F0-4331-9A7B-14F76DF5DDAE}"/>
              </a:ext>
            </a:extLst>
          </p:cNvPr>
          <p:cNvSpPr>
            <a:spLocks noGrp="1"/>
          </p:cNvSpPr>
          <p:nvPr/>
        </p:nvSpPr>
        <p:spPr>
          <a:xfrm>
            <a:off x="1771650" y="459105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 i="0">
                <a:solidFill>
                  <a:srgbClr val="5C6B7E"/>
                </a:solidFill>
              </a:defRPr>
            </a:pPr>
            <a:r>
              <a:rPr sz="975" b="0" i="0">
                <a:solidFill>
                  <a:srgbClr val="5C6B7E"/>
                </a:solidFill>
              </a:rPr>
              <a:t>Nom + 1 500 premiers caractères</a:t>
            </a:r>
          </a:p>
        </p:txBody>
      </p:sp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0997E071-51C1-451C-8533-BDA97DB69981}"/>
              </a:ext>
            </a:extLst>
          </p:cNvPr>
          <p:cNvSpPr>
            <a:spLocks noGrp="1"/>
          </p:cNvSpPr>
          <p:nvPr/>
        </p:nvSpPr>
        <p:spPr>
          <a:xfrm>
            <a:off x="1066800" y="5048250"/>
            <a:ext cx="4095750" cy="5715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3E9467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7B088955-6C52-4808-8E21-5C36F9680A2A}"/>
              </a:ext>
            </a:extLst>
          </p:cNvPr>
          <p:cNvSpPr>
            <a:spLocks noGrp="1"/>
          </p:cNvSpPr>
          <p:nvPr/>
        </p:nvSpPr>
        <p:spPr>
          <a:xfrm>
            <a:off x="1238250" y="5143500"/>
            <a:ext cx="381000" cy="381000"/>
          </a:xfrm>
          <a:prstGeom prst="ellipse">
            <a:avLst/>
          </a:prstGeom>
          <a:solidFill>
            <a:srgbClr val="3E946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5548004-5828-46E1-B126-6C5F8DD2464C}"/>
              </a:ext>
            </a:extLst>
          </p:cNvPr>
          <p:cNvSpPr>
            <a:spLocks noGrp="1"/>
          </p:cNvSpPr>
          <p:nvPr/>
        </p:nvSpPr>
        <p:spPr>
          <a:xfrm>
            <a:off x="1238250" y="5219700"/>
            <a:ext cx="381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F1CEA33-51BB-4A2E-AEF8-5651A6BACD96}"/>
              </a:ext>
            </a:extLst>
          </p:cNvPr>
          <p:cNvSpPr>
            <a:spLocks noGrp="1"/>
          </p:cNvSpPr>
          <p:nvPr/>
        </p:nvSpPr>
        <p:spPr>
          <a:xfrm>
            <a:off x="1771650" y="51244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Sous-catégorie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4D7E8547-D5C7-4D82-BC2E-71941C8B2A5D}"/>
              </a:ext>
            </a:extLst>
          </p:cNvPr>
          <p:cNvSpPr>
            <a:spLocks noGrp="1"/>
          </p:cNvSpPr>
          <p:nvPr/>
        </p:nvSpPr>
        <p:spPr>
          <a:xfrm>
            <a:off x="1771650" y="5353050"/>
            <a:ext cx="3143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975" b="0" i="0">
                <a:solidFill>
                  <a:srgbClr val="5C6B7E"/>
                </a:solidFill>
              </a:defRPr>
            </a:pPr>
            <a:r>
              <a:rPr sz="975" b="0" i="0">
                <a:solidFill>
                  <a:srgbClr val="5C6B7E"/>
                </a:solidFill>
              </a:rPr>
              <a:t>Exemples : Informatique/U5, CEJM/1re année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C1DC5A9-D01C-4E89-9130-453CC795B265}"/>
              </a:ext>
            </a:extLst>
          </p:cNvPr>
          <p:cNvSpPr>
            <a:spLocks noGrp="1"/>
          </p:cNvSpPr>
          <p:nvPr/>
        </p:nvSpPr>
        <p:spPr>
          <a:xfrm>
            <a:off x="6096000" y="209550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0B2A53"/>
                </a:solidFill>
              </a:defRPr>
            </a:pPr>
            <a:r>
              <a:rPr sz="1650" b="1" i="0">
                <a:solidFill>
                  <a:srgbClr val="0B2A53"/>
                </a:solidFill>
              </a:rPr>
              <a:t>Catégories configurées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818E037-D3C1-4714-A18A-9FA9D8592215}"/>
              </a:ext>
            </a:extLst>
          </p:cNvPr>
          <p:cNvSpPr>
            <a:spLocks noGrp="1"/>
          </p:cNvSpPr>
          <p:nvPr/>
        </p:nvSpPr>
        <p:spPr>
          <a:xfrm>
            <a:off x="6096000" y="2590800"/>
            <a:ext cx="2476500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24364B"/>
                </a:solidFill>
              </a:defRPr>
            </a:pPr>
            <a:r>
              <a:rPr lang="fr-FR" sz="1500" b="0" i="0" dirty="0">
                <a:solidFill>
                  <a:srgbClr val="24364B"/>
                </a:solidFill>
              </a:rPr>
              <a:t>-</a:t>
            </a:r>
            <a:r>
              <a:rPr sz="1500" b="0" i="0" dirty="0">
                <a:solidFill>
                  <a:srgbClr val="24364B"/>
                </a:solidFill>
              </a:rPr>
              <a:t>CEJM</a:t>
            </a:r>
          </a:p>
          <a:p>
            <a:pPr algn="l">
              <a:defRPr sz="1500" b="0" i="0">
                <a:solidFill>
                  <a:srgbClr val="24364B"/>
                </a:solidFill>
              </a:defRPr>
            </a:pPr>
            <a:r>
              <a:rPr lang="fr-FR" sz="1500" b="0" i="0" dirty="0">
                <a:solidFill>
                  <a:srgbClr val="24364B"/>
                </a:solidFill>
              </a:rPr>
              <a:t>-</a:t>
            </a:r>
            <a:r>
              <a:rPr sz="1500" b="0" i="0" dirty="0">
                <a:solidFill>
                  <a:srgbClr val="24364B"/>
                </a:solidFill>
              </a:rPr>
              <a:t>Anglais</a:t>
            </a:r>
          </a:p>
          <a:p>
            <a:pPr algn="l">
              <a:defRPr sz="1500" b="0" i="0">
                <a:solidFill>
                  <a:srgbClr val="24364B"/>
                </a:solidFill>
              </a:defRPr>
            </a:pPr>
            <a:r>
              <a:rPr lang="fr-FR" sz="1500" b="0" i="0" dirty="0">
                <a:solidFill>
                  <a:srgbClr val="24364B"/>
                </a:solidFill>
              </a:rPr>
              <a:t>-</a:t>
            </a:r>
            <a:r>
              <a:rPr sz="1500" b="0" i="0" dirty="0" err="1">
                <a:solidFill>
                  <a:srgbClr val="24364B"/>
                </a:solidFill>
              </a:rPr>
              <a:t>Maths</a:t>
            </a:r>
            <a:endParaRPr sz="1500" b="0" i="0" dirty="0">
              <a:solidFill>
                <a:srgbClr val="24364B"/>
              </a:solidFill>
            </a:endParaRPr>
          </a:p>
          <a:p>
            <a:pPr algn="l">
              <a:defRPr sz="1500" b="0" i="0">
                <a:solidFill>
                  <a:srgbClr val="24364B"/>
                </a:solidFill>
              </a:defRPr>
            </a:pPr>
            <a:r>
              <a:rPr lang="fr-FR" sz="1500" b="0" i="0" dirty="0">
                <a:solidFill>
                  <a:srgbClr val="24364B"/>
                </a:solidFill>
              </a:rPr>
              <a:t>-</a:t>
            </a:r>
            <a:r>
              <a:rPr sz="1500" b="0" i="0" dirty="0">
                <a:solidFill>
                  <a:srgbClr val="24364B"/>
                </a:solidFill>
              </a:rPr>
              <a:t>Informatique</a:t>
            </a:r>
          </a:p>
          <a:p>
            <a:pPr algn="l">
              <a:defRPr sz="1500" b="0" i="0">
                <a:solidFill>
                  <a:srgbClr val="24364B"/>
                </a:solidFill>
              </a:defRPr>
            </a:pPr>
            <a:r>
              <a:rPr lang="fr-FR" sz="1500" b="0" i="0" dirty="0">
                <a:solidFill>
                  <a:srgbClr val="24364B"/>
                </a:solidFill>
              </a:rPr>
              <a:t>-</a:t>
            </a:r>
            <a:r>
              <a:rPr sz="1500" b="0" i="0" dirty="0">
                <a:solidFill>
                  <a:srgbClr val="24364B"/>
                </a:solidFill>
              </a:rPr>
              <a:t>Culture Générale</a:t>
            </a:r>
          </a:p>
          <a:p>
            <a:pPr algn="l">
              <a:defRPr sz="1500" b="0" i="0">
                <a:solidFill>
                  <a:srgbClr val="24364B"/>
                </a:solidFill>
              </a:defRPr>
            </a:pPr>
            <a:r>
              <a:rPr lang="fr-FR" sz="1500" b="0" i="0" dirty="0">
                <a:solidFill>
                  <a:srgbClr val="24364B"/>
                </a:solidFill>
              </a:rPr>
              <a:t>-</a:t>
            </a:r>
            <a:r>
              <a:rPr sz="1500" b="0" i="0" dirty="0" err="1">
                <a:solidFill>
                  <a:srgbClr val="24364B"/>
                </a:solidFill>
              </a:rPr>
              <a:t>Projet</a:t>
            </a:r>
            <a:endParaRPr sz="1500" b="0" i="0" dirty="0">
              <a:solidFill>
                <a:srgbClr val="24364B"/>
              </a:solidFill>
            </a:endParaRPr>
          </a:p>
          <a:p>
            <a:pPr algn="l">
              <a:defRPr sz="1500" b="0" i="0">
                <a:solidFill>
                  <a:srgbClr val="24364B"/>
                </a:solidFill>
              </a:defRPr>
            </a:pPr>
            <a:r>
              <a:rPr lang="fr-FR" sz="1500" b="0" i="0" dirty="0">
                <a:solidFill>
                  <a:srgbClr val="24364B"/>
                </a:solidFill>
              </a:rPr>
              <a:t>-</a:t>
            </a:r>
            <a:r>
              <a:rPr sz="1500" b="0" i="0" dirty="0" err="1">
                <a:solidFill>
                  <a:srgbClr val="24364B"/>
                </a:solidFill>
              </a:rPr>
              <a:t>Autre</a:t>
            </a:r>
            <a:endParaRPr sz="1500" b="0" i="0" dirty="0">
              <a:solidFill>
                <a:srgbClr val="24364B"/>
              </a:solidFill>
            </a:endParaRPr>
          </a:p>
          <a:p>
            <a:pPr algn="l">
              <a:defRPr sz="1500" b="0" i="0">
                <a:solidFill>
                  <a:srgbClr val="24364B"/>
                </a:solidFill>
              </a:defRPr>
            </a:pPr>
            <a:r>
              <a:rPr lang="fr-FR" sz="1500" b="0" i="0" dirty="0">
                <a:solidFill>
                  <a:srgbClr val="24364B"/>
                </a:solidFill>
              </a:rPr>
              <a:t>-</a:t>
            </a:r>
            <a:r>
              <a:rPr sz="1500" b="0" i="0" dirty="0">
                <a:solidFill>
                  <a:srgbClr val="24364B"/>
                </a:solidFill>
              </a:rPr>
              <a:t>Non </a:t>
            </a:r>
            <a:r>
              <a:rPr sz="1500" b="0" i="0" dirty="0" err="1">
                <a:solidFill>
                  <a:srgbClr val="24364B"/>
                </a:solidFill>
              </a:rPr>
              <a:t>classé</a:t>
            </a:r>
            <a:endParaRPr sz="1500" b="0" i="0" dirty="0">
              <a:solidFill>
                <a:srgbClr val="24364B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A930369-B97A-446C-9B63-931DF4AD5681}"/>
              </a:ext>
            </a:extLst>
          </p:cNvPr>
          <p:cNvSpPr>
            <a:spLocks noGrp="1"/>
          </p:cNvSpPr>
          <p:nvPr/>
        </p:nvSpPr>
        <p:spPr>
          <a:xfrm>
            <a:off x="8572500" y="2590800"/>
            <a:ext cx="2286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C6B7E"/>
                </a:solidFill>
              </a:defRPr>
            </a:pPr>
            <a:r>
              <a:rPr sz="1275" b="0" i="0">
                <a:solidFill>
                  <a:srgbClr val="5C6B7E"/>
                </a:solidFill>
              </a:rPr>
              <a:t>Le choix reste lisible : les catégories et leurs descriptions sont déclarées dans config.py, sans dépendre d'un modèle distant.</a:t>
            </a:r>
          </a:p>
        </p:txBody>
      </p:sp>
    </p:spTree>
    <p:extLst>
      <p:ext uri="{BB962C8B-B14F-4D97-AF65-F5344CB8AC3E}">
        <p14:creationId xmlns:p14="http://schemas.microsoft.com/office/powerpoint/2010/main" val="19103611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0911B1EE-E1DB-4DC2-B122-CB12E09728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7035ED-5104-481D-B1BB-F5CA6CC44C15}"/>
              </a:ext>
            </a:extLst>
          </p:cNvPr>
          <p:cNvSpPr>
            <a:spLocks noGrp="1"/>
          </p:cNvSpPr>
          <p:nvPr/>
        </p:nvSpPr>
        <p:spPr>
          <a:xfrm>
            <a:off x="7429500" y="0"/>
            <a:ext cx="4762500" cy="6858000"/>
          </a:xfrm>
          <a:prstGeom prst="rect">
            <a:avLst/>
          </a:prstGeom>
          <a:solidFill>
            <a:srgbClr val="D9F0FC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Parallélogramme 2">
            <a:extLst>
              <a:ext uri="{FF2B5EF4-FFF2-40B4-BE49-F238E27FC236}">
                <a16:creationId xmlns:a16="http://schemas.microsoft.com/office/drawing/2014/main" id="{1AF36987-6B0F-421E-8F28-0620106A4A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" cy="5143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262A13A6-52A7-477F-BBC7-CD9FB872CF0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3238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82FB913D-A443-48AB-A1E7-C67FB2AAAC22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952500" cy="6667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75232DEF-4A88-414A-B4A1-DE93EC927035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819150" cy="4381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29BFBACD-5648-4FE7-B2B5-56F2454F5C42}"/>
              </a:ext>
            </a:extLst>
          </p:cNvPr>
          <p:cNvSpPr>
            <a:spLocks noGrp="1"/>
          </p:cNvSpPr>
          <p:nvPr/>
        </p:nvSpPr>
        <p:spPr>
          <a:xfrm>
            <a:off x="9658350" y="28575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9EB1AA-B8BF-47AB-8C38-E4BCF65C40E5}"/>
              </a:ext>
            </a:extLst>
          </p:cNvPr>
          <p:cNvSpPr>
            <a:spLocks noGrp="1"/>
          </p:cNvSpPr>
          <p:nvPr/>
        </p:nvSpPr>
        <p:spPr>
          <a:xfrm>
            <a:off x="9753600" y="323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6E4DE282-FFC3-428E-A7C7-ACF584A3B09C}"/>
              </a:ext>
            </a:extLst>
          </p:cNvPr>
          <p:cNvSpPr>
            <a:spLocks noGrp="1"/>
          </p:cNvSpPr>
          <p:nvPr/>
        </p:nvSpPr>
        <p:spPr>
          <a:xfrm>
            <a:off x="838200" y="6400800"/>
            <a:ext cx="10363200" cy="0"/>
          </a:xfrm>
          <a:prstGeom prst="line">
            <a:avLst/>
          </a:prstGeom>
          <a:noFill/>
          <a:ln w="13335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1161F7-8EF7-472F-91C7-AB7DB941F1F2}"/>
              </a:ext>
            </a:extLst>
          </p:cNvPr>
          <p:cNvSpPr>
            <a:spLocks noGrp="1"/>
          </p:cNvSpPr>
          <p:nvPr/>
        </p:nvSpPr>
        <p:spPr>
          <a:xfrm>
            <a:off x="11220450" y="619125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06</a:t>
            </a:r>
          </a:p>
        </p:txBody>
      </p:sp>
      <p:sp>
        <p:nvSpPr>
          <p:cNvPr id="11" name="slide-title">
            <a:extLst>
              <a:ext uri="{FF2B5EF4-FFF2-40B4-BE49-F238E27FC236}">
                <a16:creationId xmlns:a16="http://schemas.microsoft.com/office/drawing/2014/main" id="{57F57A1B-A21E-409F-8699-7BC3F330C986}"/>
              </a:ext>
            </a:extLst>
          </p:cNvPr>
          <p:cNvSpPr>
            <a:spLocks noGrp="1"/>
          </p:cNvSpPr>
          <p:nvPr/>
        </p:nvSpPr>
        <p:spPr>
          <a:xfrm>
            <a:off x="1066800" y="74295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0B2A53"/>
                </a:solidFill>
              </a:defRPr>
            </a:pPr>
            <a:r>
              <a:rPr sz="2850" b="1" i="0">
                <a:solidFill>
                  <a:srgbClr val="0B2A53"/>
                </a:solidFill>
              </a:rPr>
              <a:t>L'architecture reste locale, modulaire et lisible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4AB5B07-A362-4056-9444-A0D17A5748C0}"/>
              </a:ext>
            </a:extLst>
          </p:cNvPr>
          <p:cNvSpPr>
            <a:spLocks noGrp="1"/>
          </p:cNvSpPr>
          <p:nvPr/>
        </p:nvSpPr>
        <p:spPr>
          <a:xfrm>
            <a:off x="1066800" y="1304925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C6B7E"/>
                </a:solidFill>
              </a:defRPr>
            </a:pPr>
            <a:r>
              <a:rPr sz="1275" b="0" i="0">
                <a:solidFill>
                  <a:srgbClr val="5C6B7E"/>
                </a:solidFill>
              </a:rPr>
              <a:t>Le traitement, le modèle et la mémoire d'apprentissage restent sur le poste de l'étudiant.</a:t>
            </a:r>
          </a:p>
        </p:txBody>
      </p:sp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709F7B6C-63A0-42E9-891F-0C3011DCF7D1}"/>
              </a:ext>
            </a:extLst>
          </p:cNvPr>
          <p:cNvSpPr>
            <a:spLocks noGrp="1"/>
          </p:cNvSpPr>
          <p:nvPr/>
        </p:nvSpPr>
        <p:spPr>
          <a:xfrm>
            <a:off x="2571750" y="2705100"/>
            <a:ext cx="838200" cy="323850"/>
          </a:xfrm>
          <a:prstGeom prst="rightArrow">
            <a:avLst/>
          </a:prstGeom>
          <a:solidFill>
            <a:srgbClr val="8BC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4BAE6F03-C235-4466-9BFB-24362F66D93B}"/>
              </a:ext>
            </a:extLst>
          </p:cNvPr>
          <p:cNvSpPr>
            <a:spLocks noGrp="1"/>
          </p:cNvSpPr>
          <p:nvPr/>
        </p:nvSpPr>
        <p:spPr>
          <a:xfrm>
            <a:off x="4857750" y="2705100"/>
            <a:ext cx="838200" cy="323850"/>
          </a:xfrm>
          <a:prstGeom prst="rightArrow">
            <a:avLst/>
          </a:prstGeom>
          <a:solidFill>
            <a:srgbClr val="8BC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C26665FC-B05C-4D66-8B86-F12300FAB52E}"/>
              </a:ext>
            </a:extLst>
          </p:cNvPr>
          <p:cNvSpPr>
            <a:spLocks noGrp="1"/>
          </p:cNvSpPr>
          <p:nvPr/>
        </p:nvSpPr>
        <p:spPr>
          <a:xfrm>
            <a:off x="7143750" y="2705100"/>
            <a:ext cx="838200" cy="323850"/>
          </a:xfrm>
          <a:prstGeom prst="rightArrow">
            <a:avLst/>
          </a:prstGeom>
          <a:solidFill>
            <a:srgbClr val="8BC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Flèche : droite 15">
            <a:extLst>
              <a:ext uri="{FF2B5EF4-FFF2-40B4-BE49-F238E27FC236}">
                <a16:creationId xmlns:a16="http://schemas.microsoft.com/office/drawing/2014/main" id="{D80F3ABD-98D4-443D-9046-06BE15B7992B}"/>
              </a:ext>
            </a:extLst>
          </p:cNvPr>
          <p:cNvSpPr>
            <a:spLocks noGrp="1"/>
          </p:cNvSpPr>
          <p:nvPr/>
        </p:nvSpPr>
        <p:spPr>
          <a:xfrm>
            <a:off x="9429750" y="2705100"/>
            <a:ext cx="838200" cy="323850"/>
          </a:xfrm>
          <a:prstGeom prst="rightArrow">
            <a:avLst/>
          </a:prstGeom>
          <a:solidFill>
            <a:srgbClr val="8BC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Flèche : bas 16">
            <a:extLst>
              <a:ext uri="{FF2B5EF4-FFF2-40B4-BE49-F238E27FC236}">
                <a16:creationId xmlns:a16="http://schemas.microsoft.com/office/drawing/2014/main" id="{CAADAACF-656D-495C-9A16-6EEB2307BEB8}"/>
              </a:ext>
            </a:extLst>
          </p:cNvPr>
          <p:cNvSpPr>
            <a:spLocks noGrp="1"/>
          </p:cNvSpPr>
          <p:nvPr/>
        </p:nvSpPr>
        <p:spPr>
          <a:xfrm>
            <a:off x="6191250" y="3714750"/>
            <a:ext cx="323850" cy="685800"/>
          </a:xfrm>
          <a:prstGeom prst="downArrow">
            <a:avLst/>
          </a:prstGeom>
          <a:solidFill>
            <a:srgbClr val="8BC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Flèche : bas 17">
            <a:extLst>
              <a:ext uri="{FF2B5EF4-FFF2-40B4-BE49-F238E27FC236}">
                <a16:creationId xmlns:a16="http://schemas.microsoft.com/office/drawing/2014/main" id="{4FB13AF4-DE4B-490A-8708-ACA2D399B276}"/>
              </a:ext>
            </a:extLst>
          </p:cNvPr>
          <p:cNvSpPr>
            <a:spLocks noGrp="1"/>
          </p:cNvSpPr>
          <p:nvPr/>
        </p:nvSpPr>
        <p:spPr>
          <a:xfrm>
            <a:off x="8477250" y="3714750"/>
            <a:ext cx="323850" cy="685800"/>
          </a:xfrm>
          <a:prstGeom prst="downArrow">
            <a:avLst/>
          </a:prstGeom>
          <a:solidFill>
            <a:srgbClr val="8BC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7ECE01CB-7CFA-4D4C-B31F-A738E69E8C90}"/>
              </a:ext>
            </a:extLst>
          </p:cNvPr>
          <p:cNvSpPr>
            <a:spLocks noGrp="1"/>
          </p:cNvSpPr>
          <p:nvPr/>
        </p:nvSpPr>
        <p:spPr>
          <a:xfrm>
            <a:off x="952500" y="2381250"/>
            <a:ext cx="161925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8575">
            <a:solidFill>
              <a:srgbClr val="245EA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FCF8F0-1651-4EAC-986F-D51C84C0CD17}"/>
              </a:ext>
            </a:extLst>
          </p:cNvPr>
          <p:cNvSpPr>
            <a:spLocks noGrp="1"/>
          </p:cNvSpPr>
          <p:nvPr/>
        </p:nvSpPr>
        <p:spPr>
          <a:xfrm>
            <a:off x="952500" y="2381250"/>
            <a:ext cx="1619250" cy="95250"/>
          </a:xfrm>
          <a:prstGeom prst="rect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5756E5-AE17-4E81-8661-82DDC2ADB893}"/>
              </a:ext>
            </a:extLst>
          </p:cNvPr>
          <p:cNvSpPr>
            <a:spLocks noGrp="1"/>
          </p:cNvSpPr>
          <p:nvPr/>
        </p:nvSpPr>
        <p:spPr>
          <a:xfrm>
            <a:off x="1066800" y="26479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 i="0">
                <a:solidFill>
                  <a:srgbClr val="0B2A53"/>
                </a:solidFill>
              </a:defRPr>
            </a:pPr>
            <a:r>
              <a:rPr sz="1500" b="1" i="0">
                <a:solidFill>
                  <a:srgbClr val="0B2A53"/>
                </a:solidFill>
              </a:rPr>
              <a:t>Étudiant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E686FF-F610-41AA-BF6B-8BBF20857A86}"/>
              </a:ext>
            </a:extLst>
          </p:cNvPr>
          <p:cNvSpPr>
            <a:spLocks noGrp="1"/>
          </p:cNvSpPr>
          <p:nvPr/>
        </p:nvSpPr>
        <p:spPr>
          <a:xfrm>
            <a:off x="1066800" y="300990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 i="0">
                <a:solidFill>
                  <a:srgbClr val="5C6B7E"/>
                </a:solidFill>
              </a:defRPr>
            </a:pPr>
            <a:r>
              <a:rPr sz="1050" b="0" i="0">
                <a:solidFill>
                  <a:srgbClr val="5C6B7E"/>
                </a:solidFill>
              </a:rPr>
              <a:t>Dépose ou valide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457D8B52-DEF5-4689-8811-5386A26D538C}"/>
              </a:ext>
            </a:extLst>
          </p:cNvPr>
          <p:cNvSpPr>
            <a:spLocks noGrp="1"/>
          </p:cNvSpPr>
          <p:nvPr/>
        </p:nvSpPr>
        <p:spPr>
          <a:xfrm>
            <a:off x="3238500" y="2381250"/>
            <a:ext cx="161925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8575">
            <a:solidFill>
              <a:srgbClr val="4D88C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A799CE-C00C-4B47-840C-1C14F128AE75}"/>
              </a:ext>
            </a:extLst>
          </p:cNvPr>
          <p:cNvSpPr>
            <a:spLocks noGrp="1"/>
          </p:cNvSpPr>
          <p:nvPr/>
        </p:nvSpPr>
        <p:spPr>
          <a:xfrm>
            <a:off x="3238500" y="2381250"/>
            <a:ext cx="1619250" cy="95250"/>
          </a:xfrm>
          <a:prstGeom prst="rect">
            <a:avLst/>
          </a:prstGeom>
          <a:solidFill>
            <a:srgbClr val="4D88C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06A67C1-3212-4470-B2A8-70E37065264A}"/>
              </a:ext>
            </a:extLst>
          </p:cNvPr>
          <p:cNvSpPr>
            <a:spLocks noGrp="1"/>
          </p:cNvSpPr>
          <p:nvPr/>
        </p:nvSpPr>
        <p:spPr>
          <a:xfrm>
            <a:off x="3352800" y="26479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 i="0">
                <a:solidFill>
                  <a:srgbClr val="0B2A53"/>
                </a:solidFill>
              </a:defRPr>
            </a:pPr>
            <a:r>
              <a:rPr sz="1500" b="1" i="0">
                <a:solidFill>
                  <a:srgbClr val="0B2A53"/>
                </a:solidFill>
              </a:rPr>
              <a:t>Dossier SOURCE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1E0310-BC54-4107-850C-63CEFF6F423D}"/>
              </a:ext>
            </a:extLst>
          </p:cNvPr>
          <p:cNvSpPr>
            <a:spLocks noGrp="1"/>
          </p:cNvSpPr>
          <p:nvPr/>
        </p:nvSpPr>
        <p:spPr>
          <a:xfrm>
            <a:off x="3352800" y="300990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 i="0">
                <a:solidFill>
                  <a:srgbClr val="5C6B7E"/>
                </a:solidFill>
              </a:defRPr>
            </a:pPr>
            <a:r>
              <a:rPr sz="1050" b="0" i="0">
                <a:solidFill>
                  <a:srgbClr val="5C6B7E"/>
                </a:solidFill>
              </a:rPr>
              <a:t>Fichiers entrants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50B872FF-FB35-41F6-AD2F-FCCDCFCD3A9F}"/>
              </a:ext>
            </a:extLst>
          </p:cNvPr>
          <p:cNvSpPr>
            <a:spLocks noGrp="1"/>
          </p:cNvSpPr>
          <p:nvPr/>
        </p:nvSpPr>
        <p:spPr>
          <a:xfrm>
            <a:off x="5524500" y="2381250"/>
            <a:ext cx="161925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8575">
            <a:solidFill>
              <a:srgbClr val="3E9467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0D9B22C-8EE6-473E-AC2A-35A6FE695FFC}"/>
              </a:ext>
            </a:extLst>
          </p:cNvPr>
          <p:cNvSpPr>
            <a:spLocks noGrp="1"/>
          </p:cNvSpPr>
          <p:nvPr/>
        </p:nvSpPr>
        <p:spPr>
          <a:xfrm>
            <a:off x="5524500" y="2381250"/>
            <a:ext cx="1619250" cy="95250"/>
          </a:xfrm>
          <a:prstGeom prst="rect">
            <a:avLst/>
          </a:prstGeom>
          <a:solidFill>
            <a:srgbClr val="3E946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3132129-A849-4FDF-9E4F-3CCFF4027A69}"/>
              </a:ext>
            </a:extLst>
          </p:cNvPr>
          <p:cNvSpPr>
            <a:spLocks noGrp="1"/>
          </p:cNvSpPr>
          <p:nvPr/>
        </p:nvSpPr>
        <p:spPr>
          <a:xfrm>
            <a:off x="5638800" y="26479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 i="0">
                <a:solidFill>
                  <a:srgbClr val="0B2A53"/>
                </a:solidFill>
              </a:defRPr>
            </a:pPr>
            <a:r>
              <a:rPr sz="1500" b="1" i="0">
                <a:solidFill>
                  <a:srgbClr val="0B2A53"/>
                </a:solidFill>
              </a:rPr>
              <a:t>Watcher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A41F4F8-09C2-4F05-98B2-5F67854298B4}"/>
              </a:ext>
            </a:extLst>
          </p:cNvPr>
          <p:cNvSpPr>
            <a:spLocks noGrp="1"/>
          </p:cNvSpPr>
          <p:nvPr/>
        </p:nvSpPr>
        <p:spPr>
          <a:xfrm>
            <a:off x="5638800" y="300990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 i="0">
                <a:solidFill>
                  <a:srgbClr val="5C6B7E"/>
                </a:solidFill>
              </a:defRPr>
            </a:pPr>
            <a:r>
              <a:rPr sz="1050" b="0" i="0">
                <a:solidFill>
                  <a:srgbClr val="5C6B7E"/>
                </a:solidFill>
              </a:rPr>
              <a:t>Événement de création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B196FC52-F454-46A2-BE1B-9340E0C0D893}"/>
              </a:ext>
            </a:extLst>
          </p:cNvPr>
          <p:cNvSpPr>
            <a:spLocks noGrp="1"/>
          </p:cNvSpPr>
          <p:nvPr/>
        </p:nvSpPr>
        <p:spPr>
          <a:xfrm>
            <a:off x="7810500" y="2381250"/>
            <a:ext cx="161925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8575">
            <a:solidFill>
              <a:srgbClr val="E9A23B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B15BCF0-D646-4D95-90AD-37AF697E4602}"/>
              </a:ext>
            </a:extLst>
          </p:cNvPr>
          <p:cNvSpPr>
            <a:spLocks noGrp="1"/>
          </p:cNvSpPr>
          <p:nvPr/>
        </p:nvSpPr>
        <p:spPr>
          <a:xfrm>
            <a:off x="7810500" y="2381250"/>
            <a:ext cx="1619250" cy="95250"/>
          </a:xfrm>
          <a:prstGeom prst="rect">
            <a:avLst/>
          </a:prstGeom>
          <a:solidFill>
            <a:srgbClr val="E9A23B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F4A487F-CADF-44B5-B176-E84A34EC934E}"/>
              </a:ext>
            </a:extLst>
          </p:cNvPr>
          <p:cNvSpPr>
            <a:spLocks noGrp="1"/>
          </p:cNvSpPr>
          <p:nvPr/>
        </p:nvSpPr>
        <p:spPr>
          <a:xfrm>
            <a:off x="7924800" y="26479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 i="0">
                <a:solidFill>
                  <a:srgbClr val="0B2A53"/>
                </a:solidFill>
              </a:defRPr>
            </a:pPr>
            <a:r>
              <a:rPr sz="1500" b="1" i="0">
                <a:solidFill>
                  <a:srgbClr val="0B2A53"/>
                </a:solidFill>
              </a:rPr>
              <a:t>Script IA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6402B9-5FDD-49E4-BA40-2DDF82914892}"/>
              </a:ext>
            </a:extLst>
          </p:cNvPr>
          <p:cNvSpPr>
            <a:spLocks noGrp="1"/>
          </p:cNvSpPr>
          <p:nvPr/>
        </p:nvSpPr>
        <p:spPr>
          <a:xfrm>
            <a:off x="7924800" y="300990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 i="0">
                <a:solidFill>
                  <a:srgbClr val="5C6B7E"/>
                </a:solidFill>
              </a:defRPr>
            </a:pPr>
            <a:r>
              <a:rPr sz="1050" b="0" i="0">
                <a:solidFill>
                  <a:srgbClr val="5C6B7E"/>
                </a:solidFill>
              </a:rPr>
              <a:t>Extraction + décision</a:t>
            </a: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52F31DE7-1A49-44D1-8280-150C8C02F57D}"/>
              </a:ext>
            </a:extLst>
          </p:cNvPr>
          <p:cNvSpPr>
            <a:spLocks noGrp="1"/>
          </p:cNvSpPr>
          <p:nvPr/>
        </p:nvSpPr>
        <p:spPr>
          <a:xfrm>
            <a:off x="10096500" y="2381250"/>
            <a:ext cx="161925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8575">
            <a:solidFill>
              <a:srgbClr val="245EA8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F0A1DA5-5614-4319-973C-08CE0567F22B}"/>
              </a:ext>
            </a:extLst>
          </p:cNvPr>
          <p:cNvSpPr>
            <a:spLocks noGrp="1"/>
          </p:cNvSpPr>
          <p:nvPr/>
        </p:nvSpPr>
        <p:spPr>
          <a:xfrm>
            <a:off x="10096500" y="2381250"/>
            <a:ext cx="1619250" cy="95250"/>
          </a:xfrm>
          <a:prstGeom prst="rect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531739F-6F8F-4C74-929D-4710C43D97EA}"/>
              </a:ext>
            </a:extLst>
          </p:cNvPr>
          <p:cNvSpPr>
            <a:spLocks noGrp="1"/>
          </p:cNvSpPr>
          <p:nvPr/>
        </p:nvSpPr>
        <p:spPr>
          <a:xfrm>
            <a:off x="10210800" y="26479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 i="0">
                <a:solidFill>
                  <a:srgbClr val="0B2A53"/>
                </a:solidFill>
              </a:defRPr>
            </a:pPr>
            <a:r>
              <a:rPr sz="1500" b="1" i="0">
                <a:solidFill>
                  <a:srgbClr val="0B2A53"/>
                </a:solidFill>
              </a:rPr>
              <a:t>Dossier DEST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C09148B-EAED-4C88-AC44-A5BA737B8322}"/>
              </a:ext>
            </a:extLst>
          </p:cNvPr>
          <p:cNvSpPr>
            <a:spLocks noGrp="1"/>
          </p:cNvSpPr>
          <p:nvPr/>
        </p:nvSpPr>
        <p:spPr>
          <a:xfrm>
            <a:off x="10210800" y="300990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 i="0">
                <a:solidFill>
                  <a:srgbClr val="5C6B7E"/>
                </a:solidFill>
              </a:defRPr>
            </a:pPr>
            <a:r>
              <a:rPr sz="1050" b="0" i="0">
                <a:solidFill>
                  <a:srgbClr val="5C6B7E"/>
                </a:solidFill>
              </a:rPr>
              <a:t>Arborescence triée</a:t>
            </a:r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6AA1B2F2-B042-456A-B229-8F028D5957D3}"/>
              </a:ext>
            </a:extLst>
          </p:cNvPr>
          <p:cNvSpPr>
            <a:spLocks noGrp="1"/>
          </p:cNvSpPr>
          <p:nvPr/>
        </p:nvSpPr>
        <p:spPr>
          <a:xfrm>
            <a:off x="5524500" y="4476750"/>
            <a:ext cx="161925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8575">
            <a:solidFill>
              <a:srgbClr val="C7554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7559345-F5FE-4ECD-8B3E-71A5E9F76643}"/>
              </a:ext>
            </a:extLst>
          </p:cNvPr>
          <p:cNvSpPr>
            <a:spLocks noGrp="1"/>
          </p:cNvSpPr>
          <p:nvPr/>
        </p:nvSpPr>
        <p:spPr>
          <a:xfrm>
            <a:off x="5524500" y="4476750"/>
            <a:ext cx="1619250" cy="95250"/>
          </a:xfrm>
          <a:prstGeom prst="rect">
            <a:avLst/>
          </a:prstGeom>
          <a:solidFill>
            <a:srgbClr val="C7554E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F1469DE-4BE2-4A26-8CE6-FD2EF9209E97}"/>
              </a:ext>
            </a:extLst>
          </p:cNvPr>
          <p:cNvSpPr>
            <a:spLocks noGrp="1"/>
          </p:cNvSpPr>
          <p:nvPr/>
        </p:nvSpPr>
        <p:spPr>
          <a:xfrm>
            <a:off x="5638800" y="47434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 i="0">
                <a:solidFill>
                  <a:srgbClr val="0B2A53"/>
                </a:solidFill>
              </a:defRPr>
            </a:pPr>
            <a:r>
              <a:rPr sz="1500" b="1" i="0">
                <a:solidFill>
                  <a:srgbClr val="0B2A53"/>
                </a:solidFill>
              </a:rPr>
              <a:t>Ollama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A1998CB-EA8D-4ACF-BDB2-FD06929E21D0}"/>
              </a:ext>
            </a:extLst>
          </p:cNvPr>
          <p:cNvSpPr>
            <a:spLocks noGrp="1"/>
          </p:cNvSpPr>
          <p:nvPr/>
        </p:nvSpPr>
        <p:spPr>
          <a:xfrm>
            <a:off x="5638800" y="510540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 i="0">
                <a:solidFill>
                  <a:srgbClr val="5C6B7E"/>
                </a:solidFill>
              </a:defRPr>
            </a:pPr>
            <a:r>
              <a:rPr sz="1050" b="0" i="0">
                <a:solidFill>
                  <a:srgbClr val="5C6B7E"/>
                </a:solidFill>
              </a:rPr>
              <a:t>LLM local via HTTP</a:t>
            </a:r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2EDC2604-8AC9-4A29-991F-77887C298626}"/>
              </a:ext>
            </a:extLst>
          </p:cNvPr>
          <p:cNvSpPr>
            <a:spLocks noGrp="1"/>
          </p:cNvSpPr>
          <p:nvPr/>
        </p:nvSpPr>
        <p:spPr>
          <a:xfrm>
            <a:off x="7810500" y="4476750"/>
            <a:ext cx="161925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28575">
            <a:solidFill>
              <a:srgbClr val="3A7F9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fr-F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761A61A-87FF-47D3-AEAC-8CF5E0A6E30D}"/>
              </a:ext>
            </a:extLst>
          </p:cNvPr>
          <p:cNvSpPr>
            <a:spLocks noGrp="1"/>
          </p:cNvSpPr>
          <p:nvPr/>
        </p:nvSpPr>
        <p:spPr>
          <a:xfrm>
            <a:off x="7810500" y="4476750"/>
            <a:ext cx="1619250" cy="95250"/>
          </a:xfrm>
          <a:prstGeom prst="rect">
            <a:avLst/>
          </a:prstGeom>
          <a:solidFill>
            <a:srgbClr val="3A7F92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D16FE14-93C0-4CB1-8EEE-16723D00493E}"/>
              </a:ext>
            </a:extLst>
          </p:cNvPr>
          <p:cNvSpPr>
            <a:spLocks noGrp="1"/>
          </p:cNvSpPr>
          <p:nvPr/>
        </p:nvSpPr>
        <p:spPr>
          <a:xfrm>
            <a:off x="7924800" y="4743450"/>
            <a:ext cx="1390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 b="1" i="0">
                <a:solidFill>
                  <a:srgbClr val="0B2A53"/>
                </a:solidFill>
              </a:defRPr>
            </a:pPr>
            <a:r>
              <a:rPr sz="1500" b="1" i="0">
                <a:solidFill>
                  <a:srgbClr val="0B2A53"/>
                </a:solidFill>
              </a:rPr>
              <a:t>learning.json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D85B903-122E-40ED-9A28-13B01F0A4538}"/>
              </a:ext>
            </a:extLst>
          </p:cNvPr>
          <p:cNvSpPr>
            <a:spLocks noGrp="1"/>
          </p:cNvSpPr>
          <p:nvPr/>
        </p:nvSpPr>
        <p:spPr>
          <a:xfrm>
            <a:off x="7924800" y="5105400"/>
            <a:ext cx="1390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050" b="0" i="0">
                <a:solidFill>
                  <a:srgbClr val="5C6B7E"/>
                </a:solidFill>
              </a:defRPr>
            </a:pPr>
            <a:r>
              <a:rPr sz="1050" b="0" i="0">
                <a:solidFill>
                  <a:srgbClr val="5C6B7E"/>
                </a:solidFill>
              </a:rPr>
              <a:t>Mémoire des décisions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BDF8925-DF16-43E0-88B7-753F464E1C4E}"/>
              </a:ext>
            </a:extLst>
          </p:cNvPr>
          <p:cNvSpPr>
            <a:spLocks noGrp="1"/>
          </p:cNvSpPr>
          <p:nvPr/>
        </p:nvSpPr>
        <p:spPr>
          <a:xfrm>
            <a:off x="1066800" y="5838825"/>
            <a:ext cx="876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1" i="0">
                <a:solidFill>
                  <a:srgbClr val="0B2A53"/>
                </a:solidFill>
              </a:defRPr>
            </a:pPr>
            <a:r>
              <a:rPr sz="1500" b="1" i="0">
                <a:solidFill>
                  <a:srgbClr val="0B2A53"/>
                </a:solidFill>
              </a:rPr>
              <a:t>Aucun document n'a besoin de quitter la machine pour être classé.</a:t>
            </a:r>
          </a:p>
        </p:txBody>
      </p:sp>
    </p:spTree>
    <p:extLst>
      <p:ext uri="{BB962C8B-B14F-4D97-AF65-F5344CB8AC3E}">
        <p14:creationId xmlns:p14="http://schemas.microsoft.com/office/powerpoint/2010/main" val="777190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229C3871-2303-4C34-9E25-06B9E147E3D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4A5880-5ADD-4C5C-A21E-4736BCF0FEB6}"/>
              </a:ext>
            </a:extLst>
          </p:cNvPr>
          <p:cNvSpPr>
            <a:spLocks noGrp="1"/>
          </p:cNvSpPr>
          <p:nvPr/>
        </p:nvSpPr>
        <p:spPr>
          <a:xfrm>
            <a:off x="7429500" y="0"/>
            <a:ext cx="4762500" cy="6858000"/>
          </a:xfrm>
          <a:prstGeom prst="rect">
            <a:avLst/>
          </a:prstGeom>
          <a:solidFill>
            <a:srgbClr val="D9F0FC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Parallélogramme 2">
            <a:extLst>
              <a:ext uri="{FF2B5EF4-FFF2-40B4-BE49-F238E27FC236}">
                <a16:creationId xmlns:a16="http://schemas.microsoft.com/office/drawing/2014/main" id="{D5A2E901-C8F5-491A-BA0E-E63D5E12AC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" cy="5143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1DBBF9A6-C47C-4C9F-BD40-1F3F182B1E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3238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FB429D9F-2E3A-4990-A377-EA35AEBAE397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952500" cy="6667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200488A2-57F6-4F50-831A-D0987C20DF1F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819150" cy="4381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303A7F8B-8DC0-4F95-AB05-E6C394897174}"/>
              </a:ext>
            </a:extLst>
          </p:cNvPr>
          <p:cNvSpPr>
            <a:spLocks noGrp="1"/>
          </p:cNvSpPr>
          <p:nvPr/>
        </p:nvSpPr>
        <p:spPr>
          <a:xfrm>
            <a:off x="9658350" y="28575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492994A-E8AE-4E11-981C-EDE94D1F579A}"/>
              </a:ext>
            </a:extLst>
          </p:cNvPr>
          <p:cNvSpPr>
            <a:spLocks noGrp="1"/>
          </p:cNvSpPr>
          <p:nvPr/>
        </p:nvSpPr>
        <p:spPr>
          <a:xfrm>
            <a:off x="9753600" y="323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APPRENTISSAGE</a:t>
            </a: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CAB1CE7E-A5EC-4D79-AE64-0138D50DC7F1}"/>
              </a:ext>
            </a:extLst>
          </p:cNvPr>
          <p:cNvSpPr>
            <a:spLocks noGrp="1"/>
          </p:cNvSpPr>
          <p:nvPr/>
        </p:nvSpPr>
        <p:spPr>
          <a:xfrm>
            <a:off x="838200" y="6400800"/>
            <a:ext cx="10363200" cy="0"/>
          </a:xfrm>
          <a:prstGeom prst="line">
            <a:avLst/>
          </a:prstGeom>
          <a:noFill/>
          <a:ln w="13335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03AA00-99E9-4650-A20A-6D9C94C6BEC1}"/>
              </a:ext>
            </a:extLst>
          </p:cNvPr>
          <p:cNvSpPr>
            <a:spLocks noGrp="1"/>
          </p:cNvSpPr>
          <p:nvPr/>
        </p:nvSpPr>
        <p:spPr>
          <a:xfrm>
            <a:off x="11220450" y="619125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07</a:t>
            </a:r>
          </a:p>
        </p:txBody>
      </p:sp>
      <p:sp>
        <p:nvSpPr>
          <p:cNvPr id="11" name="slide-title">
            <a:extLst>
              <a:ext uri="{FF2B5EF4-FFF2-40B4-BE49-F238E27FC236}">
                <a16:creationId xmlns:a16="http://schemas.microsoft.com/office/drawing/2014/main" id="{937DEAF2-03E1-4412-B67D-5455ADB64330}"/>
              </a:ext>
            </a:extLst>
          </p:cNvPr>
          <p:cNvSpPr>
            <a:spLocks noGrp="1"/>
          </p:cNvSpPr>
          <p:nvPr/>
        </p:nvSpPr>
        <p:spPr>
          <a:xfrm>
            <a:off x="1066800" y="74295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0B2A53"/>
                </a:solidFill>
              </a:defRPr>
            </a:pPr>
            <a:r>
              <a:rPr sz="2850" b="1" i="0">
                <a:solidFill>
                  <a:srgbClr val="0B2A53"/>
                </a:solidFill>
              </a:rPr>
              <a:t>Chaque correction enrichit la mémoire du système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4E501D-2928-4959-8B6A-F27C2DBE9767}"/>
              </a:ext>
            </a:extLst>
          </p:cNvPr>
          <p:cNvSpPr>
            <a:spLocks noGrp="1"/>
          </p:cNvSpPr>
          <p:nvPr/>
        </p:nvSpPr>
        <p:spPr>
          <a:xfrm>
            <a:off x="1066800" y="1304925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C6B7E"/>
                </a:solidFill>
              </a:defRPr>
            </a:pPr>
            <a:r>
              <a:rPr sz="1275" b="0" i="0">
                <a:solidFill>
                  <a:srgbClr val="5C6B7E"/>
                </a:solidFill>
              </a:rPr>
              <a:t>L'utilisateur reste maître du classement et enrichit l'historique au fil des usages.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3BC831-49BB-4318-B320-293C049BDFB7}"/>
              </a:ext>
            </a:extLst>
          </p:cNvPr>
          <p:cNvSpPr>
            <a:spLocks noGrp="1"/>
          </p:cNvSpPr>
          <p:nvPr/>
        </p:nvSpPr>
        <p:spPr>
          <a:xfrm>
            <a:off x="1066800" y="20764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245EA8"/>
                </a:solidFill>
              </a:defRPr>
            </a:pPr>
            <a:r>
              <a:rPr sz="1275" b="1" i="0">
                <a:solidFill>
                  <a:srgbClr val="245EA8"/>
                </a:solidFill>
              </a:rPr>
              <a:t>MODE AUTO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8D4E89-F41D-43CC-B8A8-6B39D41A6B89}"/>
              </a:ext>
            </a:extLst>
          </p:cNvPr>
          <p:cNvSpPr>
            <a:spLocks noGrp="1"/>
          </p:cNvSpPr>
          <p:nvPr/>
        </p:nvSpPr>
        <p:spPr>
          <a:xfrm>
            <a:off x="1066800" y="2495550"/>
            <a:ext cx="4095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500" b="0" i="0">
                <a:solidFill>
                  <a:srgbClr val="24364B"/>
                </a:solidFill>
              </a:defRPr>
            </a:pPr>
            <a:r>
              <a:rPr sz="1500" b="0" i="0">
                <a:solidFill>
                  <a:srgbClr val="24364B"/>
                </a:solidFill>
              </a:rPr>
              <a:t>Le watcher déclenche organize() et déplace le fichier selon la décision calculée.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5B53AC-B484-41CC-BB5D-699BAEC15BB7}"/>
              </a:ext>
            </a:extLst>
          </p:cNvPr>
          <p:cNvSpPr>
            <a:spLocks noGrp="1"/>
          </p:cNvSpPr>
          <p:nvPr/>
        </p:nvSpPr>
        <p:spPr>
          <a:xfrm>
            <a:off x="1066800" y="34099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5C6B7E"/>
                </a:solidFill>
              </a:defRPr>
            </a:pPr>
            <a:r>
              <a:rPr sz="1125" b="1" i="0">
                <a:solidFill>
                  <a:srgbClr val="5C6B7E"/>
                </a:solidFill>
              </a:rPr>
              <a:t>Usage adapté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E0C8BD-8546-438C-B3AA-6AFF1D39BC1F}"/>
              </a:ext>
            </a:extLst>
          </p:cNvPr>
          <p:cNvSpPr>
            <a:spLocks noGrp="1"/>
          </p:cNvSpPr>
          <p:nvPr/>
        </p:nvSpPr>
        <p:spPr>
          <a:xfrm>
            <a:off x="1066800" y="3714750"/>
            <a:ext cx="4095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C6B7E"/>
                </a:solidFill>
              </a:defRPr>
            </a:pPr>
            <a:r>
              <a:rPr sz="1275" b="0" i="0">
                <a:solidFill>
                  <a:srgbClr val="5C6B7E"/>
                </a:solidFill>
              </a:rPr>
              <a:t>Traitement continu lorsque les règles et catégories sont stabilisées.</a:t>
            </a:r>
          </a:p>
        </p:txBody>
      </p:sp>
      <p:sp>
        <p:nvSpPr>
          <p:cNvPr id="17" name="Connecteur droit 16">
            <a:extLst>
              <a:ext uri="{FF2B5EF4-FFF2-40B4-BE49-F238E27FC236}">
                <a16:creationId xmlns:a16="http://schemas.microsoft.com/office/drawing/2014/main" id="{2DB8B1BA-B2F9-42E2-937F-B7FF5E31DC75}"/>
              </a:ext>
            </a:extLst>
          </p:cNvPr>
          <p:cNvSpPr>
            <a:spLocks noGrp="1"/>
          </p:cNvSpPr>
          <p:nvPr/>
        </p:nvSpPr>
        <p:spPr>
          <a:xfrm>
            <a:off x="5810250" y="1952625"/>
            <a:ext cx="0" cy="3619500"/>
          </a:xfrm>
          <a:prstGeom prst="line">
            <a:avLst/>
          </a:prstGeom>
          <a:noFill/>
          <a:ln w="19050">
            <a:solidFill>
              <a:srgbClr val="A9C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EB255FC-FB8C-4563-B52B-85E25691CCDB}"/>
              </a:ext>
            </a:extLst>
          </p:cNvPr>
          <p:cNvSpPr>
            <a:spLocks noGrp="1"/>
          </p:cNvSpPr>
          <p:nvPr/>
        </p:nvSpPr>
        <p:spPr>
          <a:xfrm>
            <a:off x="6286500" y="20764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1" i="0">
                <a:solidFill>
                  <a:srgbClr val="20A8CF"/>
                </a:solidFill>
              </a:defRPr>
            </a:pPr>
            <a:r>
              <a:rPr sz="1275" b="1" i="0">
                <a:solidFill>
                  <a:srgbClr val="20A8CF"/>
                </a:solidFill>
              </a:rPr>
              <a:t>MODE INTERACTIF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A93898A-DBE8-4D32-838B-BDDF4CB86F41}"/>
              </a:ext>
            </a:extLst>
          </p:cNvPr>
          <p:cNvSpPr>
            <a:spLocks noGrp="1"/>
          </p:cNvSpPr>
          <p:nvPr/>
        </p:nvSpPr>
        <p:spPr>
          <a:xfrm>
            <a:off x="6286500" y="2600325"/>
            <a:ext cx="285750" cy="285750"/>
          </a:xfrm>
          <a:prstGeom prst="rect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F6F5D4D-282D-4E91-BADD-82CE0590893A}"/>
              </a:ext>
            </a:extLst>
          </p:cNvPr>
          <p:cNvSpPr>
            <a:spLocks noGrp="1"/>
          </p:cNvSpPr>
          <p:nvPr/>
        </p:nvSpPr>
        <p:spPr>
          <a:xfrm>
            <a:off x="6286500" y="2619375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A48F7C-10CF-4F04-BB5B-AF748D7396C3}"/>
              </a:ext>
            </a:extLst>
          </p:cNvPr>
          <p:cNvSpPr>
            <a:spLocks noGrp="1"/>
          </p:cNvSpPr>
          <p:nvPr/>
        </p:nvSpPr>
        <p:spPr>
          <a:xfrm>
            <a:off x="6705600" y="2571750"/>
            <a:ext cx="3867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 i="0">
                <a:solidFill>
                  <a:srgbClr val="0B2A53"/>
                </a:solidFill>
              </a:defRPr>
            </a:pPr>
            <a:r>
              <a:rPr sz="1425" b="1" i="0">
                <a:solidFill>
                  <a:srgbClr val="0B2A53"/>
                </a:solidFill>
              </a:rPr>
              <a:t>Proposition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9DFC26C-3D1F-4218-8C77-B6DE0CD27C96}"/>
              </a:ext>
            </a:extLst>
          </p:cNvPr>
          <p:cNvSpPr>
            <a:spLocks noGrp="1"/>
          </p:cNvSpPr>
          <p:nvPr/>
        </p:nvSpPr>
        <p:spPr>
          <a:xfrm>
            <a:off x="6705600" y="2876550"/>
            <a:ext cx="3867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5C6B7E"/>
                </a:solidFill>
              </a:defRPr>
            </a:pPr>
            <a:r>
              <a:rPr sz="1125" b="0" i="0">
                <a:solidFill>
                  <a:srgbClr val="5C6B7E"/>
                </a:solidFill>
              </a:rPr>
              <a:t>Le système affiche catégorie et sous-catégorie détectées.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CD00B4B-6A86-4681-B98F-F11CB2F542C8}"/>
              </a:ext>
            </a:extLst>
          </p:cNvPr>
          <p:cNvSpPr>
            <a:spLocks noGrp="1"/>
          </p:cNvSpPr>
          <p:nvPr/>
        </p:nvSpPr>
        <p:spPr>
          <a:xfrm>
            <a:off x="6286500" y="3552825"/>
            <a:ext cx="285750" cy="285750"/>
          </a:xfrm>
          <a:prstGeom prst="rect">
            <a:avLst/>
          </a:prstGeom>
          <a:solidFill>
            <a:srgbClr val="20A8CF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9657B79-0438-4EA1-B0B3-8F2229D192B0}"/>
              </a:ext>
            </a:extLst>
          </p:cNvPr>
          <p:cNvSpPr>
            <a:spLocks noGrp="1"/>
          </p:cNvSpPr>
          <p:nvPr/>
        </p:nvSpPr>
        <p:spPr>
          <a:xfrm>
            <a:off x="6286500" y="3571875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8DC1DB8-980B-4318-B9D4-62813A6A252C}"/>
              </a:ext>
            </a:extLst>
          </p:cNvPr>
          <p:cNvSpPr>
            <a:spLocks noGrp="1"/>
          </p:cNvSpPr>
          <p:nvPr/>
        </p:nvSpPr>
        <p:spPr>
          <a:xfrm>
            <a:off x="6705600" y="3524250"/>
            <a:ext cx="3867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 i="0">
                <a:solidFill>
                  <a:srgbClr val="0B2A53"/>
                </a:solidFill>
              </a:defRPr>
            </a:pPr>
            <a:r>
              <a:rPr sz="1425" b="1" i="0">
                <a:solidFill>
                  <a:srgbClr val="0B2A53"/>
                </a:solidFill>
              </a:rPr>
              <a:t>Confirmation ou correction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B4D9DFF-25D1-4D7C-9D3C-62FD95CEA7C4}"/>
              </a:ext>
            </a:extLst>
          </p:cNvPr>
          <p:cNvSpPr>
            <a:spLocks noGrp="1"/>
          </p:cNvSpPr>
          <p:nvPr/>
        </p:nvSpPr>
        <p:spPr>
          <a:xfrm>
            <a:off x="6705600" y="3829050"/>
            <a:ext cx="3867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5C6B7E"/>
                </a:solidFill>
              </a:defRPr>
            </a:pPr>
            <a:r>
              <a:rPr sz="1125" b="0" i="0">
                <a:solidFill>
                  <a:srgbClr val="5C6B7E"/>
                </a:solidFill>
              </a:rPr>
              <a:t>L'utilisateur accepte ou saisit une nouvelle catégorie.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0BCC0A-03A1-42FF-AE81-517F83549224}"/>
              </a:ext>
            </a:extLst>
          </p:cNvPr>
          <p:cNvSpPr>
            <a:spLocks noGrp="1"/>
          </p:cNvSpPr>
          <p:nvPr/>
        </p:nvSpPr>
        <p:spPr>
          <a:xfrm>
            <a:off x="6286500" y="4505325"/>
            <a:ext cx="285750" cy="285750"/>
          </a:xfrm>
          <a:prstGeom prst="rect">
            <a:avLst/>
          </a:prstGeom>
          <a:solidFill>
            <a:srgbClr val="3E946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DB1725C-4F06-494D-A495-A37E96A81D3C}"/>
              </a:ext>
            </a:extLst>
          </p:cNvPr>
          <p:cNvSpPr>
            <a:spLocks noGrp="1"/>
          </p:cNvSpPr>
          <p:nvPr/>
        </p:nvSpPr>
        <p:spPr>
          <a:xfrm>
            <a:off x="6286500" y="4524375"/>
            <a:ext cx="285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 i="0">
                <a:solidFill>
                  <a:srgbClr val="FFFFFF"/>
                </a:solidFill>
              </a:defRPr>
            </a:pPr>
            <a:r>
              <a:rPr sz="112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9926CD-3E43-408F-892D-3E2DD469A457}"/>
              </a:ext>
            </a:extLst>
          </p:cNvPr>
          <p:cNvSpPr>
            <a:spLocks noGrp="1"/>
          </p:cNvSpPr>
          <p:nvPr/>
        </p:nvSpPr>
        <p:spPr>
          <a:xfrm>
            <a:off x="6705600" y="4476750"/>
            <a:ext cx="3867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1" i="0">
                <a:solidFill>
                  <a:srgbClr val="0B2A53"/>
                </a:solidFill>
              </a:defRPr>
            </a:pPr>
            <a:r>
              <a:rPr sz="1425" b="1" i="0">
                <a:solidFill>
                  <a:srgbClr val="0B2A53"/>
                </a:solidFill>
              </a:rPr>
              <a:t>Mémorisation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5D6FE9C-94B2-4D77-BD65-18C7184849DA}"/>
              </a:ext>
            </a:extLst>
          </p:cNvPr>
          <p:cNvSpPr>
            <a:spLocks noGrp="1"/>
          </p:cNvSpPr>
          <p:nvPr/>
        </p:nvSpPr>
        <p:spPr>
          <a:xfrm>
            <a:off x="6705600" y="4781550"/>
            <a:ext cx="38671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5C6B7E"/>
                </a:solidFill>
              </a:defRPr>
            </a:pPr>
            <a:r>
              <a:rPr sz="1125" b="0" i="0">
                <a:solidFill>
                  <a:srgbClr val="5C6B7E"/>
                </a:solidFill>
              </a:rPr>
              <a:t>La décision, les mots-clés et le statut corrigé sont ajoutés à learning.json.</a:t>
            </a:r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C073409B-FFC9-4B6E-AC95-B52B459839AF}"/>
              </a:ext>
            </a:extLst>
          </p:cNvPr>
          <p:cNvSpPr>
            <a:spLocks noGrp="1"/>
          </p:cNvSpPr>
          <p:nvPr/>
        </p:nvSpPr>
        <p:spPr>
          <a:xfrm>
            <a:off x="1066800" y="4953000"/>
            <a:ext cx="4095750" cy="685800"/>
          </a:xfrm>
          <a:prstGeom prst="roundRect">
            <a:avLst>
              <a:gd name="adj" fmla="val 16667"/>
            </a:avLst>
          </a:prstGeom>
          <a:solidFill>
            <a:srgbClr val="E1F4FB"/>
          </a:solidFill>
          <a:ln w="9525">
            <a:solidFill>
              <a:srgbClr val="20A8CF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8C26431-18AE-41A2-8BEC-D430BA664BBF}"/>
              </a:ext>
            </a:extLst>
          </p:cNvPr>
          <p:cNvSpPr>
            <a:spLocks noGrp="1"/>
          </p:cNvSpPr>
          <p:nvPr/>
        </p:nvSpPr>
        <p:spPr>
          <a:xfrm>
            <a:off x="1295400" y="5114925"/>
            <a:ext cx="87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1" i="0">
                <a:solidFill>
                  <a:srgbClr val="0B2A53"/>
                </a:solidFill>
              </a:defRPr>
            </a:pPr>
            <a:r>
              <a:rPr sz="1200" b="1" i="0">
                <a:solidFill>
                  <a:srgbClr val="0B2A53"/>
                </a:solidFill>
              </a:rPr>
              <a:t>Principe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2612505-8C39-408D-904E-EEBA10BF6C14}"/>
              </a:ext>
            </a:extLst>
          </p:cNvPr>
          <p:cNvSpPr>
            <a:spLocks noGrp="1"/>
          </p:cNvSpPr>
          <p:nvPr/>
        </p:nvSpPr>
        <p:spPr>
          <a:xfrm>
            <a:off x="2190750" y="5067300"/>
            <a:ext cx="2714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364B"/>
                </a:solidFill>
              </a:defRPr>
            </a:pPr>
            <a:r>
              <a:rPr sz="1200" b="0" i="0">
                <a:solidFill>
                  <a:srgbClr val="24364B"/>
                </a:solidFill>
              </a:rPr>
              <a:t>Une correction devient une règle réutilisable, sans réentraîner le LLM.</a:t>
            </a:r>
          </a:p>
        </p:txBody>
      </p:sp>
    </p:spTree>
    <p:extLst>
      <p:ext uri="{BB962C8B-B14F-4D97-AF65-F5344CB8AC3E}">
        <p14:creationId xmlns:p14="http://schemas.microsoft.com/office/powerpoint/2010/main" val="89471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533A4207-228C-4481-95C5-4F092F52B3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28A53EF-B1F5-414C-B555-57ABABFBBAAA}"/>
              </a:ext>
            </a:extLst>
          </p:cNvPr>
          <p:cNvSpPr>
            <a:spLocks noGrp="1"/>
          </p:cNvSpPr>
          <p:nvPr/>
        </p:nvSpPr>
        <p:spPr>
          <a:xfrm>
            <a:off x="7429500" y="0"/>
            <a:ext cx="4762500" cy="6858000"/>
          </a:xfrm>
          <a:prstGeom prst="rect">
            <a:avLst/>
          </a:prstGeom>
          <a:solidFill>
            <a:srgbClr val="D9F0FC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Parallélogramme 2">
            <a:extLst>
              <a:ext uri="{FF2B5EF4-FFF2-40B4-BE49-F238E27FC236}">
                <a16:creationId xmlns:a16="http://schemas.microsoft.com/office/drawing/2014/main" id="{7595E13A-5810-4F80-A5B5-6227FA7813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" cy="5143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8DDD8806-0CD2-4FC2-A886-3FC356360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3238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24AED427-CEE1-4648-87DE-EC44FD7E181E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952500" cy="6667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714B8C98-E27C-4A85-9F9B-79DD7214B9A1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819150" cy="4381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ED5B5F7-88E3-41F0-8B6C-643B7DBC2E53}"/>
              </a:ext>
            </a:extLst>
          </p:cNvPr>
          <p:cNvSpPr>
            <a:spLocks noGrp="1"/>
          </p:cNvSpPr>
          <p:nvPr/>
        </p:nvSpPr>
        <p:spPr>
          <a:xfrm>
            <a:off x="9658350" y="28575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690E40-0E23-4043-AB0A-45472B755236}"/>
              </a:ext>
            </a:extLst>
          </p:cNvPr>
          <p:cNvSpPr>
            <a:spLocks noGrp="1"/>
          </p:cNvSpPr>
          <p:nvPr/>
        </p:nvSpPr>
        <p:spPr>
          <a:xfrm>
            <a:off x="9753600" y="323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IMPLÉMENTATION</a:t>
            </a: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5820C9A7-4C03-476C-B362-DDC9DFCDACF6}"/>
              </a:ext>
            </a:extLst>
          </p:cNvPr>
          <p:cNvSpPr>
            <a:spLocks noGrp="1"/>
          </p:cNvSpPr>
          <p:nvPr/>
        </p:nvSpPr>
        <p:spPr>
          <a:xfrm>
            <a:off x="838200" y="6400800"/>
            <a:ext cx="10363200" cy="0"/>
          </a:xfrm>
          <a:prstGeom prst="line">
            <a:avLst/>
          </a:prstGeom>
          <a:noFill/>
          <a:ln w="13335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338867-1711-4F08-9859-801DFD9E098F}"/>
              </a:ext>
            </a:extLst>
          </p:cNvPr>
          <p:cNvSpPr>
            <a:spLocks noGrp="1"/>
          </p:cNvSpPr>
          <p:nvPr/>
        </p:nvSpPr>
        <p:spPr>
          <a:xfrm>
            <a:off x="11220450" y="619125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08</a:t>
            </a:r>
          </a:p>
        </p:txBody>
      </p:sp>
      <p:sp>
        <p:nvSpPr>
          <p:cNvPr id="11" name="slide-title">
            <a:extLst>
              <a:ext uri="{FF2B5EF4-FFF2-40B4-BE49-F238E27FC236}">
                <a16:creationId xmlns:a16="http://schemas.microsoft.com/office/drawing/2014/main" id="{66F3FA95-2F4C-4E69-A620-C2578B61B0CA}"/>
              </a:ext>
            </a:extLst>
          </p:cNvPr>
          <p:cNvSpPr>
            <a:spLocks noGrp="1"/>
          </p:cNvSpPr>
          <p:nvPr/>
        </p:nvSpPr>
        <p:spPr>
          <a:xfrm>
            <a:off x="1066800" y="74295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0B2A53"/>
                </a:solidFill>
              </a:defRPr>
            </a:pPr>
            <a:r>
              <a:rPr sz="2850" b="1" i="0">
                <a:solidFill>
                  <a:srgbClr val="0B2A53"/>
                </a:solidFill>
              </a:rPr>
              <a:t>Un socle Python modulaire et configurable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DEDA888-FE58-4539-8318-03E4DC5375CE}"/>
              </a:ext>
            </a:extLst>
          </p:cNvPr>
          <p:cNvSpPr>
            <a:spLocks noGrp="1"/>
          </p:cNvSpPr>
          <p:nvPr/>
        </p:nvSpPr>
        <p:spPr>
          <a:xfrm>
            <a:off x="1066800" y="1304925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C6B7E"/>
                </a:solidFill>
              </a:defRPr>
            </a:pPr>
            <a:r>
              <a:rPr sz="1275" b="0" i="0">
                <a:solidFill>
                  <a:srgbClr val="5C6B7E"/>
                </a:solidFill>
              </a:rPr>
              <a:t>Les responsabilités sont séparées entre orchestration, lecture, surveillance et mémoire.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ACE26F-8DB3-4944-9255-B87ABA515887}"/>
              </a:ext>
            </a:extLst>
          </p:cNvPr>
          <p:cNvSpPr>
            <a:spLocks noGrp="1"/>
          </p:cNvSpPr>
          <p:nvPr/>
        </p:nvSpPr>
        <p:spPr>
          <a:xfrm>
            <a:off x="1066800" y="19812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5EA8"/>
                </a:solidFill>
              </a:defRPr>
            </a:pPr>
            <a:r>
              <a:rPr sz="1050" b="1" i="0">
                <a:solidFill>
                  <a:srgbClr val="245EA8"/>
                </a:solidFill>
              </a:rPr>
              <a:t>STRUCTURE DU PROJET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C5E8CDB7-493A-4248-9EB5-5BA152DFB6F4}"/>
              </a:ext>
            </a:extLst>
          </p:cNvPr>
          <p:cNvSpPr>
            <a:spLocks noGrp="1"/>
          </p:cNvSpPr>
          <p:nvPr/>
        </p:nvSpPr>
        <p:spPr>
          <a:xfrm>
            <a:off x="1066800" y="2343150"/>
            <a:ext cx="4286250" cy="2952750"/>
          </a:xfrm>
          <a:prstGeom prst="roundRect">
            <a:avLst>
              <a:gd name="adj" fmla="val 3871"/>
            </a:avLst>
          </a:prstGeom>
          <a:solidFill>
            <a:srgbClr val="0E2741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EBEF2D4-F3E9-431B-928C-9062CFECBB1A}"/>
              </a:ext>
            </a:extLst>
          </p:cNvPr>
          <p:cNvSpPr>
            <a:spLocks noGrp="1"/>
          </p:cNvSpPr>
          <p:nvPr/>
        </p:nvSpPr>
        <p:spPr>
          <a:xfrm>
            <a:off x="1333500" y="2571750"/>
            <a:ext cx="3714750" cy="2438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D7F1FF"/>
                </a:solidFill>
              </a:defRPr>
            </a:pPr>
            <a:r>
              <a:rPr sz="1275" b="0" i="0" dirty="0" err="1">
                <a:solidFill>
                  <a:srgbClr val="D7F1FF"/>
                </a:solidFill>
              </a:rPr>
              <a:t>FileSorter</a:t>
            </a:r>
            <a:r>
              <a:rPr sz="1275" b="0" i="0" dirty="0">
                <a:solidFill>
                  <a:srgbClr val="D7F1FF"/>
                </a:solidFill>
              </a:rPr>
              <a:t>/</a:t>
            </a:r>
          </a:p>
          <a:p>
            <a:pPr algn="l">
              <a:defRPr sz="1275" b="0" i="0">
                <a:solidFill>
                  <a:srgbClr val="D7F1FF"/>
                </a:solidFill>
              </a:defRPr>
            </a:pPr>
            <a:r>
              <a:rPr sz="1275" b="0" i="0" dirty="0">
                <a:solidFill>
                  <a:srgbClr val="D7F1FF"/>
                </a:solidFill>
              </a:rPr>
              <a:t>  README.md</a:t>
            </a:r>
          </a:p>
          <a:p>
            <a:pPr algn="l">
              <a:defRPr sz="1275" b="0" i="0">
                <a:solidFill>
                  <a:srgbClr val="D7F1FF"/>
                </a:solidFill>
              </a:defRPr>
            </a:pPr>
            <a:r>
              <a:rPr sz="1275" b="0" i="0" dirty="0">
                <a:solidFill>
                  <a:srgbClr val="D7F1FF"/>
                </a:solidFill>
              </a:rPr>
              <a:t>  requirements.txt</a:t>
            </a:r>
          </a:p>
          <a:p>
            <a:pPr algn="l">
              <a:defRPr sz="1275" b="0" i="0">
                <a:solidFill>
                  <a:srgbClr val="D7F1FF"/>
                </a:solidFill>
              </a:defRPr>
            </a:pPr>
            <a:r>
              <a:rPr sz="1275" b="0" i="0" dirty="0">
                <a:solidFill>
                  <a:srgbClr val="D7F1FF"/>
                </a:solidFill>
              </a:rPr>
              <a:t>  </a:t>
            </a:r>
            <a:r>
              <a:rPr sz="1275" b="0" i="0" dirty="0" err="1">
                <a:solidFill>
                  <a:srgbClr val="D7F1FF"/>
                </a:solidFill>
              </a:rPr>
              <a:t>src</a:t>
            </a:r>
            <a:r>
              <a:rPr sz="1275" b="0" i="0" dirty="0">
                <a:solidFill>
                  <a:srgbClr val="D7F1FF"/>
                </a:solidFill>
              </a:rPr>
              <a:t>/</a:t>
            </a:r>
          </a:p>
          <a:p>
            <a:pPr algn="l">
              <a:defRPr sz="1275" b="0" i="0">
                <a:solidFill>
                  <a:srgbClr val="D7F1FF"/>
                </a:solidFill>
              </a:defRPr>
            </a:pPr>
            <a:r>
              <a:rPr sz="1275" b="0" i="0" dirty="0">
                <a:solidFill>
                  <a:srgbClr val="D7F1FF"/>
                </a:solidFill>
              </a:rPr>
              <a:t>    config.py</a:t>
            </a:r>
          </a:p>
          <a:p>
            <a:pPr algn="l">
              <a:defRPr sz="1275" b="0" i="0">
                <a:solidFill>
                  <a:srgbClr val="D7F1FF"/>
                </a:solidFill>
              </a:defRPr>
            </a:pPr>
            <a:r>
              <a:rPr sz="1275" b="0" i="0" dirty="0">
                <a:solidFill>
                  <a:srgbClr val="D7F1FF"/>
                </a:solidFill>
              </a:rPr>
              <a:t>    script.py</a:t>
            </a:r>
          </a:p>
          <a:p>
            <a:pPr algn="l">
              <a:defRPr sz="1275" b="0" i="0">
                <a:solidFill>
                  <a:srgbClr val="D7F1FF"/>
                </a:solidFill>
              </a:defRPr>
            </a:pPr>
            <a:r>
              <a:rPr sz="1275" b="0" i="0" dirty="0">
                <a:solidFill>
                  <a:srgbClr val="D7F1FF"/>
                </a:solidFill>
              </a:rPr>
              <a:t>    watcher.py</a:t>
            </a:r>
          </a:p>
          <a:p>
            <a:pPr algn="l">
              <a:defRPr sz="1275" b="0" i="0">
                <a:solidFill>
                  <a:srgbClr val="D7F1FF"/>
                </a:solidFill>
              </a:defRPr>
            </a:pPr>
            <a:r>
              <a:rPr sz="1275" b="0" i="0" dirty="0">
                <a:solidFill>
                  <a:srgbClr val="D7F1FF"/>
                </a:solidFill>
              </a:rPr>
              <a:t>    utils/</a:t>
            </a:r>
          </a:p>
          <a:p>
            <a:pPr algn="l">
              <a:defRPr sz="1275" b="0" i="0">
                <a:solidFill>
                  <a:srgbClr val="D7F1FF"/>
                </a:solidFill>
              </a:defRPr>
            </a:pPr>
            <a:r>
              <a:rPr sz="1275" b="0" i="0" dirty="0">
                <a:solidFill>
                  <a:srgbClr val="D7F1FF"/>
                </a:solidFill>
              </a:rPr>
              <a:t>      file_reader.py</a:t>
            </a:r>
          </a:p>
          <a:p>
            <a:pPr algn="l">
              <a:defRPr sz="1275" b="0" i="0">
                <a:solidFill>
                  <a:srgbClr val="D7F1FF"/>
                </a:solidFill>
              </a:defRPr>
            </a:pPr>
            <a:r>
              <a:rPr sz="1275" b="0" i="0" dirty="0">
                <a:solidFill>
                  <a:srgbClr val="D7F1FF"/>
                </a:solidFill>
              </a:rPr>
              <a:t>      learning.py</a:t>
            </a:r>
          </a:p>
          <a:p>
            <a:pPr algn="l">
              <a:defRPr sz="1275" b="0" i="0">
                <a:solidFill>
                  <a:srgbClr val="D7F1FF"/>
                </a:solidFill>
              </a:defRPr>
            </a:pPr>
            <a:r>
              <a:rPr sz="1275" b="0" i="0" dirty="0">
                <a:solidFill>
                  <a:srgbClr val="D7F1FF"/>
                </a:solidFill>
              </a:rPr>
              <a:t>  data/</a:t>
            </a:r>
          </a:p>
          <a:p>
            <a:pPr algn="l">
              <a:defRPr sz="1275" b="0" i="0">
                <a:solidFill>
                  <a:srgbClr val="D7F1FF"/>
                </a:solidFill>
              </a:defRPr>
            </a:pPr>
            <a:r>
              <a:rPr sz="1275" b="0" i="0" dirty="0">
                <a:solidFill>
                  <a:srgbClr val="D7F1FF"/>
                </a:solidFill>
              </a:rPr>
              <a:t>    </a:t>
            </a:r>
            <a:r>
              <a:rPr lang="fr-FR" sz="1275" b="0" i="0" dirty="0" err="1">
                <a:solidFill>
                  <a:srgbClr val="D7F1FF"/>
                </a:solidFill>
              </a:rPr>
              <a:t>learning,json</a:t>
            </a:r>
            <a:endParaRPr sz="1275" b="0" i="0" dirty="0">
              <a:solidFill>
                <a:srgbClr val="D7F1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D9BF65-A66D-4961-9574-C9FEF5D17F07}"/>
              </a:ext>
            </a:extLst>
          </p:cNvPr>
          <p:cNvSpPr>
            <a:spLocks noGrp="1"/>
          </p:cNvSpPr>
          <p:nvPr/>
        </p:nvSpPr>
        <p:spPr>
          <a:xfrm>
            <a:off x="6191250" y="19812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050" b="1" i="0">
                <a:solidFill>
                  <a:srgbClr val="245EA8"/>
                </a:solidFill>
              </a:defRPr>
            </a:pPr>
            <a:r>
              <a:rPr sz="1050" b="1" i="0">
                <a:solidFill>
                  <a:srgbClr val="245EA8"/>
                </a:solidFill>
              </a:rPr>
              <a:t>PARAMÈTRES CENTRAUX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37B19EA-DFF3-4FFD-9040-386CA218D252}"/>
              </a:ext>
            </a:extLst>
          </p:cNvPr>
          <p:cNvSpPr>
            <a:spLocks noGrp="1"/>
          </p:cNvSpPr>
          <p:nvPr/>
        </p:nvSpPr>
        <p:spPr>
          <a:xfrm>
            <a:off x="6191250" y="24003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0B2A53"/>
                </a:solidFill>
              </a:defRPr>
            </a:pPr>
            <a:r>
              <a:rPr sz="1125" b="1" i="0">
                <a:solidFill>
                  <a:srgbClr val="0B2A53"/>
                </a:solidFill>
              </a:rPr>
              <a:t>SOURCE / DEST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ADB600D-FB63-488C-ACFF-79D8C7A6A005}"/>
              </a:ext>
            </a:extLst>
          </p:cNvPr>
          <p:cNvSpPr>
            <a:spLocks noGrp="1"/>
          </p:cNvSpPr>
          <p:nvPr/>
        </p:nvSpPr>
        <p:spPr>
          <a:xfrm>
            <a:off x="8324850" y="24003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24364B"/>
                </a:solidFill>
              </a:defRPr>
            </a:pPr>
            <a:r>
              <a:rPr sz="1125" b="0" i="0">
                <a:solidFill>
                  <a:srgbClr val="24364B"/>
                </a:solidFill>
              </a:rPr>
              <a:t>Chemins d'entrée et de sortie</a:t>
            </a:r>
          </a:p>
        </p:txBody>
      </p:sp>
      <p:sp>
        <p:nvSpPr>
          <p:cNvPr id="19" name="Connecteur droit 18">
            <a:extLst>
              <a:ext uri="{FF2B5EF4-FFF2-40B4-BE49-F238E27FC236}">
                <a16:creationId xmlns:a16="http://schemas.microsoft.com/office/drawing/2014/main" id="{F29B3480-678B-4D84-9F1F-FE9A66F07B7D}"/>
              </a:ext>
            </a:extLst>
          </p:cNvPr>
          <p:cNvSpPr>
            <a:spLocks noGrp="1"/>
          </p:cNvSpPr>
          <p:nvPr/>
        </p:nvSpPr>
        <p:spPr>
          <a:xfrm>
            <a:off x="6191250" y="2762250"/>
            <a:ext cx="4762500" cy="0"/>
          </a:xfrm>
          <a:prstGeom prst="line">
            <a:avLst/>
          </a:prstGeom>
          <a:noFill/>
          <a:ln w="9525">
            <a:solidFill>
              <a:srgbClr val="A9C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AA2425E-5D35-4EB9-9F73-D5A36EF980C9}"/>
              </a:ext>
            </a:extLst>
          </p:cNvPr>
          <p:cNvSpPr>
            <a:spLocks noGrp="1"/>
          </p:cNvSpPr>
          <p:nvPr/>
        </p:nvSpPr>
        <p:spPr>
          <a:xfrm>
            <a:off x="6191250" y="29146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0B2A53"/>
                </a:solidFill>
              </a:defRPr>
            </a:pPr>
            <a:r>
              <a:rPr sz="1125" b="1" i="0">
                <a:solidFill>
                  <a:srgbClr val="0B2A53"/>
                </a:solidFill>
              </a:rPr>
              <a:t>MODE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634C064-A58E-47B1-A49F-02EB1CDBA108}"/>
              </a:ext>
            </a:extLst>
          </p:cNvPr>
          <p:cNvSpPr>
            <a:spLocks noGrp="1"/>
          </p:cNvSpPr>
          <p:nvPr/>
        </p:nvSpPr>
        <p:spPr>
          <a:xfrm>
            <a:off x="8324850" y="29146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24364B"/>
                </a:solidFill>
              </a:defRPr>
            </a:pPr>
            <a:r>
              <a:rPr sz="1125" b="0" i="0">
                <a:solidFill>
                  <a:srgbClr val="24364B"/>
                </a:solidFill>
              </a:rPr>
              <a:t>auto ou interactive</a:t>
            </a:r>
          </a:p>
        </p:txBody>
      </p:sp>
      <p:sp>
        <p:nvSpPr>
          <p:cNvPr id="22" name="Connecteur droit 21">
            <a:extLst>
              <a:ext uri="{FF2B5EF4-FFF2-40B4-BE49-F238E27FC236}">
                <a16:creationId xmlns:a16="http://schemas.microsoft.com/office/drawing/2014/main" id="{0FEABF06-1793-4585-860D-CE9A98CD1F5D}"/>
              </a:ext>
            </a:extLst>
          </p:cNvPr>
          <p:cNvSpPr>
            <a:spLocks noGrp="1"/>
          </p:cNvSpPr>
          <p:nvPr/>
        </p:nvSpPr>
        <p:spPr>
          <a:xfrm>
            <a:off x="6191250" y="3276600"/>
            <a:ext cx="4762500" cy="0"/>
          </a:xfrm>
          <a:prstGeom prst="line">
            <a:avLst/>
          </a:prstGeom>
          <a:noFill/>
          <a:ln w="9525">
            <a:solidFill>
              <a:srgbClr val="A9C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86CA19-50F5-4F98-80A0-BF0176605B79}"/>
              </a:ext>
            </a:extLst>
          </p:cNvPr>
          <p:cNvSpPr>
            <a:spLocks noGrp="1"/>
          </p:cNvSpPr>
          <p:nvPr/>
        </p:nvSpPr>
        <p:spPr>
          <a:xfrm>
            <a:off x="6191250" y="34290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0B2A53"/>
                </a:solidFill>
              </a:defRPr>
            </a:pPr>
            <a:r>
              <a:rPr sz="1125" b="1" i="0">
                <a:solidFill>
                  <a:srgbClr val="0B2A53"/>
                </a:solidFill>
              </a:rPr>
              <a:t>OLLAMA_URL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ED23BF-B175-49B0-917F-02759F54A9AF}"/>
              </a:ext>
            </a:extLst>
          </p:cNvPr>
          <p:cNvSpPr>
            <a:spLocks noGrp="1"/>
          </p:cNvSpPr>
          <p:nvPr/>
        </p:nvSpPr>
        <p:spPr>
          <a:xfrm>
            <a:off x="8324850" y="34290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24364B"/>
                </a:solidFill>
              </a:defRPr>
            </a:pPr>
            <a:r>
              <a:rPr sz="1125" b="0" i="0">
                <a:solidFill>
                  <a:srgbClr val="24364B"/>
                </a:solidFill>
              </a:rPr>
              <a:t>API locale sur localhost:11434</a:t>
            </a:r>
          </a:p>
        </p:txBody>
      </p:sp>
      <p:sp>
        <p:nvSpPr>
          <p:cNvPr id="25" name="Connecteur droit 24">
            <a:extLst>
              <a:ext uri="{FF2B5EF4-FFF2-40B4-BE49-F238E27FC236}">
                <a16:creationId xmlns:a16="http://schemas.microsoft.com/office/drawing/2014/main" id="{39AFE465-48F2-4637-975C-6587479463E1}"/>
              </a:ext>
            </a:extLst>
          </p:cNvPr>
          <p:cNvSpPr>
            <a:spLocks noGrp="1"/>
          </p:cNvSpPr>
          <p:nvPr/>
        </p:nvSpPr>
        <p:spPr>
          <a:xfrm>
            <a:off x="6191250" y="3790950"/>
            <a:ext cx="4762500" cy="0"/>
          </a:xfrm>
          <a:prstGeom prst="line">
            <a:avLst/>
          </a:prstGeom>
          <a:noFill/>
          <a:ln w="9525">
            <a:solidFill>
              <a:srgbClr val="A9C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0AEABCD-A52C-4898-927E-272E54A27992}"/>
              </a:ext>
            </a:extLst>
          </p:cNvPr>
          <p:cNvSpPr>
            <a:spLocks noGrp="1"/>
          </p:cNvSpPr>
          <p:nvPr/>
        </p:nvSpPr>
        <p:spPr>
          <a:xfrm>
            <a:off x="6191250" y="39433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0B2A53"/>
                </a:solidFill>
              </a:defRPr>
            </a:pPr>
            <a:r>
              <a:rPr sz="1125" b="1" i="0">
                <a:solidFill>
                  <a:srgbClr val="0B2A53"/>
                </a:solidFill>
              </a:rPr>
              <a:t>MAX_CHARS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7F9F6A4-2416-4E7D-9864-1BBCB96D0E87}"/>
              </a:ext>
            </a:extLst>
          </p:cNvPr>
          <p:cNvSpPr>
            <a:spLocks noGrp="1"/>
          </p:cNvSpPr>
          <p:nvPr/>
        </p:nvSpPr>
        <p:spPr>
          <a:xfrm>
            <a:off x="8324850" y="39433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24364B"/>
                </a:solidFill>
              </a:defRPr>
            </a:pPr>
            <a:r>
              <a:rPr sz="1125" b="0" i="0">
                <a:solidFill>
                  <a:srgbClr val="24364B"/>
                </a:solidFill>
              </a:rPr>
              <a:t>1 500 caractères analysés</a:t>
            </a:r>
          </a:p>
        </p:txBody>
      </p:sp>
      <p:sp>
        <p:nvSpPr>
          <p:cNvPr id="28" name="Connecteur droit 27">
            <a:extLst>
              <a:ext uri="{FF2B5EF4-FFF2-40B4-BE49-F238E27FC236}">
                <a16:creationId xmlns:a16="http://schemas.microsoft.com/office/drawing/2014/main" id="{BB69A047-62CD-4347-9A84-0ACD3CA2DBE1}"/>
              </a:ext>
            </a:extLst>
          </p:cNvPr>
          <p:cNvSpPr>
            <a:spLocks noGrp="1"/>
          </p:cNvSpPr>
          <p:nvPr/>
        </p:nvSpPr>
        <p:spPr>
          <a:xfrm>
            <a:off x="6191250" y="4305300"/>
            <a:ext cx="4762500" cy="0"/>
          </a:xfrm>
          <a:prstGeom prst="line">
            <a:avLst/>
          </a:prstGeom>
          <a:noFill/>
          <a:ln w="9525">
            <a:solidFill>
              <a:srgbClr val="A9C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EECA966-7611-4F56-AB5F-A7D3A9B44D18}"/>
              </a:ext>
            </a:extLst>
          </p:cNvPr>
          <p:cNvSpPr>
            <a:spLocks noGrp="1"/>
          </p:cNvSpPr>
          <p:nvPr/>
        </p:nvSpPr>
        <p:spPr>
          <a:xfrm>
            <a:off x="6191250" y="445770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0B2A53"/>
                </a:solidFill>
              </a:defRPr>
            </a:pPr>
            <a:r>
              <a:rPr sz="1125" b="1" i="0">
                <a:solidFill>
                  <a:srgbClr val="0B2A53"/>
                </a:solidFill>
              </a:rPr>
              <a:t>PDF_PAGE_LIMIT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54E247-8A6F-4B13-B8D1-31F5339D672C}"/>
              </a:ext>
            </a:extLst>
          </p:cNvPr>
          <p:cNvSpPr>
            <a:spLocks noGrp="1"/>
          </p:cNvSpPr>
          <p:nvPr/>
        </p:nvSpPr>
        <p:spPr>
          <a:xfrm>
            <a:off x="8324850" y="445770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24364B"/>
                </a:solidFill>
              </a:defRPr>
            </a:pPr>
            <a:r>
              <a:rPr sz="1125" b="0" i="0">
                <a:solidFill>
                  <a:srgbClr val="24364B"/>
                </a:solidFill>
              </a:rPr>
              <a:t>2 pages extraites</a:t>
            </a:r>
          </a:p>
        </p:txBody>
      </p:sp>
      <p:sp>
        <p:nvSpPr>
          <p:cNvPr id="31" name="Connecteur droit 30">
            <a:extLst>
              <a:ext uri="{FF2B5EF4-FFF2-40B4-BE49-F238E27FC236}">
                <a16:creationId xmlns:a16="http://schemas.microsoft.com/office/drawing/2014/main" id="{2AB0C462-8CE6-470E-BC73-8F6AE3D0E0DB}"/>
              </a:ext>
            </a:extLst>
          </p:cNvPr>
          <p:cNvSpPr>
            <a:spLocks noGrp="1"/>
          </p:cNvSpPr>
          <p:nvPr/>
        </p:nvSpPr>
        <p:spPr>
          <a:xfrm>
            <a:off x="6191250" y="4819650"/>
            <a:ext cx="4762500" cy="0"/>
          </a:xfrm>
          <a:prstGeom prst="line">
            <a:avLst/>
          </a:prstGeom>
          <a:noFill/>
          <a:ln w="9525">
            <a:solidFill>
              <a:srgbClr val="A9C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2C93F48-AB99-40CE-A429-D8D9888B28D7}"/>
              </a:ext>
            </a:extLst>
          </p:cNvPr>
          <p:cNvSpPr>
            <a:spLocks noGrp="1"/>
          </p:cNvSpPr>
          <p:nvPr/>
        </p:nvSpPr>
        <p:spPr>
          <a:xfrm>
            <a:off x="6191250" y="4972050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0B2A53"/>
                </a:solidFill>
              </a:defRPr>
            </a:pPr>
            <a:r>
              <a:rPr sz="1125" b="1" i="0">
                <a:solidFill>
                  <a:srgbClr val="0B2A53"/>
                </a:solidFill>
              </a:rPr>
              <a:t>SUBCATEGORIES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C0A1F060-6DE9-438B-B626-AD59109866DB}"/>
              </a:ext>
            </a:extLst>
          </p:cNvPr>
          <p:cNvSpPr>
            <a:spLocks noGrp="1"/>
          </p:cNvSpPr>
          <p:nvPr/>
        </p:nvSpPr>
        <p:spPr>
          <a:xfrm>
            <a:off x="8324850" y="4972050"/>
            <a:ext cx="2762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24364B"/>
                </a:solidFill>
              </a:defRPr>
            </a:pPr>
            <a:r>
              <a:rPr sz="1125" b="0" i="0">
                <a:solidFill>
                  <a:srgbClr val="24364B"/>
                </a:solidFill>
              </a:rPr>
              <a:t>U3, U5, U7, années et types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7ECBB73-7A17-4B21-A98C-8670E7822320}"/>
              </a:ext>
            </a:extLst>
          </p:cNvPr>
          <p:cNvSpPr>
            <a:spLocks noGrp="1"/>
          </p:cNvSpPr>
          <p:nvPr/>
        </p:nvSpPr>
        <p:spPr>
          <a:xfrm>
            <a:off x="6191250" y="5638800"/>
            <a:ext cx="4762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0" i="0">
                <a:solidFill>
                  <a:srgbClr val="5C6B7E"/>
                </a:solidFill>
              </a:defRPr>
            </a:pPr>
            <a:r>
              <a:rPr sz="1125" b="0" i="0">
                <a:solidFill>
                  <a:srgbClr val="5C6B7E"/>
                </a:solidFill>
              </a:rPr>
              <a:t>Dépendances principales : requests, watchdog, pdfplumber, python-docx, openpyxl, odfpy, pytesseract, Pillow, langdetect.</a:t>
            </a:r>
          </a:p>
        </p:txBody>
      </p:sp>
    </p:spTree>
    <p:extLst>
      <p:ext uri="{BB962C8B-B14F-4D97-AF65-F5344CB8AC3E}">
        <p14:creationId xmlns:p14="http://schemas.microsoft.com/office/powerpoint/2010/main" val="118379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45BF73E9-8655-4EB6-9851-A05C56F5D5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5621B26-8D69-4F8E-A046-70C05FCC6738}"/>
              </a:ext>
            </a:extLst>
          </p:cNvPr>
          <p:cNvSpPr>
            <a:spLocks noGrp="1"/>
          </p:cNvSpPr>
          <p:nvPr/>
        </p:nvSpPr>
        <p:spPr>
          <a:xfrm>
            <a:off x="7429500" y="0"/>
            <a:ext cx="4762500" cy="6858000"/>
          </a:xfrm>
          <a:prstGeom prst="rect">
            <a:avLst/>
          </a:prstGeom>
          <a:solidFill>
            <a:srgbClr val="D9F0FC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Parallélogramme 2">
            <a:extLst>
              <a:ext uri="{FF2B5EF4-FFF2-40B4-BE49-F238E27FC236}">
                <a16:creationId xmlns:a16="http://schemas.microsoft.com/office/drawing/2014/main" id="{A580334C-05C4-4CAC-BEA5-FF0ED09D3B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" cy="5143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2BE9DA64-ABAF-40B5-8B47-7C140A90160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3238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9CFDE7C5-86C1-4DBF-B267-B9022AA16609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952500" cy="6667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42BBB38A-F52E-4C29-8858-FCBDDE8065A1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819150" cy="4381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42BED436-2477-4706-AA99-F16BE7F5D601}"/>
              </a:ext>
            </a:extLst>
          </p:cNvPr>
          <p:cNvSpPr>
            <a:spLocks noGrp="1"/>
          </p:cNvSpPr>
          <p:nvPr/>
        </p:nvSpPr>
        <p:spPr>
          <a:xfrm>
            <a:off x="9658350" y="28575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06BA31-174F-4394-8CA1-E5FB628F21A5}"/>
              </a:ext>
            </a:extLst>
          </p:cNvPr>
          <p:cNvSpPr>
            <a:spLocks noGrp="1"/>
          </p:cNvSpPr>
          <p:nvPr/>
        </p:nvSpPr>
        <p:spPr>
          <a:xfrm>
            <a:off x="9753600" y="323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AUDIT</a:t>
            </a: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852EDE67-B5AE-4370-95E8-6167A679C816}"/>
              </a:ext>
            </a:extLst>
          </p:cNvPr>
          <p:cNvSpPr>
            <a:spLocks noGrp="1"/>
          </p:cNvSpPr>
          <p:nvPr/>
        </p:nvSpPr>
        <p:spPr>
          <a:xfrm>
            <a:off x="838200" y="6400800"/>
            <a:ext cx="10363200" cy="0"/>
          </a:xfrm>
          <a:prstGeom prst="line">
            <a:avLst/>
          </a:prstGeom>
          <a:noFill/>
          <a:ln w="13335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C2E030-2AD3-4874-819B-F68C55C242A6}"/>
              </a:ext>
            </a:extLst>
          </p:cNvPr>
          <p:cNvSpPr>
            <a:spLocks noGrp="1"/>
          </p:cNvSpPr>
          <p:nvPr/>
        </p:nvSpPr>
        <p:spPr>
          <a:xfrm>
            <a:off x="11220450" y="619125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09</a:t>
            </a:r>
          </a:p>
        </p:txBody>
      </p:sp>
      <p:sp>
        <p:nvSpPr>
          <p:cNvPr id="11" name="slide-title">
            <a:extLst>
              <a:ext uri="{FF2B5EF4-FFF2-40B4-BE49-F238E27FC236}">
                <a16:creationId xmlns:a16="http://schemas.microsoft.com/office/drawing/2014/main" id="{32B5CE9E-0042-4052-84C8-E59E67BFCE07}"/>
              </a:ext>
            </a:extLst>
          </p:cNvPr>
          <p:cNvSpPr>
            <a:spLocks noGrp="1"/>
          </p:cNvSpPr>
          <p:nvPr/>
        </p:nvSpPr>
        <p:spPr>
          <a:xfrm>
            <a:off x="1066800" y="74295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0B2A53"/>
                </a:solidFill>
              </a:defRPr>
            </a:pPr>
            <a:r>
              <a:rPr sz="2850" b="1" i="0">
                <a:solidFill>
                  <a:srgbClr val="0B2A53"/>
                </a:solidFill>
              </a:rPr>
              <a:t>La robustesse passe par quatre corrections ciblées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6EDF4C-9158-4F33-84BA-500486E40D63}"/>
              </a:ext>
            </a:extLst>
          </p:cNvPr>
          <p:cNvSpPr>
            <a:spLocks noGrp="1"/>
          </p:cNvSpPr>
          <p:nvPr/>
        </p:nvSpPr>
        <p:spPr>
          <a:xfrm>
            <a:off x="1066800" y="1304925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C6B7E"/>
                </a:solidFill>
              </a:defRPr>
            </a:pPr>
            <a:r>
              <a:rPr sz="1275" b="0" i="0">
                <a:solidFill>
                  <a:srgbClr val="5C6B7E"/>
                </a:solidFill>
              </a:rPr>
              <a:t>Ces améliorations rendent le prototype plus fiable, portable et démontrable en contexte scolaire.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67F775-B7B3-4470-A3B8-96E076B1CD83}"/>
              </a:ext>
            </a:extLst>
          </p:cNvPr>
          <p:cNvSpPr>
            <a:spLocks noGrp="1"/>
          </p:cNvSpPr>
          <p:nvPr/>
        </p:nvSpPr>
        <p:spPr>
          <a:xfrm>
            <a:off x="1066800" y="2095500"/>
            <a:ext cx="76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 i="0">
                <a:solidFill>
                  <a:srgbClr val="C7554E"/>
                </a:solidFill>
              </a:defRPr>
            </a:pPr>
            <a:r>
              <a:rPr sz="3000" b="1" i="0">
                <a:solidFill>
                  <a:srgbClr val="C7554E"/>
                </a:solidFill>
              </a:rPr>
              <a:t>01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FC6EE2-2A97-4015-9029-A1299F49B0CF}"/>
              </a:ext>
            </a:extLst>
          </p:cNvPr>
          <p:cNvSpPr>
            <a:spLocks noGrp="1"/>
          </p:cNvSpPr>
          <p:nvPr/>
        </p:nvSpPr>
        <p:spPr>
          <a:xfrm>
            <a:off x="1943100" y="21336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650" b="1" i="0">
                <a:solidFill>
                  <a:srgbClr val="0B2A53"/>
                </a:solidFill>
              </a:defRPr>
            </a:pPr>
            <a:r>
              <a:rPr lang="fr-FR" sz="1650" b="1" dirty="0">
                <a:solidFill>
                  <a:srgbClr val="0B2A53"/>
                </a:solidFill>
              </a:rPr>
              <a:t>Repli vers l’IA fiabilisé</a:t>
            </a:r>
            <a:endParaRPr sz="1650" b="1" i="0" dirty="0">
              <a:solidFill>
                <a:srgbClr val="0B2A53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AC3941-7F3C-4835-B324-BFDC09E99AB3}"/>
              </a:ext>
            </a:extLst>
          </p:cNvPr>
          <p:cNvSpPr>
            <a:spLocks noGrp="1"/>
          </p:cNvSpPr>
          <p:nvPr/>
        </p:nvSpPr>
        <p:spPr>
          <a:xfrm>
            <a:off x="1943100" y="2552700"/>
            <a:ext cx="371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r>
              <a:rPr lang="fr-FR" sz="1275" dirty="0">
                <a:solidFill>
                  <a:srgbClr val="24364B"/>
                </a:solidFill>
              </a:rPr>
              <a:t>Lorsque la mémoire et les règles ne proposent aucune catégorie, </a:t>
            </a:r>
            <a:r>
              <a:rPr lang="fr-FR" sz="1275" b="1" dirty="0" err="1">
                <a:solidFill>
                  <a:srgbClr val="24364B"/>
                </a:solidFill>
              </a:rPr>
              <a:t>pre_classify</a:t>
            </a:r>
            <a:r>
              <a:rPr lang="fr-FR" sz="1275" b="1" dirty="0">
                <a:solidFill>
                  <a:srgbClr val="24364B"/>
                </a:solidFill>
              </a:rPr>
              <a:t>()</a:t>
            </a:r>
            <a:r>
              <a:rPr lang="fr-FR" sz="1275" dirty="0">
                <a:solidFill>
                  <a:srgbClr val="24364B"/>
                </a:solidFill>
              </a:rPr>
              <a:t> retourne une chaîne vide et </a:t>
            </a:r>
            <a:r>
              <a:rPr lang="fr-FR" sz="1275" b="1" dirty="0" err="1">
                <a:solidFill>
                  <a:srgbClr val="24364B"/>
                </a:solidFill>
              </a:rPr>
              <a:t>ask_ai</a:t>
            </a:r>
            <a:r>
              <a:rPr lang="fr-FR" sz="1275" b="1" dirty="0">
                <a:solidFill>
                  <a:srgbClr val="24364B"/>
                </a:solidFill>
              </a:rPr>
              <a:t>()</a:t>
            </a:r>
            <a:r>
              <a:rPr lang="fr-FR" sz="1275" dirty="0">
                <a:solidFill>
                  <a:srgbClr val="24364B"/>
                </a:solidFill>
              </a:rPr>
              <a:t> est automatiquement appelée.</a:t>
            </a:r>
          </a:p>
        </p:txBody>
      </p:sp>
      <p:sp>
        <p:nvSpPr>
          <p:cNvPr id="16" name="Connecteur droit 15">
            <a:extLst>
              <a:ext uri="{FF2B5EF4-FFF2-40B4-BE49-F238E27FC236}">
                <a16:creationId xmlns:a16="http://schemas.microsoft.com/office/drawing/2014/main" id="{0A7F688D-F936-42B0-B6BF-FB9267D1D7E4}"/>
              </a:ext>
            </a:extLst>
          </p:cNvPr>
          <p:cNvSpPr>
            <a:spLocks noGrp="1"/>
          </p:cNvSpPr>
          <p:nvPr/>
        </p:nvSpPr>
        <p:spPr>
          <a:xfrm>
            <a:off x="1066800" y="3657600"/>
            <a:ext cx="4476750" cy="0"/>
          </a:xfrm>
          <a:prstGeom prst="line">
            <a:avLst/>
          </a:prstGeom>
          <a:noFill/>
          <a:ln w="9525">
            <a:solidFill>
              <a:srgbClr val="A9C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21A03E-2723-4F1E-AD81-5D41BBDB655E}"/>
              </a:ext>
            </a:extLst>
          </p:cNvPr>
          <p:cNvSpPr>
            <a:spLocks noGrp="1"/>
          </p:cNvSpPr>
          <p:nvPr/>
        </p:nvSpPr>
        <p:spPr>
          <a:xfrm>
            <a:off x="6286500" y="2095500"/>
            <a:ext cx="76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 i="0">
                <a:solidFill>
                  <a:srgbClr val="E9A23B"/>
                </a:solidFill>
              </a:defRPr>
            </a:pPr>
            <a:r>
              <a:rPr sz="3000" b="1" i="0">
                <a:solidFill>
                  <a:srgbClr val="E9A23B"/>
                </a:solidFill>
              </a:rPr>
              <a:t>02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FD7E409-766A-43EF-A951-A37009BAE808}"/>
              </a:ext>
            </a:extLst>
          </p:cNvPr>
          <p:cNvSpPr>
            <a:spLocks noGrp="1"/>
          </p:cNvSpPr>
          <p:nvPr/>
        </p:nvSpPr>
        <p:spPr>
          <a:xfrm>
            <a:off x="7162800" y="21336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0B2A53"/>
                </a:solidFill>
              </a:defRPr>
            </a:pPr>
            <a:r>
              <a:rPr sz="1650" b="1" i="0">
                <a:solidFill>
                  <a:srgbClr val="0B2A53"/>
                </a:solidFill>
              </a:rPr>
              <a:t>Supprimer l'import circulaire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2C2AE4-2199-4FE0-8442-7D33297CA416}"/>
              </a:ext>
            </a:extLst>
          </p:cNvPr>
          <p:cNvSpPr>
            <a:spLocks noGrp="1"/>
          </p:cNvSpPr>
          <p:nvPr/>
        </p:nvSpPr>
        <p:spPr>
          <a:xfrm>
            <a:off x="7162800" y="2552700"/>
            <a:ext cx="371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24364B"/>
                </a:solidFill>
              </a:defRPr>
            </a:pPr>
            <a:r>
              <a:rPr sz="1275" b="0" i="0" dirty="0" err="1">
                <a:solidFill>
                  <a:srgbClr val="24364B"/>
                </a:solidFill>
              </a:rPr>
              <a:t>Déplacer</a:t>
            </a:r>
            <a:r>
              <a:rPr sz="1275" b="0" i="0" dirty="0">
                <a:solidFill>
                  <a:srgbClr val="24364B"/>
                </a:solidFill>
              </a:rPr>
              <a:t> </a:t>
            </a:r>
            <a:r>
              <a:rPr sz="1275" b="1" i="0" dirty="0" err="1">
                <a:solidFill>
                  <a:srgbClr val="24364B"/>
                </a:solidFill>
              </a:rPr>
              <a:t>extract_keywords</a:t>
            </a:r>
            <a:r>
              <a:rPr sz="1275" b="1" i="0" dirty="0">
                <a:solidFill>
                  <a:srgbClr val="24364B"/>
                </a:solidFill>
              </a:rPr>
              <a:t>()</a:t>
            </a:r>
            <a:r>
              <a:rPr sz="1275" b="0" i="0" dirty="0">
                <a:solidFill>
                  <a:srgbClr val="24364B"/>
                </a:solidFill>
              </a:rPr>
              <a:t> dans un module </a:t>
            </a:r>
            <a:r>
              <a:rPr sz="1275" b="0" i="0" dirty="0" err="1">
                <a:solidFill>
                  <a:srgbClr val="24364B"/>
                </a:solidFill>
              </a:rPr>
              <a:t>utilitaire</a:t>
            </a:r>
            <a:r>
              <a:rPr sz="1275" b="0" i="0" dirty="0">
                <a:solidFill>
                  <a:srgbClr val="24364B"/>
                </a:solidFill>
              </a:rPr>
              <a:t> </a:t>
            </a:r>
            <a:r>
              <a:rPr sz="1275" b="0" i="0" dirty="0" err="1">
                <a:solidFill>
                  <a:srgbClr val="24364B"/>
                </a:solidFill>
              </a:rPr>
              <a:t>partagé</a:t>
            </a:r>
            <a:r>
              <a:rPr sz="1275" b="0" i="0" dirty="0">
                <a:solidFill>
                  <a:srgbClr val="24364B"/>
                </a:solidFill>
              </a:rPr>
              <a:t> entre script.py et learning.py.</a:t>
            </a:r>
          </a:p>
        </p:txBody>
      </p:sp>
      <p:sp>
        <p:nvSpPr>
          <p:cNvPr id="20" name="Connecteur droit 19">
            <a:extLst>
              <a:ext uri="{FF2B5EF4-FFF2-40B4-BE49-F238E27FC236}">
                <a16:creationId xmlns:a16="http://schemas.microsoft.com/office/drawing/2014/main" id="{B276D3CC-05BF-4234-A549-6B499B4C96B2}"/>
              </a:ext>
            </a:extLst>
          </p:cNvPr>
          <p:cNvSpPr>
            <a:spLocks noGrp="1"/>
          </p:cNvSpPr>
          <p:nvPr/>
        </p:nvSpPr>
        <p:spPr>
          <a:xfrm>
            <a:off x="6286500" y="3657600"/>
            <a:ext cx="4476750" cy="0"/>
          </a:xfrm>
          <a:prstGeom prst="line">
            <a:avLst/>
          </a:prstGeom>
          <a:noFill/>
          <a:ln w="9525">
            <a:solidFill>
              <a:srgbClr val="A9C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9304F5C-3A0C-4096-BA27-6E0E0343C3EB}"/>
              </a:ext>
            </a:extLst>
          </p:cNvPr>
          <p:cNvSpPr>
            <a:spLocks noGrp="1"/>
          </p:cNvSpPr>
          <p:nvPr/>
        </p:nvSpPr>
        <p:spPr>
          <a:xfrm>
            <a:off x="1066800" y="4000500"/>
            <a:ext cx="76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 i="0">
                <a:solidFill>
                  <a:srgbClr val="245EA8"/>
                </a:solidFill>
              </a:defRPr>
            </a:pPr>
            <a:r>
              <a:rPr sz="3000" b="1" i="0">
                <a:solidFill>
                  <a:srgbClr val="245EA8"/>
                </a:solidFill>
              </a:rPr>
              <a:t>03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F69EB8-4DDE-48E9-BAAB-7FAAE8EC7305}"/>
              </a:ext>
            </a:extLst>
          </p:cNvPr>
          <p:cNvSpPr>
            <a:spLocks noGrp="1"/>
          </p:cNvSpPr>
          <p:nvPr/>
        </p:nvSpPr>
        <p:spPr>
          <a:xfrm>
            <a:off x="1943100" y="40386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0B2A53"/>
                </a:solidFill>
              </a:defRPr>
            </a:pPr>
            <a:r>
              <a:rPr sz="1650" b="1" i="0">
                <a:solidFill>
                  <a:srgbClr val="0B2A53"/>
                </a:solidFill>
              </a:rPr>
              <a:t>Rendre les erreurs visibles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E17624-F219-4379-8BDF-A580814DB243}"/>
              </a:ext>
            </a:extLst>
          </p:cNvPr>
          <p:cNvSpPr>
            <a:spLocks noGrp="1"/>
          </p:cNvSpPr>
          <p:nvPr/>
        </p:nvSpPr>
        <p:spPr>
          <a:xfrm>
            <a:off x="1943100" y="4457700"/>
            <a:ext cx="371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24364B"/>
                </a:solidFill>
              </a:defRPr>
            </a:pPr>
            <a:r>
              <a:rPr sz="1275" b="0" i="0">
                <a:solidFill>
                  <a:srgbClr val="24364B"/>
                </a:solidFill>
              </a:rPr>
              <a:t>Remplacer les except silencieux, ajouter journaux, timeouts HTTP et messages d'échec exploitables.</a:t>
            </a:r>
          </a:p>
        </p:txBody>
      </p:sp>
      <p:sp>
        <p:nvSpPr>
          <p:cNvPr id="24" name="Connecteur droit 23">
            <a:extLst>
              <a:ext uri="{FF2B5EF4-FFF2-40B4-BE49-F238E27FC236}">
                <a16:creationId xmlns:a16="http://schemas.microsoft.com/office/drawing/2014/main" id="{5CB58F7F-C248-4D40-BCDE-70EBD6460FD3}"/>
              </a:ext>
            </a:extLst>
          </p:cNvPr>
          <p:cNvSpPr>
            <a:spLocks noGrp="1"/>
          </p:cNvSpPr>
          <p:nvPr/>
        </p:nvSpPr>
        <p:spPr>
          <a:xfrm>
            <a:off x="1066800" y="5562600"/>
            <a:ext cx="4476750" cy="0"/>
          </a:xfrm>
          <a:prstGeom prst="line">
            <a:avLst/>
          </a:prstGeom>
          <a:noFill/>
          <a:ln w="9525">
            <a:solidFill>
              <a:srgbClr val="A9C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BFDB9B8-22EF-4E09-9A5B-E9B4E6D43F18}"/>
              </a:ext>
            </a:extLst>
          </p:cNvPr>
          <p:cNvSpPr>
            <a:spLocks noGrp="1"/>
          </p:cNvSpPr>
          <p:nvPr/>
        </p:nvSpPr>
        <p:spPr>
          <a:xfrm>
            <a:off x="6286500" y="4000500"/>
            <a:ext cx="76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3000" b="1" i="0">
                <a:solidFill>
                  <a:srgbClr val="3E9467"/>
                </a:solidFill>
              </a:defRPr>
            </a:pPr>
            <a:r>
              <a:rPr sz="3000" b="1" i="0">
                <a:solidFill>
                  <a:srgbClr val="3E9467"/>
                </a:solidFill>
              </a:rPr>
              <a:t>04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77DB02-7574-4F5A-A536-2D2488268F76}"/>
              </a:ext>
            </a:extLst>
          </p:cNvPr>
          <p:cNvSpPr>
            <a:spLocks noGrp="1"/>
          </p:cNvSpPr>
          <p:nvPr/>
        </p:nvSpPr>
        <p:spPr>
          <a:xfrm>
            <a:off x="7162800" y="4038600"/>
            <a:ext cx="3714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0B2A53"/>
                </a:solidFill>
              </a:defRPr>
            </a:pPr>
            <a:r>
              <a:rPr sz="1650" b="1" i="0">
                <a:solidFill>
                  <a:srgbClr val="0B2A53"/>
                </a:solidFill>
              </a:rPr>
              <a:t>Sécuriser le watcher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BD857F4-75C3-4F27-8CE7-395FDFED9017}"/>
              </a:ext>
            </a:extLst>
          </p:cNvPr>
          <p:cNvSpPr>
            <a:spLocks noGrp="1"/>
          </p:cNvSpPr>
          <p:nvPr/>
        </p:nvSpPr>
        <p:spPr>
          <a:xfrm>
            <a:off x="7162800" y="4457700"/>
            <a:ext cx="37147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24364B"/>
                </a:solidFill>
              </a:defRPr>
            </a:pPr>
            <a:r>
              <a:rPr sz="1275" b="0" i="0">
                <a:solidFill>
                  <a:srgbClr val="24364B"/>
                </a:solidFill>
              </a:rPr>
              <a:t>Attendre la fin de copie, éviter les doubles traitements et empêcher l'exécution simultanée des deux modes.</a:t>
            </a:r>
          </a:p>
        </p:txBody>
      </p:sp>
      <p:sp>
        <p:nvSpPr>
          <p:cNvPr id="28" name="Connecteur droit 27">
            <a:extLst>
              <a:ext uri="{FF2B5EF4-FFF2-40B4-BE49-F238E27FC236}">
                <a16:creationId xmlns:a16="http://schemas.microsoft.com/office/drawing/2014/main" id="{9E6A78E3-5D24-4554-A41A-ABB1EA3DD9E5}"/>
              </a:ext>
            </a:extLst>
          </p:cNvPr>
          <p:cNvSpPr>
            <a:spLocks noGrp="1"/>
          </p:cNvSpPr>
          <p:nvPr/>
        </p:nvSpPr>
        <p:spPr>
          <a:xfrm>
            <a:off x="6286500" y="5562600"/>
            <a:ext cx="4476750" cy="0"/>
          </a:xfrm>
          <a:prstGeom prst="line">
            <a:avLst/>
          </a:prstGeom>
          <a:noFill/>
          <a:ln w="9525">
            <a:solidFill>
              <a:srgbClr val="A9CDE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495634-F73C-4885-812D-296B14C991BF}"/>
              </a:ext>
            </a:extLst>
          </p:cNvPr>
          <p:cNvSpPr>
            <a:spLocks noGrp="1"/>
          </p:cNvSpPr>
          <p:nvPr/>
        </p:nvSpPr>
        <p:spPr>
          <a:xfrm>
            <a:off x="1066800" y="5695950"/>
            <a:ext cx="942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Ce recul critique ne remet pas en cause le concept : il définit la feuille de route vers une version plus industrialisée.</a:t>
            </a:r>
          </a:p>
        </p:txBody>
      </p:sp>
    </p:spTree>
    <p:extLst>
      <p:ext uri="{BB962C8B-B14F-4D97-AF65-F5344CB8AC3E}">
        <p14:creationId xmlns:p14="http://schemas.microsoft.com/office/powerpoint/2010/main" val="1433706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8854CF91-24EF-41E0-ABDE-DA6762BC678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7AB22E-5E4E-498B-A2E7-46B9D54AC3A9}"/>
              </a:ext>
            </a:extLst>
          </p:cNvPr>
          <p:cNvSpPr>
            <a:spLocks noGrp="1"/>
          </p:cNvSpPr>
          <p:nvPr/>
        </p:nvSpPr>
        <p:spPr>
          <a:xfrm>
            <a:off x="7429500" y="0"/>
            <a:ext cx="4762500" cy="6858000"/>
          </a:xfrm>
          <a:prstGeom prst="rect">
            <a:avLst/>
          </a:prstGeom>
          <a:solidFill>
            <a:srgbClr val="D9F0FC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Parallélogramme 2">
            <a:extLst>
              <a:ext uri="{FF2B5EF4-FFF2-40B4-BE49-F238E27FC236}">
                <a16:creationId xmlns:a16="http://schemas.microsoft.com/office/drawing/2014/main" id="{2EFF2C7D-2786-442D-B773-36979BE8AB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" cy="5143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415813AE-3630-4FEA-832F-031C54B232D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3238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61938CC1-85ED-4557-902D-15670B775F56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952500" cy="6667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1D022492-2159-4B62-8604-2F9ECE322E49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819150" cy="4381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7EC217B0-BC40-440C-B5A5-3E41061549DB}"/>
              </a:ext>
            </a:extLst>
          </p:cNvPr>
          <p:cNvSpPr>
            <a:spLocks noGrp="1"/>
          </p:cNvSpPr>
          <p:nvPr/>
        </p:nvSpPr>
        <p:spPr>
          <a:xfrm>
            <a:off x="9658350" y="28575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6C5BE57-F3A7-4DCB-A0CE-620DDDE7C679}"/>
              </a:ext>
            </a:extLst>
          </p:cNvPr>
          <p:cNvSpPr>
            <a:spLocks noGrp="1"/>
          </p:cNvSpPr>
          <p:nvPr/>
        </p:nvSpPr>
        <p:spPr>
          <a:xfrm>
            <a:off x="9753600" y="323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COMPÉTENCES</a:t>
            </a: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4355B797-E5DD-4E3D-8CB1-1226B75F3B9D}"/>
              </a:ext>
            </a:extLst>
          </p:cNvPr>
          <p:cNvSpPr>
            <a:spLocks noGrp="1"/>
          </p:cNvSpPr>
          <p:nvPr/>
        </p:nvSpPr>
        <p:spPr>
          <a:xfrm>
            <a:off x="838200" y="6400800"/>
            <a:ext cx="10363200" cy="0"/>
          </a:xfrm>
          <a:prstGeom prst="line">
            <a:avLst/>
          </a:prstGeom>
          <a:noFill/>
          <a:ln w="13335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95DC4C-33AC-4455-B517-843BEFEB2AD8}"/>
              </a:ext>
            </a:extLst>
          </p:cNvPr>
          <p:cNvSpPr>
            <a:spLocks noGrp="1"/>
          </p:cNvSpPr>
          <p:nvPr/>
        </p:nvSpPr>
        <p:spPr>
          <a:xfrm>
            <a:off x="11220450" y="619125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10</a:t>
            </a:r>
          </a:p>
        </p:txBody>
      </p:sp>
      <p:sp>
        <p:nvSpPr>
          <p:cNvPr id="11" name="slide-title">
            <a:extLst>
              <a:ext uri="{FF2B5EF4-FFF2-40B4-BE49-F238E27FC236}">
                <a16:creationId xmlns:a16="http://schemas.microsoft.com/office/drawing/2014/main" id="{88D66464-E10B-4402-BEE8-89B47B90A23C}"/>
              </a:ext>
            </a:extLst>
          </p:cNvPr>
          <p:cNvSpPr>
            <a:spLocks noGrp="1"/>
          </p:cNvSpPr>
          <p:nvPr/>
        </p:nvSpPr>
        <p:spPr>
          <a:xfrm>
            <a:off x="1066800" y="74295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0B2A53"/>
                </a:solidFill>
              </a:defRPr>
            </a:pPr>
            <a:r>
              <a:rPr sz="2850" b="1" i="0">
                <a:solidFill>
                  <a:srgbClr val="0B2A53"/>
                </a:solidFill>
              </a:rPr>
              <a:t>Le projet mobilise des compétences directement valorisables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77C9C7-1C36-4371-8946-C545B52D02A7}"/>
              </a:ext>
            </a:extLst>
          </p:cNvPr>
          <p:cNvSpPr>
            <a:spLocks noGrp="1"/>
          </p:cNvSpPr>
          <p:nvPr/>
        </p:nvSpPr>
        <p:spPr>
          <a:xfrm>
            <a:off x="1066800" y="1304925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C6B7E"/>
                </a:solidFill>
              </a:defRPr>
            </a:pPr>
            <a:r>
              <a:rPr sz="1275" b="0" i="0">
                <a:solidFill>
                  <a:srgbClr val="5C6B7E"/>
                </a:solidFill>
              </a:rPr>
              <a:t>Chaque choix technique correspond à une capacité attendue en développement et en exploitation.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BD98491-52D9-45F2-A34E-E2FB7046D284}"/>
              </a:ext>
            </a:extLst>
          </p:cNvPr>
          <p:cNvSpPr>
            <a:spLocks noGrp="1"/>
          </p:cNvSpPr>
          <p:nvPr/>
        </p:nvSpPr>
        <p:spPr>
          <a:xfrm>
            <a:off x="1066800" y="2000250"/>
            <a:ext cx="76200" cy="914400"/>
          </a:xfrm>
          <a:prstGeom prst="rect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345984-322E-418A-982B-7E741E4F3DD0}"/>
              </a:ext>
            </a:extLst>
          </p:cNvPr>
          <p:cNvSpPr>
            <a:spLocks noGrp="1"/>
          </p:cNvSpPr>
          <p:nvPr/>
        </p:nvSpPr>
        <p:spPr>
          <a:xfrm>
            <a:off x="1314450" y="20002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0B2A53"/>
                </a:solidFill>
              </a:defRPr>
            </a:pPr>
            <a:r>
              <a:rPr sz="1650" b="1" i="0">
                <a:solidFill>
                  <a:srgbClr val="0B2A53"/>
                </a:solidFill>
              </a:rPr>
              <a:t>Automatisation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94454C-EDC9-49B9-8694-8F39CF43DD55}"/>
              </a:ext>
            </a:extLst>
          </p:cNvPr>
          <p:cNvSpPr>
            <a:spLocks noGrp="1"/>
          </p:cNvSpPr>
          <p:nvPr/>
        </p:nvSpPr>
        <p:spPr>
          <a:xfrm>
            <a:off x="1314450" y="2400300"/>
            <a:ext cx="419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364B"/>
                </a:solidFill>
              </a:defRPr>
            </a:pPr>
            <a:r>
              <a:rPr sz="1200" b="0" i="0">
                <a:solidFill>
                  <a:srgbClr val="24364B"/>
                </a:solidFill>
              </a:rPr>
              <a:t>Surveillance événementielle, déplacement de fichiers et orchestration d'un flux continu.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81FC19-3003-499C-B9C2-639A14CAA6B7}"/>
              </a:ext>
            </a:extLst>
          </p:cNvPr>
          <p:cNvSpPr>
            <a:spLocks noGrp="1"/>
          </p:cNvSpPr>
          <p:nvPr/>
        </p:nvSpPr>
        <p:spPr>
          <a:xfrm>
            <a:off x="6191250" y="2000250"/>
            <a:ext cx="76200" cy="914400"/>
          </a:xfrm>
          <a:prstGeom prst="rect">
            <a:avLst/>
          </a:prstGeom>
          <a:solidFill>
            <a:srgbClr val="20A8CF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1A59D0-2D94-4887-BBE3-D81F875BF582}"/>
              </a:ext>
            </a:extLst>
          </p:cNvPr>
          <p:cNvSpPr>
            <a:spLocks noGrp="1"/>
          </p:cNvSpPr>
          <p:nvPr/>
        </p:nvSpPr>
        <p:spPr>
          <a:xfrm>
            <a:off x="6438900" y="20002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0B2A53"/>
                </a:solidFill>
              </a:defRPr>
            </a:pPr>
            <a:r>
              <a:rPr sz="1650" b="1" i="0">
                <a:solidFill>
                  <a:srgbClr val="0B2A53"/>
                </a:solidFill>
              </a:rPr>
              <a:t>Traitement documentaire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7E89E8-9BAB-4C69-B97F-7AE419F3DFAF}"/>
              </a:ext>
            </a:extLst>
          </p:cNvPr>
          <p:cNvSpPr>
            <a:spLocks noGrp="1"/>
          </p:cNvSpPr>
          <p:nvPr/>
        </p:nvSpPr>
        <p:spPr>
          <a:xfrm>
            <a:off x="6438900" y="2400300"/>
            <a:ext cx="419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364B"/>
                </a:solidFill>
              </a:defRPr>
            </a:pPr>
            <a:r>
              <a:rPr sz="1200" b="0" i="0">
                <a:solidFill>
                  <a:srgbClr val="24364B"/>
                </a:solidFill>
              </a:rPr>
              <a:t>Lecture multi-format, OCR, normalisation du texte et limitation des volumes analysés.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B1631B1-9ECC-48CD-83AF-EF4429D5CCD8}"/>
              </a:ext>
            </a:extLst>
          </p:cNvPr>
          <p:cNvSpPr>
            <a:spLocks noGrp="1"/>
          </p:cNvSpPr>
          <p:nvPr/>
        </p:nvSpPr>
        <p:spPr>
          <a:xfrm>
            <a:off x="1066800" y="3257550"/>
            <a:ext cx="76200" cy="914400"/>
          </a:xfrm>
          <a:prstGeom prst="rect">
            <a:avLst/>
          </a:prstGeom>
          <a:solidFill>
            <a:srgbClr val="C7554E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D1AE0F7-7BFC-4F43-A4F8-198E1F4DB0D9}"/>
              </a:ext>
            </a:extLst>
          </p:cNvPr>
          <p:cNvSpPr>
            <a:spLocks noGrp="1"/>
          </p:cNvSpPr>
          <p:nvPr/>
        </p:nvSpPr>
        <p:spPr>
          <a:xfrm>
            <a:off x="1314450" y="32575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0B2A53"/>
                </a:solidFill>
              </a:defRPr>
            </a:pPr>
            <a:r>
              <a:rPr sz="1650" b="1" i="0">
                <a:solidFill>
                  <a:srgbClr val="0B2A53"/>
                </a:solidFill>
              </a:rPr>
              <a:t>IA locale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323B622-3F73-4666-8923-CFAEEB8F65B7}"/>
              </a:ext>
            </a:extLst>
          </p:cNvPr>
          <p:cNvSpPr>
            <a:spLocks noGrp="1"/>
          </p:cNvSpPr>
          <p:nvPr/>
        </p:nvSpPr>
        <p:spPr>
          <a:xfrm>
            <a:off x="1314450" y="3657600"/>
            <a:ext cx="419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364B"/>
                </a:solidFill>
              </a:defRPr>
            </a:pPr>
            <a:r>
              <a:rPr sz="1200" b="0" i="0">
                <a:solidFill>
                  <a:srgbClr val="24364B"/>
                </a:solidFill>
              </a:rPr>
              <a:t>Construction d'un prompt contraint, appel d'une API locale et combinaison règles + LLM.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9760FBF-653E-483A-ADB8-827FE93F785A}"/>
              </a:ext>
            </a:extLst>
          </p:cNvPr>
          <p:cNvSpPr>
            <a:spLocks noGrp="1"/>
          </p:cNvSpPr>
          <p:nvPr/>
        </p:nvSpPr>
        <p:spPr>
          <a:xfrm>
            <a:off x="6191250" y="3257550"/>
            <a:ext cx="76200" cy="914400"/>
          </a:xfrm>
          <a:prstGeom prst="rect">
            <a:avLst/>
          </a:prstGeom>
          <a:solidFill>
            <a:srgbClr val="3E9467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BF8AC40-2CF1-4FFE-BE29-7A985C6B459B}"/>
              </a:ext>
            </a:extLst>
          </p:cNvPr>
          <p:cNvSpPr>
            <a:spLocks noGrp="1"/>
          </p:cNvSpPr>
          <p:nvPr/>
        </p:nvSpPr>
        <p:spPr>
          <a:xfrm>
            <a:off x="6438900" y="32575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0B2A53"/>
                </a:solidFill>
              </a:defRPr>
            </a:pPr>
            <a:r>
              <a:rPr sz="1650" b="1" i="0">
                <a:solidFill>
                  <a:srgbClr val="0B2A53"/>
                </a:solidFill>
              </a:rPr>
              <a:t>Conception logicielle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BA2781-8999-481F-98EC-D9B28D02B2BB}"/>
              </a:ext>
            </a:extLst>
          </p:cNvPr>
          <p:cNvSpPr>
            <a:spLocks noGrp="1"/>
          </p:cNvSpPr>
          <p:nvPr/>
        </p:nvSpPr>
        <p:spPr>
          <a:xfrm>
            <a:off x="6438900" y="3657600"/>
            <a:ext cx="419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364B"/>
                </a:solidFill>
              </a:defRPr>
            </a:pPr>
            <a:r>
              <a:rPr sz="1200" b="0" i="0">
                <a:solidFill>
                  <a:srgbClr val="24364B"/>
                </a:solidFill>
              </a:rPr>
              <a:t>Configuration centralisée, séparation des responsabilités et persistance JSON.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2FB704A-D524-48A6-9A9A-6336306CCB39}"/>
              </a:ext>
            </a:extLst>
          </p:cNvPr>
          <p:cNvSpPr>
            <a:spLocks noGrp="1"/>
          </p:cNvSpPr>
          <p:nvPr/>
        </p:nvSpPr>
        <p:spPr>
          <a:xfrm>
            <a:off x="1066800" y="4514850"/>
            <a:ext cx="76200" cy="914400"/>
          </a:xfrm>
          <a:prstGeom prst="rect">
            <a:avLst/>
          </a:prstGeom>
          <a:solidFill>
            <a:srgbClr val="E9A23B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B13964-16FE-4ADA-98E5-D921A6C8D67F}"/>
              </a:ext>
            </a:extLst>
          </p:cNvPr>
          <p:cNvSpPr>
            <a:spLocks noGrp="1"/>
          </p:cNvSpPr>
          <p:nvPr/>
        </p:nvSpPr>
        <p:spPr>
          <a:xfrm>
            <a:off x="1314450" y="45148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0B2A53"/>
                </a:solidFill>
              </a:defRPr>
            </a:pPr>
            <a:r>
              <a:rPr sz="1650" b="1" i="0">
                <a:solidFill>
                  <a:srgbClr val="0B2A53"/>
                </a:solidFill>
              </a:rPr>
              <a:t>Diagnostic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DF3A5DE-CEF5-42E7-9D8B-2682844B0074}"/>
              </a:ext>
            </a:extLst>
          </p:cNvPr>
          <p:cNvSpPr>
            <a:spLocks noGrp="1"/>
          </p:cNvSpPr>
          <p:nvPr/>
        </p:nvSpPr>
        <p:spPr>
          <a:xfrm>
            <a:off x="1314450" y="4914900"/>
            <a:ext cx="419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364B"/>
                </a:solidFill>
              </a:defRPr>
            </a:pPr>
            <a:r>
              <a:rPr sz="1200" b="0" i="0">
                <a:solidFill>
                  <a:srgbClr val="24364B"/>
                </a:solidFill>
              </a:rPr>
              <a:t>Identification des cas limites, dépendances locales et risques d'exécution concurrente.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901642-FF5F-437D-9831-C0C869091A9B}"/>
              </a:ext>
            </a:extLst>
          </p:cNvPr>
          <p:cNvSpPr>
            <a:spLocks noGrp="1"/>
          </p:cNvSpPr>
          <p:nvPr/>
        </p:nvSpPr>
        <p:spPr>
          <a:xfrm>
            <a:off x="6191250" y="4514850"/>
            <a:ext cx="76200" cy="914400"/>
          </a:xfrm>
          <a:prstGeom prst="rect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EA1020-21C8-4B0A-8CE3-BCE2644B737D}"/>
              </a:ext>
            </a:extLst>
          </p:cNvPr>
          <p:cNvSpPr>
            <a:spLocks noGrp="1"/>
          </p:cNvSpPr>
          <p:nvPr/>
        </p:nvSpPr>
        <p:spPr>
          <a:xfrm>
            <a:off x="6438900" y="45148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650" b="1" i="0">
                <a:solidFill>
                  <a:srgbClr val="0B2A53"/>
                </a:solidFill>
              </a:defRPr>
            </a:pPr>
            <a:r>
              <a:rPr sz="1650" b="1" i="0">
                <a:solidFill>
                  <a:srgbClr val="0B2A53"/>
                </a:solidFill>
              </a:rPr>
              <a:t>Documentation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8497074-76F2-4F8B-B7D7-AFC1CCD7C9F8}"/>
              </a:ext>
            </a:extLst>
          </p:cNvPr>
          <p:cNvSpPr>
            <a:spLocks noGrp="1"/>
          </p:cNvSpPr>
          <p:nvPr/>
        </p:nvSpPr>
        <p:spPr>
          <a:xfrm>
            <a:off x="6438900" y="4914900"/>
            <a:ext cx="4191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00" b="0" i="0">
                <a:solidFill>
                  <a:srgbClr val="24364B"/>
                </a:solidFill>
              </a:defRPr>
            </a:pPr>
            <a:r>
              <a:rPr sz="1200" b="0" i="0">
                <a:solidFill>
                  <a:srgbClr val="24364B"/>
                </a:solidFill>
              </a:rPr>
              <a:t>README, mode opératoire, architecture C4 et consignes de lancement.</a:t>
            </a:r>
          </a:p>
        </p:txBody>
      </p:sp>
    </p:spTree>
    <p:extLst>
      <p:ext uri="{BB962C8B-B14F-4D97-AF65-F5344CB8AC3E}">
        <p14:creationId xmlns:p14="http://schemas.microsoft.com/office/powerpoint/2010/main" val="16300239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1B2FB96-E7F4-44CB-B1D1-BB782E21CC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8FC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E720A3-4153-4FA2-926A-287C80927D00}"/>
              </a:ext>
            </a:extLst>
          </p:cNvPr>
          <p:cNvSpPr>
            <a:spLocks noGrp="1"/>
          </p:cNvSpPr>
          <p:nvPr/>
        </p:nvSpPr>
        <p:spPr>
          <a:xfrm>
            <a:off x="7429500" y="0"/>
            <a:ext cx="4762500" cy="6858000"/>
          </a:xfrm>
          <a:prstGeom prst="rect">
            <a:avLst/>
          </a:prstGeom>
          <a:solidFill>
            <a:srgbClr val="D9F0FC">
              <a:alpha val="55000"/>
            </a:srgbClr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Parallélogramme 2">
            <a:extLst>
              <a:ext uri="{FF2B5EF4-FFF2-40B4-BE49-F238E27FC236}">
                <a16:creationId xmlns:a16="http://schemas.microsoft.com/office/drawing/2014/main" id="{4A44737C-ADA5-4E0D-BE06-6EAAE12D71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" cy="5143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Parallélogramme 3">
            <a:extLst>
              <a:ext uri="{FF2B5EF4-FFF2-40B4-BE49-F238E27FC236}">
                <a16:creationId xmlns:a16="http://schemas.microsoft.com/office/drawing/2014/main" id="{77225A18-A5FB-423D-93B2-D7F11B42A96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09600" cy="3238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Parallélogramme 4">
            <a:extLst>
              <a:ext uri="{FF2B5EF4-FFF2-40B4-BE49-F238E27FC236}">
                <a16:creationId xmlns:a16="http://schemas.microsoft.com/office/drawing/2014/main" id="{CFFFEE18-8D0F-45E2-AB78-797F7B946F61}"/>
              </a:ext>
            </a:extLst>
          </p:cNvPr>
          <p:cNvSpPr>
            <a:spLocks noGrp="1"/>
          </p:cNvSpPr>
          <p:nvPr/>
        </p:nvSpPr>
        <p:spPr>
          <a:xfrm>
            <a:off x="11239500" y="6191250"/>
            <a:ext cx="952500" cy="666750"/>
          </a:xfrm>
          <a:prstGeom prst="parallelogram">
            <a:avLst/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Parallélogramme 5">
            <a:extLst>
              <a:ext uri="{FF2B5EF4-FFF2-40B4-BE49-F238E27FC236}">
                <a16:creationId xmlns:a16="http://schemas.microsoft.com/office/drawing/2014/main" id="{CD560363-CE3B-4182-B0C1-91D4FBF645A8}"/>
              </a:ext>
            </a:extLst>
          </p:cNvPr>
          <p:cNvSpPr>
            <a:spLocks noGrp="1"/>
          </p:cNvSpPr>
          <p:nvPr/>
        </p:nvSpPr>
        <p:spPr>
          <a:xfrm>
            <a:off x="10858500" y="6419850"/>
            <a:ext cx="819150" cy="438150"/>
          </a:xfrm>
          <a:prstGeom prst="parallelogram">
            <a:avLst/>
          </a:prstGeom>
          <a:solidFill>
            <a:srgbClr val="63B7E6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7AB25F4-9EF7-44CB-9677-1A390C20A86E}"/>
              </a:ext>
            </a:extLst>
          </p:cNvPr>
          <p:cNvSpPr>
            <a:spLocks noGrp="1"/>
          </p:cNvSpPr>
          <p:nvPr/>
        </p:nvSpPr>
        <p:spPr>
          <a:xfrm>
            <a:off x="9658350" y="285750"/>
            <a:ext cx="1905000" cy="247650"/>
          </a:xfrm>
          <a:prstGeom prst="roundRect">
            <a:avLst>
              <a:gd name="adj" fmla="val 50000"/>
            </a:avLst>
          </a:prstGeom>
          <a:solidFill>
            <a:srgbClr val="245EA8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F275B89-1991-4929-805E-7C06D3C0FCB6}"/>
              </a:ext>
            </a:extLst>
          </p:cNvPr>
          <p:cNvSpPr>
            <a:spLocks noGrp="1"/>
          </p:cNvSpPr>
          <p:nvPr/>
        </p:nvSpPr>
        <p:spPr>
          <a:xfrm>
            <a:off x="9753600" y="323850"/>
            <a:ext cx="17145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BILAN</a:t>
            </a:r>
          </a:p>
        </p:txBody>
      </p:sp>
      <p:sp>
        <p:nvSpPr>
          <p:cNvPr id="9" name="Connecteur droit 8">
            <a:extLst>
              <a:ext uri="{FF2B5EF4-FFF2-40B4-BE49-F238E27FC236}">
                <a16:creationId xmlns:a16="http://schemas.microsoft.com/office/drawing/2014/main" id="{B411D78E-D86D-4EB1-AEC5-D2479CF93691}"/>
              </a:ext>
            </a:extLst>
          </p:cNvPr>
          <p:cNvSpPr>
            <a:spLocks noGrp="1"/>
          </p:cNvSpPr>
          <p:nvPr/>
        </p:nvSpPr>
        <p:spPr>
          <a:xfrm>
            <a:off x="838200" y="6400800"/>
            <a:ext cx="10363200" cy="0"/>
          </a:xfrm>
          <a:prstGeom prst="line">
            <a:avLst/>
          </a:prstGeom>
          <a:noFill/>
          <a:ln w="13335">
            <a:solidFill>
              <a:srgbClr val="245EA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B0FE172-AF4A-498D-9CE0-1B1E3347CE61}"/>
              </a:ext>
            </a:extLst>
          </p:cNvPr>
          <p:cNvSpPr>
            <a:spLocks noGrp="1"/>
          </p:cNvSpPr>
          <p:nvPr/>
        </p:nvSpPr>
        <p:spPr>
          <a:xfrm>
            <a:off x="11220450" y="6191250"/>
            <a:ext cx="476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defRPr sz="1350" b="1" i="0">
                <a:solidFill>
                  <a:srgbClr val="0B2A53"/>
                </a:solidFill>
              </a:defRPr>
            </a:pPr>
            <a:r>
              <a:rPr sz="1350" b="1" i="0">
                <a:solidFill>
                  <a:srgbClr val="0B2A53"/>
                </a:solidFill>
              </a:rPr>
              <a:t>11</a:t>
            </a:r>
          </a:p>
        </p:txBody>
      </p:sp>
      <p:sp>
        <p:nvSpPr>
          <p:cNvPr id="11" name="slide-title">
            <a:extLst>
              <a:ext uri="{FF2B5EF4-FFF2-40B4-BE49-F238E27FC236}">
                <a16:creationId xmlns:a16="http://schemas.microsoft.com/office/drawing/2014/main" id="{CCDF3EBC-5931-4C55-9E47-0797FEF391D1}"/>
              </a:ext>
            </a:extLst>
          </p:cNvPr>
          <p:cNvSpPr>
            <a:spLocks noGrp="1"/>
          </p:cNvSpPr>
          <p:nvPr/>
        </p:nvSpPr>
        <p:spPr>
          <a:xfrm>
            <a:off x="1066800" y="74295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2850" b="1" i="0">
                <a:solidFill>
                  <a:srgbClr val="0B2A53"/>
                </a:solidFill>
              </a:defRPr>
            </a:pPr>
            <a:r>
              <a:rPr sz="2850" b="1" i="0">
                <a:solidFill>
                  <a:srgbClr val="0B2A53"/>
                </a:solidFill>
              </a:rPr>
              <a:t>Une base solide pour industrialiser FileSorter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AF5B505-AFDC-4301-9BDA-9C803A578826}"/>
              </a:ext>
            </a:extLst>
          </p:cNvPr>
          <p:cNvSpPr>
            <a:spLocks noGrp="1"/>
          </p:cNvSpPr>
          <p:nvPr/>
        </p:nvSpPr>
        <p:spPr>
          <a:xfrm>
            <a:off x="1066800" y="1304925"/>
            <a:ext cx="933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275" b="0" i="0">
                <a:solidFill>
                  <a:srgbClr val="5C6B7E"/>
                </a:solidFill>
              </a:defRPr>
            </a:pPr>
            <a:r>
              <a:rPr sz="1275" b="0" i="0">
                <a:solidFill>
                  <a:srgbClr val="5C6B7E"/>
                </a:solidFill>
              </a:rPr>
              <a:t>La valeur du projet tient autant à son utilité immédiate qu'à son potentiel d'évolution.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EB6113-25C5-4447-BEB9-E25CA81C760E}"/>
              </a:ext>
            </a:extLst>
          </p:cNvPr>
          <p:cNvSpPr>
            <a:spLocks noGrp="1"/>
          </p:cNvSpPr>
          <p:nvPr/>
        </p:nvSpPr>
        <p:spPr>
          <a:xfrm>
            <a:off x="1066800" y="204787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245EA8"/>
                </a:solidFill>
              </a:defRPr>
            </a:pPr>
            <a:r>
              <a:rPr sz="1125" b="1" i="0">
                <a:solidFill>
                  <a:srgbClr val="245EA8"/>
                </a:solidFill>
              </a:rPr>
              <a:t>AUJOURD'HUI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A65F7F-970C-4987-9007-1B21C0376D01}"/>
              </a:ext>
            </a:extLst>
          </p:cNvPr>
          <p:cNvSpPr>
            <a:spLocks noGrp="1"/>
          </p:cNvSpPr>
          <p:nvPr/>
        </p:nvSpPr>
        <p:spPr>
          <a:xfrm>
            <a:off x="1066800" y="2457450"/>
            <a:ext cx="447675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 i="0">
                <a:solidFill>
                  <a:srgbClr val="24364B"/>
                </a:solidFill>
              </a:defRPr>
            </a:pPr>
            <a:r>
              <a:rPr sz="1425" b="0" i="0">
                <a:solidFill>
                  <a:srgbClr val="24364B"/>
                </a:solidFill>
              </a:rPr>
              <a:t>- Une chaîne de tri locale et configurable</a:t>
            </a:r>
          </a:p>
          <a:p>
            <a:pPr algn="l">
              <a:defRPr sz="1425" b="0" i="0">
                <a:solidFill>
                  <a:srgbClr val="24364B"/>
                </a:solidFill>
              </a:defRPr>
            </a:pPr>
            <a:r>
              <a:rPr sz="1425" b="0" i="0">
                <a:solidFill>
                  <a:srgbClr val="24364B"/>
                </a:solidFill>
              </a:rPr>
              <a:t>- 12 extensions de fichiers prises en charge</a:t>
            </a:r>
          </a:p>
          <a:p>
            <a:pPr algn="l">
              <a:defRPr sz="1425" b="0" i="0">
                <a:solidFill>
                  <a:srgbClr val="24364B"/>
                </a:solidFill>
              </a:defRPr>
            </a:pPr>
            <a:r>
              <a:rPr sz="1425" b="0" i="0">
                <a:solidFill>
                  <a:srgbClr val="24364B"/>
                </a:solidFill>
              </a:rPr>
              <a:t>- Un mode automatique et un mode supervisé</a:t>
            </a:r>
          </a:p>
          <a:p>
            <a:pPr algn="l">
              <a:defRPr sz="1425" b="0" i="0">
                <a:solidFill>
                  <a:srgbClr val="24364B"/>
                </a:solidFill>
              </a:defRPr>
            </a:pPr>
            <a:r>
              <a:rPr sz="1425" b="0" i="0">
                <a:solidFill>
                  <a:srgbClr val="24364B"/>
                </a:solidFill>
              </a:rPr>
              <a:t>- Une mémoire simple des validations et corrections</a:t>
            </a:r>
          </a:p>
          <a:p>
            <a:pPr algn="l">
              <a:defRPr sz="1425" b="0" i="0">
                <a:solidFill>
                  <a:srgbClr val="24364B"/>
                </a:solidFill>
              </a:defRPr>
            </a:pPr>
            <a:r>
              <a:rPr sz="1425" b="0" i="0">
                <a:solidFill>
                  <a:srgbClr val="24364B"/>
                </a:solidFill>
              </a:rPr>
              <a:t>- Une documentation d'installation et d'usage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8531CE-0B2E-4A79-9905-9805F234B3EE}"/>
              </a:ext>
            </a:extLst>
          </p:cNvPr>
          <p:cNvSpPr>
            <a:spLocks noGrp="1"/>
          </p:cNvSpPr>
          <p:nvPr/>
        </p:nvSpPr>
        <p:spPr>
          <a:xfrm>
            <a:off x="6286500" y="2047875"/>
            <a:ext cx="3429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20A8CF"/>
                </a:solidFill>
              </a:defRPr>
            </a:pPr>
            <a:r>
              <a:rPr sz="1125" b="1" i="0">
                <a:solidFill>
                  <a:srgbClr val="20A8CF"/>
                </a:solidFill>
              </a:rPr>
              <a:t>PROCHAINES ÉTAPES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20A6F5-8557-40D8-98BF-5AB7165730CD}"/>
              </a:ext>
            </a:extLst>
          </p:cNvPr>
          <p:cNvSpPr>
            <a:spLocks noGrp="1"/>
          </p:cNvSpPr>
          <p:nvPr/>
        </p:nvSpPr>
        <p:spPr>
          <a:xfrm>
            <a:off x="6286500" y="2457450"/>
            <a:ext cx="4572000" cy="2095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425" b="0" i="0">
                <a:solidFill>
                  <a:srgbClr val="24364B"/>
                </a:solidFill>
              </a:defRPr>
            </a:pPr>
            <a:r>
              <a:rPr sz="1425" b="0" i="0">
                <a:solidFill>
                  <a:srgbClr val="24364B"/>
                </a:solidFill>
              </a:rPr>
              <a:t>- Tests unitaires et jeux de documents de référence</a:t>
            </a:r>
          </a:p>
          <a:p>
            <a:pPr algn="l">
              <a:defRPr sz="1425" b="0" i="0">
                <a:solidFill>
                  <a:srgbClr val="24364B"/>
                </a:solidFill>
              </a:defRPr>
            </a:pPr>
            <a:r>
              <a:rPr sz="1425" b="0" i="0">
                <a:solidFill>
                  <a:srgbClr val="24364B"/>
                </a:solidFill>
              </a:rPr>
              <a:t>- File d'attente robuste pour les nouveaux fichiers</a:t>
            </a:r>
          </a:p>
          <a:p>
            <a:pPr algn="l">
              <a:defRPr sz="1425" b="0" i="0">
                <a:solidFill>
                  <a:srgbClr val="24364B"/>
                </a:solidFill>
              </a:defRPr>
            </a:pPr>
            <a:r>
              <a:rPr sz="1425" b="0" i="0">
                <a:solidFill>
                  <a:srgbClr val="24364B"/>
                </a:solidFill>
              </a:rPr>
              <a:t>- Base SQLite et traçabilité des décisions</a:t>
            </a:r>
          </a:p>
          <a:p>
            <a:pPr algn="l">
              <a:defRPr sz="1425" b="0" i="0">
                <a:solidFill>
                  <a:srgbClr val="24364B"/>
                </a:solidFill>
              </a:defRPr>
            </a:pPr>
            <a:r>
              <a:rPr sz="1425" b="0" i="0">
                <a:solidFill>
                  <a:srgbClr val="24364B"/>
                </a:solidFill>
              </a:rPr>
              <a:t>- Embeddings pour rapprocher les contenus similaires</a:t>
            </a:r>
          </a:p>
          <a:p>
            <a:pPr algn="l">
              <a:defRPr sz="1425" b="0" i="0">
                <a:solidFill>
                  <a:srgbClr val="24364B"/>
                </a:solidFill>
              </a:defRPr>
            </a:pPr>
            <a:r>
              <a:rPr sz="1425" b="0" i="0">
                <a:solidFill>
                  <a:srgbClr val="24364B"/>
                </a:solidFill>
              </a:rPr>
              <a:t>- Interface de supervision et packaging installable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4D46A291-8C81-4F7A-9D41-E6187C4BCF36}"/>
              </a:ext>
            </a:extLst>
          </p:cNvPr>
          <p:cNvSpPr>
            <a:spLocks noGrp="1"/>
          </p:cNvSpPr>
          <p:nvPr/>
        </p:nvSpPr>
        <p:spPr>
          <a:xfrm>
            <a:off x="1066800" y="5000625"/>
            <a:ext cx="9906000" cy="800100"/>
          </a:xfrm>
          <a:prstGeom prst="roundRect">
            <a:avLst>
              <a:gd name="adj" fmla="val 14286"/>
            </a:avLst>
          </a:prstGeom>
          <a:solidFill>
            <a:srgbClr val="0B2A53"/>
          </a:solidFill>
          <a:ln w="0">
            <a:noFill/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CFB049-55FB-4027-9528-7D1A49358DC0}"/>
              </a:ext>
            </a:extLst>
          </p:cNvPr>
          <p:cNvSpPr>
            <a:spLocks noGrp="1"/>
          </p:cNvSpPr>
          <p:nvPr/>
        </p:nvSpPr>
        <p:spPr>
          <a:xfrm>
            <a:off x="1352550" y="521970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FileSorter automatise une tâche réelle tout en restant compréhensible, local et améliorable.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C217D3-0900-4DC8-8C93-AF288E2CB4F6}"/>
              </a:ext>
            </a:extLst>
          </p:cNvPr>
          <p:cNvSpPr>
            <a:spLocks noGrp="1"/>
          </p:cNvSpPr>
          <p:nvPr/>
        </p:nvSpPr>
        <p:spPr>
          <a:xfrm>
            <a:off x="1066800" y="5953125"/>
            <a:ext cx="533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defRPr sz="1125" b="1" i="0">
                <a:solidFill>
                  <a:srgbClr val="245EA8"/>
                </a:solidFill>
              </a:defRPr>
            </a:pPr>
            <a:r>
              <a:rPr lang="fr-FR" sz="1125" b="1" i="0">
                <a:solidFill>
                  <a:srgbClr val="245EA8"/>
                </a:solidFill>
              </a:rPr>
              <a:t>http://</a:t>
            </a:r>
            <a:r>
              <a:rPr sz="1125" b="1" i="0">
                <a:solidFill>
                  <a:srgbClr val="245EA8"/>
                </a:solidFill>
              </a:rPr>
              <a:t>github.com/sami3737/</a:t>
            </a:r>
            <a:r>
              <a:rPr sz="1125" b="1" i="0" dirty="0" err="1">
                <a:solidFill>
                  <a:srgbClr val="245EA8"/>
                </a:solidFill>
              </a:rPr>
              <a:t>FileSorter</a:t>
            </a:r>
            <a:endParaRPr sz="1125" b="1" i="0" dirty="0">
              <a:solidFill>
                <a:srgbClr val="245EA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92930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1615</Words>
  <Application>Microsoft Office PowerPoint</Application>
  <DocSecurity>0</DocSecurity>
  <PresentationFormat>Grand écran</PresentationFormat>
  <Paragraphs>284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3" baseType="lpstr">
      <vt:lpstr>Calibri</vt:lpstr>
      <vt:lpstr>ChatGPT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samuel boutin</cp:lastModifiedBy>
  <cp:revision>2</cp:revision>
  <dcterms:created xsi:type="dcterms:W3CDTF">2026-08-19T09:10:25Z</dcterms:created>
  <dcterms:modified xsi:type="dcterms:W3CDTF">2026-09-30T15:47:10Z</dcterms:modified>
</cp:coreProperties>
</file>